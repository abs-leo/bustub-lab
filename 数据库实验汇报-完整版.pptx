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306" r:id="rId9"/>
    <p:sldId id="307" r:id="rId10"/>
    <p:sldId id="312" r:id="rId11"/>
    <p:sldId id="313" r:id="rId12"/>
    <p:sldId id="315" r:id="rId13"/>
    <p:sldId id="317" r:id="rId14"/>
    <p:sldId id="318" r:id="rId15"/>
    <p:sldId id="322" r:id="rId16"/>
    <p:sldId id="323" r:id="rId17"/>
    <p:sldId id="319" r:id="rId18"/>
    <p:sldId id="320" r:id="rId19"/>
    <p:sldId id="321" r:id="rId20"/>
    <p:sldId id="262" r:id="rId21"/>
    <p:sldId id="263" r:id="rId22"/>
    <p:sldId id="275" r:id="rId23"/>
    <p:sldId id="277" r:id="rId24"/>
    <p:sldId id="278" r:id="rId25"/>
    <p:sldId id="279" r:id="rId26"/>
    <p:sldId id="280" r:id="rId27"/>
    <p:sldId id="283" r:id="rId28"/>
    <p:sldId id="291" r:id="rId29"/>
    <p:sldId id="264" r:id="rId30"/>
    <p:sldId id="265" r:id="rId31"/>
    <p:sldId id="271" r:id="rId32"/>
    <p:sldId id="272" r:id="rId33"/>
    <p:sldId id="270" r:id="rId34"/>
    <p:sldId id="273" r:id="rId35"/>
    <p:sldId id="268" r:id="rId36"/>
    <p:sldId id="316" r:id="rId37"/>
    <p:sldId id="281" r:id="rId38"/>
    <p:sldId id="282" r:id="rId39"/>
    <p:sldId id="284" r:id="rId40"/>
    <p:sldId id="285" r:id="rId41"/>
    <p:sldId id="286" r:id="rId42"/>
    <p:sldId id="287" r:id="rId43"/>
    <p:sldId id="288" r:id="rId44"/>
    <p:sldId id="289" r:id="rId45"/>
    <p:sldId id="290"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4A90E2"/>
    <a:srgbClr val="D6E6F9"/>
    <a:srgbClr val="E9F1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showGuides="1">
      <p:cViewPr varScale="1">
        <p:scale>
          <a:sx n="136" d="100"/>
          <a:sy n="136" d="100"/>
        </p:scale>
        <p:origin x="216" y="312"/>
      </p:cViewPr>
      <p:guideLst>
        <p:guide orient="horz" pos="2159"/>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这意味着在系统的整个</a:t>
            </a:r>
            <a:r>
              <a:rPr lang="en-US" altLang="en-US" dirty="0"/>
              <a:t>⽣</a:t>
            </a:r>
            <a:r>
              <a:rPr lang="zh-CN" altLang="en-US" dirty="0"/>
              <a:t>命周期中，相同的</a:t>
            </a:r>
            <a:r>
              <a:rPr lang="en-US" altLang="zh-CN" dirty="0"/>
              <a:t>Page </a:t>
            </a:r>
            <a:r>
              <a:rPr lang="zh-CN" altLang="en-US" dirty="0"/>
              <a:t>对象可能包含不同的物理</a:t>
            </a:r>
            <a:r>
              <a:rPr lang="en-US" altLang="en-US" dirty="0"/>
              <a:t>⻚⾯</a:t>
            </a:r>
            <a:endParaRPr lang="en-US" altLang="en-US" dirty="0"/>
          </a:p>
          <a:p>
            <a:r>
              <a:rPr lang="en-US" altLang="zh-CN" dirty="0"/>
              <a:t>Buffer pool </a:t>
            </a:r>
            <a:r>
              <a:rPr lang="zh-CN" altLang="en-US" dirty="0"/>
              <a:t>是</a:t>
            </a:r>
            <a:r>
              <a:rPr lang="en-US" altLang="en-US" dirty="0"/>
              <a:t>⼀</a:t>
            </a:r>
            <a:r>
              <a:rPr lang="zh-CN" altLang="en-US" dirty="0"/>
              <a:t>种内存缓存，</a:t>
            </a:r>
            <a:r>
              <a:rPr lang="en-US" altLang="en-US" dirty="0"/>
              <a:t>⽤</a:t>
            </a:r>
            <a:r>
              <a:rPr lang="zh-CN" altLang="en-US" dirty="0"/>
              <a:t>于存储从磁盘读取的</a:t>
            </a:r>
            <a:r>
              <a:rPr lang="en-US" altLang="en-US" dirty="0"/>
              <a:t>⻚⾯</a:t>
            </a:r>
            <a:r>
              <a:rPr lang="zh-CN" altLang="en-US" dirty="0"/>
              <a:t>，本质上是从数据库内存中分配的</a:t>
            </a:r>
            <a:r>
              <a:rPr lang="en-US" altLang="en-US" dirty="0"/>
              <a:t>⼀⼤</a:t>
            </a:r>
            <a:r>
              <a:rPr lang="zh-CN" altLang="en-US" dirty="0"/>
              <a:t>块区域。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“Unpin</a:t>
            </a:r>
            <a:r>
              <a:rPr lang="zh-CN" altLang="en-US" dirty="0"/>
              <a:t>中的这个归零判断，是缓冲池安全性的基石。它确保了</a:t>
            </a:r>
            <a:r>
              <a:rPr lang="en-US" altLang="zh-CN" dirty="0"/>
              <a:t>‘</a:t>
            </a:r>
            <a:r>
              <a:rPr lang="zh-CN" altLang="en-US" dirty="0"/>
              <a:t>有人用的页面绝不驱逐</a:t>
            </a:r>
            <a:r>
              <a:rPr lang="en-US" altLang="zh-CN" dirty="0"/>
              <a:t>’</a:t>
            </a:r>
            <a:r>
              <a:rPr lang="zh-CN" altLang="en-US" dirty="0"/>
              <a:t>这条铁律。只有在这里通过</a:t>
            </a:r>
            <a:r>
              <a:rPr lang="en-US" altLang="zh-CN" dirty="0"/>
              <a:t>SetEvictable</a:t>
            </a:r>
            <a:r>
              <a:rPr lang="zh-CN" altLang="en-US" dirty="0"/>
              <a:t>发布许可，后续的</a:t>
            </a:r>
            <a:r>
              <a:rPr lang="en-US" altLang="zh-CN" dirty="0"/>
              <a:t>NewPage</a:t>
            </a:r>
            <a:r>
              <a:rPr lang="zh-CN" altLang="en-US" dirty="0"/>
              <a:t>或</a:t>
            </a:r>
            <a:r>
              <a:rPr lang="en-US" altLang="zh-CN" dirty="0"/>
              <a:t>FetchPage</a:t>
            </a:r>
            <a:r>
              <a:rPr lang="zh-CN" altLang="en-US" dirty="0"/>
              <a:t>中的</a:t>
            </a:r>
            <a:r>
              <a:rPr lang="en-US" altLang="zh-CN" dirty="0"/>
              <a:t>Evict</a:t>
            </a:r>
            <a:r>
              <a:rPr lang="zh-CN" altLang="en-US" dirty="0"/>
              <a:t>操作才有可能选中该帧。这就像一份安全契约，将上层的引用计数</a:t>
            </a:r>
            <a:r>
              <a:rPr lang="en-US" altLang="zh-CN" dirty="0"/>
              <a:t> (pin_count) </a:t>
            </a:r>
            <a:r>
              <a:rPr lang="zh-CN" altLang="en-US" dirty="0"/>
              <a:t>与底层的置换策略</a:t>
            </a:r>
            <a:r>
              <a:rPr lang="en-US" altLang="zh-CN" dirty="0"/>
              <a:t> (is_evictable) </a:t>
            </a:r>
            <a:r>
              <a:rPr lang="zh-CN" altLang="en-US" dirty="0"/>
              <a:t>完美解耦并同步起来。</a:t>
            </a:r>
            <a:r>
              <a:rPr lang="en-US" altLang="zh-CN" dirty="0"/>
              <a:t>”</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1.</a:t>
            </a:r>
            <a:r>
              <a:rPr lang="zh-CN" altLang="en-US" dirty="0"/>
              <a:t>完美平衡树的核心在于平衡性和搜索树的性质。它的每个节点满足以下条件：</a:t>
            </a:r>
            <a:endParaRPr lang="zh-CN" altLang="en-US" dirty="0"/>
          </a:p>
          <a:p>
            <a:r>
              <a:rPr lang="zh-CN" altLang="en-US" dirty="0"/>
              <a:t>左子树的所有节点值小于当前节点值，右子树的所有节点值大于当前节点值。</a:t>
            </a:r>
            <a:endParaRPr lang="zh-CN" altLang="en-US" dirty="0"/>
          </a:p>
          <a:p>
            <a:r>
              <a:rPr lang="zh-CN" altLang="en-US" dirty="0"/>
              <a:t>左右子树的高度差不超过</a:t>
            </a:r>
            <a:r>
              <a:rPr lang="en-US" altLang="zh-CN" dirty="0"/>
              <a:t>1</a:t>
            </a:r>
            <a:r>
              <a:rPr lang="zh-CN" altLang="en-US" dirty="0"/>
              <a:t>，且左右子树本身也是平衡树。</a:t>
            </a:r>
            <a:endParaRPr lang="zh-CN" altLang="en-US" dirty="0"/>
          </a:p>
          <a:p>
            <a:r>
              <a:rPr lang="en-US" altLang="zh-CN" dirty="0"/>
              <a:t>2.B</a:t>
            </a:r>
            <a:r>
              <a:rPr lang="zh-CN" altLang="en-US" dirty="0"/>
              <a:t>+树和哈希表在数据库中都用于实现高效的数据索引，但</a:t>
            </a:r>
            <a:r>
              <a:rPr lang="en-US" altLang="zh-CN" dirty="0"/>
              <a:t>B</a:t>
            </a:r>
            <a:r>
              <a:rPr lang="zh-CN" altLang="en-US" dirty="0"/>
              <a:t>+树偏向有序范围查询而哈希表专精</a:t>
            </a:r>
            <a:r>
              <a:rPr lang="en-US" altLang="zh-CN" dirty="0"/>
              <a:t>**</a:t>
            </a:r>
            <a:r>
              <a:rPr lang="zh-CN" altLang="en-US" dirty="0"/>
              <a:t>精确点查询；两者在数据结构上的共同点是都通过空间换时间的策略将查找复杂度从</a:t>
            </a:r>
            <a:r>
              <a:rPr lang="en-US" altLang="zh-CN" dirty="0"/>
              <a:t>O(n)</a:t>
            </a:r>
            <a:r>
              <a:rPr lang="zh-CN" altLang="en-US" dirty="0"/>
              <a:t>优化到</a:t>
            </a:r>
            <a:r>
              <a:rPr lang="en-US" altLang="zh-CN" dirty="0"/>
              <a:t>O(log n)</a:t>
            </a:r>
            <a:r>
              <a:rPr lang="zh-CN" altLang="en-US" dirty="0"/>
              <a:t>或</a:t>
            </a:r>
            <a:r>
              <a:rPr lang="en-US" altLang="zh-CN" dirty="0"/>
              <a:t>O(1)</a:t>
            </a:r>
            <a:r>
              <a:rPr lang="zh-CN" altLang="en-US" dirty="0"/>
              <a:t>，并依赖散列或树结构将键映射到存储位置，但实现方式和适用场景截然不同。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子类</a:t>
            </a:r>
            <a:r>
              <a:rPr lang="zh-CN" altLang="en-US" dirty="0">
                <a:cs typeface="Arial" panose="020B0604020202020204" pitchFamily="34" charset="0"/>
              </a:rPr>
              <a:t>共享信息：</a:t>
            </a:r>
            <a:r>
              <a:rPr lang="en-US" altLang="en-US" dirty="0"/>
              <a:t>⻚⾯</a:t>
            </a:r>
            <a:r>
              <a:rPr lang="zh-CN" altLang="en-US" dirty="0"/>
              <a:t>类型（内部或叶</a:t>
            </a:r>
            <a:r>
              <a:rPr lang="en-US" altLang="en-US" dirty="0"/>
              <a:t>⼦</a:t>
            </a:r>
            <a:r>
              <a:rPr lang="zh-CN" altLang="en-US" dirty="0"/>
              <a:t>），</a:t>
            </a:r>
            <a:r>
              <a:rPr lang="en-US" altLang="en-US" dirty="0"/>
              <a:t>⽇</a:t>
            </a:r>
            <a:r>
              <a:rPr lang="zh-CN" altLang="en-US" dirty="0"/>
              <a:t>志序列号（</a:t>
            </a:r>
            <a:r>
              <a:rPr lang="en-US" altLang="en-US" dirty="0"/>
              <a:t>⽤</a:t>
            </a:r>
            <a:r>
              <a:rPr lang="zh-CN" altLang="en-US" dirty="0"/>
              <a:t>于第</a:t>
            </a:r>
            <a:r>
              <a:rPr lang="en-US" altLang="zh-CN" dirty="0"/>
              <a:t>4</a:t>
            </a:r>
            <a:r>
              <a:rPr lang="zh-CN" altLang="en-US" dirty="0"/>
              <a:t>项</a:t>
            </a:r>
            <a:r>
              <a:rPr lang="en-US" altLang="en-US" dirty="0"/>
              <a:t>⽬</a:t>
            </a:r>
            <a:r>
              <a:rPr lang="zh-CN" altLang="en-US" dirty="0"/>
              <a:t>），</a:t>
            </a:r>
            <a:r>
              <a:rPr lang="en-US" altLang="en-US" dirty="0"/>
              <a:t>⻚⾯</a:t>
            </a:r>
            <a:r>
              <a:rPr lang="zh-CN" altLang="en-US" dirty="0"/>
              <a:t>中键和值对的数量，</a:t>
            </a:r>
            <a:r>
              <a:rPr lang="en-US" altLang="en-US" dirty="0"/>
              <a:t>⻚⾯</a:t>
            </a:r>
            <a:r>
              <a:rPr lang="zh-CN" altLang="en-US" dirty="0"/>
              <a:t>中键和值对的最</a:t>
            </a:r>
            <a:r>
              <a:rPr lang="en-US" altLang="en-US" dirty="0"/>
              <a:t>⼤</a:t>
            </a:r>
            <a:r>
              <a:rPr lang="zh-CN" altLang="en-US" dirty="0"/>
              <a:t>数，</a:t>
            </a:r>
            <a:r>
              <a:rPr lang="en-US" altLang="en-US" dirty="0"/>
              <a:t>⽗⻚⾯</a:t>
            </a:r>
            <a:r>
              <a:rPr lang="en-US" altLang="zh-CN" dirty="0"/>
              <a:t>ID</a:t>
            </a:r>
            <a:r>
              <a:rPr lang="zh-CN" altLang="en-US" dirty="0"/>
              <a:t>，</a:t>
            </a:r>
            <a:r>
              <a:rPr lang="en-US" altLang="en-US" dirty="0"/>
              <a:t>⾃</a:t>
            </a:r>
            <a:r>
              <a:rPr lang="zh-CN" altLang="en-US" dirty="0"/>
              <a:t>身</a:t>
            </a:r>
            <a:r>
              <a:rPr lang="en-US" altLang="en-US" dirty="0"/>
              <a:t>⻚⾯</a:t>
            </a:r>
            <a:r>
              <a:rPr lang="en-US" altLang="zh-CN" dirty="0"/>
              <a:t>ID</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子类</a:t>
            </a:r>
            <a:r>
              <a:rPr lang="zh-CN" altLang="en-US" dirty="0">
                <a:cs typeface="Arial" panose="020B0604020202020204" pitchFamily="34" charset="0"/>
              </a:rPr>
              <a:t>共享信息：</a:t>
            </a:r>
            <a:r>
              <a:rPr lang="en-US" altLang="en-US" dirty="0"/>
              <a:t>⻚⾯</a:t>
            </a:r>
            <a:r>
              <a:rPr lang="zh-CN" altLang="en-US" dirty="0"/>
              <a:t>类型（内部或叶</a:t>
            </a:r>
            <a:r>
              <a:rPr lang="en-US" altLang="en-US" dirty="0"/>
              <a:t>⼦</a:t>
            </a:r>
            <a:r>
              <a:rPr lang="zh-CN" altLang="en-US" dirty="0"/>
              <a:t>），</a:t>
            </a:r>
            <a:r>
              <a:rPr lang="en-US" altLang="en-US" dirty="0"/>
              <a:t>⽇</a:t>
            </a:r>
            <a:r>
              <a:rPr lang="zh-CN" altLang="en-US" dirty="0"/>
              <a:t>志序列号（</a:t>
            </a:r>
            <a:r>
              <a:rPr lang="en-US" altLang="en-US" dirty="0"/>
              <a:t>⽤</a:t>
            </a:r>
            <a:r>
              <a:rPr lang="zh-CN" altLang="en-US" dirty="0"/>
              <a:t>于第</a:t>
            </a:r>
            <a:r>
              <a:rPr lang="en-US" altLang="zh-CN" dirty="0"/>
              <a:t>4</a:t>
            </a:r>
            <a:r>
              <a:rPr lang="zh-CN" altLang="en-US" dirty="0"/>
              <a:t>项</a:t>
            </a:r>
            <a:r>
              <a:rPr lang="en-US" altLang="en-US" dirty="0"/>
              <a:t>⽬</a:t>
            </a:r>
            <a:r>
              <a:rPr lang="zh-CN" altLang="en-US" dirty="0"/>
              <a:t>），</a:t>
            </a:r>
            <a:r>
              <a:rPr lang="en-US" altLang="en-US" dirty="0"/>
              <a:t>⻚⾯</a:t>
            </a:r>
            <a:r>
              <a:rPr lang="zh-CN" altLang="en-US" dirty="0"/>
              <a:t>中键和值对的数量，</a:t>
            </a:r>
            <a:r>
              <a:rPr lang="en-US" altLang="en-US" dirty="0"/>
              <a:t>⻚⾯</a:t>
            </a:r>
            <a:r>
              <a:rPr lang="zh-CN" altLang="en-US" dirty="0"/>
              <a:t>中键和值对的最</a:t>
            </a:r>
            <a:r>
              <a:rPr lang="en-US" altLang="en-US" dirty="0"/>
              <a:t>⼤</a:t>
            </a:r>
            <a:r>
              <a:rPr lang="zh-CN" altLang="en-US" dirty="0"/>
              <a:t>数，</a:t>
            </a:r>
            <a:r>
              <a:rPr lang="en-US" altLang="en-US" dirty="0"/>
              <a:t>⽗⻚⾯</a:t>
            </a:r>
            <a:r>
              <a:rPr lang="en-US" altLang="zh-CN" dirty="0"/>
              <a:t>ID</a:t>
            </a:r>
            <a:r>
              <a:rPr lang="zh-CN" altLang="en-US" dirty="0"/>
              <a:t>，</a:t>
            </a:r>
            <a:r>
              <a:rPr lang="en-US" altLang="en-US" dirty="0"/>
              <a:t>⾃</a:t>
            </a:r>
            <a:r>
              <a:rPr lang="zh-CN" altLang="en-US" dirty="0"/>
              <a:t>身</a:t>
            </a:r>
            <a:r>
              <a:rPr lang="en-US" altLang="en-US" dirty="0"/>
              <a:t>⻚⾯</a:t>
            </a:r>
            <a:r>
              <a:rPr lang="en-US" altLang="zh-CN" dirty="0"/>
              <a:t>ID</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BPlusTreePage</a:t>
            </a:r>
            <a:r>
              <a:rPr lang="zh-CN" altLang="en-US" dirty="0"/>
              <a:t>作为</a:t>
            </a:r>
            <a:r>
              <a:rPr lang="en-US" altLang="zh-CN" dirty="0"/>
              <a:t>B+</a:t>
            </a:r>
            <a:r>
              <a:rPr lang="zh-CN" altLang="en-US" dirty="0"/>
              <a:t>树节点的基类，提供了对页面类型、容量、层次关系和日志信息的基础管理功能，为内部节点和叶子节点的实现提供了统一的接口。</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BPlusTreeInternalPage</a:t>
            </a:r>
            <a:r>
              <a:rPr lang="zh-CN" altLang="en-US" dirty="0"/>
              <a:t>包括键值访问、有序插入、节点分裂和元素删除等核心操作，为导航层提供子页面指针管理。</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BPlusTreeLeafPage</a:t>
            </a:r>
            <a:r>
              <a:rPr lang="zh-CN" altLang="en-US" dirty="0"/>
              <a:t>包括键值存储、有序链表连接、二分查找和分裂操作，为数据层提供实际记录位置（</a:t>
            </a:r>
            <a:r>
              <a:rPr lang="en-US" altLang="zh-CN" dirty="0"/>
              <a:t>RID</a:t>
            </a:r>
            <a:r>
              <a:rPr lang="zh-CN" altLang="en-US" dirty="0"/>
              <a:t>）的管理功能。</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BPlusTreeLeafPage</a:t>
            </a:r>
            <a:r>
              <a:rPr lang="zh-CN" altLang="en-US" dirty="0"/>
              <a:t>包括键值存储、有序链表连接、二分查找和分裂操作，为数据层提供实际记录位置（</a:t>
            </a:r>
            <a:r>
              <a:rPr lang="en-US" altLang="zh-CN" dirty="0"/>
              <a:t>RID</a:t>
            </a:r>
            <a:r>
              <a:rPr lang="zh-CN" altLang="en-US" dirty="0"/>
              <a:t>）的管理功能。</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BPlusTreeLeafPage</a:t>
            </a:r>
            <a:r>
              <a:rPr lang="zh-CN" altLang="en-US" dirty="0"/>
              <a:t>包括键值存储、有序链表连接、二分查找和分裂操作，为数据层提供实际记录位置（</a:t>
            </a:r>
            <a:r>
              <a:rPr lang="en-US" altLang="zh-CN" dirty="0"/>
              <a:t>RID</a:t>
            </a:r>
            <a:r>
              <a:rPr lang="zh-CN" altLang="en-US" dirty="0"/>
              <a:t>）的管理功能。</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空树检查：若树为空直接返回空指针</a:t>
            </a:r>
            <a:endParaRPr lang="en-US" altLang="zh-CN" dirty="0"/>
          </a:p>
          <a:p>
            <a:r>
              <a:rPr lang="zh-CN" altLang="en-US" dirty="0"/>
              <a:t>根节点加载：从缓冲池获取根页面</a:t>
            </a:r>
            <a:endParaRPr lang="en-US" altLang="zh-CN" dirty="0"/>
          </a:p>
          <a:p>
            <a:r>
              <a:rPr lang="zh-CN" altLang="en-US" dirty="0"/>
              <a:t>逐层遍历：</a:t>
            </a:r>
            <a:endParaRPr lang="en-US" altLang="zh-CN" dirty="0"/>
          </a:p>
          <a:p>
            <a:r>
              <a:rPr lang="zh-CN" altLang="en-US" dirty="0"/>
              <a:t>在内部节点中线性查找合适的子节点</a:t>
            </a:r>
            <a:endParaRPr lang="en-US" altLang="zh-CN" dirty="0"/>
          </a:p>
          <a:p>
            <a:r>
              <a:rPr lang="zh-CN" altLang="en-US" dirty="0"/>
              <a:t>及时释放当前节点页面（</a:t>
            </a:r>
            <a:r>
              <a:rPr lang="en-US" altLang="zh-CN" dirty="0"/>
              <a:t>unpin</a:t>
            </a:r>
            <a:r>
              <a:rPr lang="zh-CN" altLang="en-US" dirty="0"/>
              <a:t>）</a:t>
            </a:r>
            <a:endParaRPr lang="en-US" altLang="zh-CN" dirty="0"/>
          </a:p>
          <a:p>
            <a:r>
              <a:rPr lang="zh-CN" altLang="en-US" dirty="0"/>
              <a:t>加载子节点继续查找</a:t>
            </a:r>
            <a:endParaRPr lang="en-US" altLang="zh-CN" dirty="0"/>
          </a:p>
          <a:p>
            <a:r>
              <a:rPr lang="zh-CN" altLang="en-US" dirty="0"/>
              <a:t>返回叶子：找到叶子节点后返回其页面指针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空树处理：若树为空，创建新叶子节点作为根节点</a:t>
            </a:r>
            <a:endParaRPr lang="en-US" altLang="zh-CN" dirty="0"/>
          </a:p>
          <a:p>
            <a:r>
              <a:rPr lang="zh-CN" altLang="en-US" dirty="0"/>
              <a:t>定位叶子：根据键值找到应插入的叶子节点</a:t>
            </a:r>
            <a:endParaRPr lang="en-US" altLang="zh-CN" dirty="0"/>
          </a:p>
          <a:p>
            <a:r>
              <a:rPr lang="zh-CN" altLang="en-US" dirty="0"/>
              <a:t>叶子插入：在叶子节点中按顺序插入键值对</a:t>
            </a:r>
            <a:endParaRPr lang="en-US" altLang="zh-CN" dirty="0"/>
          </a:p>
          <a:p>
            <a:r>
              <a:rPr lang="zh-CN" altLang="en-US" dirty="0"/>
              <a:t>检查分裂：</a:t>
            </a:r>
            <a:endParaRPr lang="en-US" altLang="zh-CN" dirty="0"/>
          </a:p>
          <a:p>
            <a:r>
              <a:rPr lang="zh-CN" altLang="en-US" dirty="0"/>
              <a:t>若叶子未满</a:t>
            </a:r>
            <a:r>
              <a:rPr lang="en-US" altLang="zh-CN" dirty="0"/>
              <a:t> </a:t>
            </a:r>
            <a:r>
              <a:rPr lang="en-US" altLang="en-US" dirty="0"/>
              <a:t>→</a:t>
            </a:r>
            <a:r>
              <a:rPr lang="en-US" altLang="zh-CN" dirty="0"/>
              <a:t> </a:t>
            </a:r>
            <a:r>
              <a:rPr lang="zh-CN" altLang="en-US" dirty="0"/>
              <a:t>插入完成</a:t>
            </a:r>
            <a:endParaRPr lang="en-US" altLang="zh-CN" dirty="0"/>
          </a:p>
          <a:p>
            <a:r>
              <a:rPr lang="zh-CN" altLang="en-US" dirty="0"/>
              <a:t>若叶子已满</a:t>
            </a:r>
            <a:r>
              <a:rPr lang="en-US" altLang="zh-CN" dirty="0"/>
              <a:t> </a:t>
            </a:r>
            <a:r>
              <a:rPr lang="en-US" altLang="en-US" dirty="0"/>
              <a:t>→</a:t>
            </a:r>
            <a:r>
              <a:rPr lang="en-US" altLang="zh-CN" dirty="0"/>
              <a:t> </a:t>
            </a:r>
            <a:r>
              <a:rPr lang="zh-CN" altLang="en-US" dirty="0"/>
              <a:t>分裂叶子节点，中间键提升到父节点</a:t>
            </a:r>
            <a:endParaRPr lang="en-US" altLang="zh-CN" dirty="0"/>
          </a:p>
          <a:p>
            <a:r>
              <a:rPr lang="zh-CN" altLang="en-US" dirty="0"/>
              <a:t>向上递归：若父节点因此变满，继续向上分裂，可能增加树高度</a:t>
            </a:r>
            <a:endParaRPr lang="en-US" altLang="zh-CN" dirty="0"/>
          </a:p>
          <a:p>
            <a:r>
              <a:rPr lang="zh-CN" altLang="en-US" dirty="0"/>
              <a:t>更新根节点：若根节点分裂，创建新根节点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空树处理：若树为空，创建新叶子节点作为根节点</a:t>
            </a:r>
            <a:endParaRPr lang="zh-CN" altLang="en-US" dirty="0"/>
          </a:p>
          <a:p>
            <a:r>
              <a:rPr lang="zh-CN" altLang="en-US" dirty="0"/>
              <a:t>定位叶子：根据键值找到应插入的叶子节点</a:t>
            </a:r>
            <a:endParaRPr lang="zh-CN" altLang="en-US" dirty="0"/>
          </a:p>
          <a:p>
            <a:r>
              <a:rPr lang="zh-CN" altLang="en-US" dirty="0"/>
              <a:t>叶子插入：在叶子节点中按顺序插入键值对</a:t>
            </a:r>
            <a:endParaRPr lang="zh-CN" altLang="en-US" dirty="0"/>
          </a:p>
          <a:p>
            <a:r>
              <a:rPr lang="zh-CN" altLang="en-US" dirty="0"/>
              <a:t>检查分裂：</a:t>
            </a:r>
            <a:endParaRPr lang="zh-CN" altLang="en-US" dirty="0"/>
          </a:p>
          <a:p>
            <a:r>
              <a:rPr lang="zh-CN" altLang="en-US" dirty="0"/>
              <a:t>若叶子未满</a:t>
            </a:r>
            <a:r>
              <a:rPr lang="en-US" altLang="zh-CN" dirty="0"/>
              <a:t> </a:t>
            </a:r>
            <a:r>
              <a:rPr lang="en-US" altLang="en-US" dirty="0"/>
              <a:t>→</a:t>
            </a:r>
            <a:r>
              <a:rPr lang="en-US" altLang="zh-CN" dirty="0"/>
              <a:t> </a:t>
            </a:r>
            <a:r>
              <a:rPr lang="zh-CN" altLang="en-US" dirty="0"/>
              <a:t>插入完成</a:t>
            </a:r>
            <a:endParaRPr lang="zh-CN" altLang="en-US" dirty="0"/>
          </a:p>
          <a:p>
            <a:r>
              <a:rPr lang="zh-CN" altLang="en-US" dirty="0"/>
              <a:t>若叶子已满</a:t>
            </a:r>
            <a:r>
              <a:rPr lang="en-US" altLang="zh-CN" dirty="0"/>
              <a:t> </a:t>
            </a:r>
            <a:r>
              <a:rPr lang="en-US" altLang="en-US" dirty="0"/>
              <a:t>→</a:t>
            </a:r>
            <a:r>
              <a:rPr lang="en-US" altLang="zh-CN" dirty="0"/>
              <a:t> </a:t>
            </a:r>
            <a:r>
              <a:rPr lang="zh-CN" altLang="en-US" dirty="0"/>
              <a:t>分裂叶子节点，中间键提升到父节点</a:t>
            </a:r>
            <a:endParaRPr lang="zh-CN" altLang="en-US" dirty="0"/>
          </a:p>
          <a:p>
            <a:r>
              <a:rPr lang="zh-CN" altLang="en-US" dirty="0"/>
              <a:t>向上递归：若父节点因此变满，继续向上分裂，可能增加树高度</a:t>
            </a:r>
            <a:endParaRPr lang="zh-CN" altLang="en-US" dirty="0"/>
          </a:p>
          <a:p>
            <a:r>
              <a:rPr lang="zh-CN" altLang="en-US" dirty="0"/>
              <a:t>更新根节点：若根节点分裂，创建新根节点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分配新页面：从缓冲池获取新页面并初始化为对应节点类型</a:t>
            </a:r>
            <a:endParaRPr lang="zh-CN" altLang="en-US" dirty="0"/>
          </a:p>
          <a:p>
            <a:r>
              <a:rPr lang="zh-CN" altLang="en-US" dirty="0"/>
              <a:t>区分处理：</a:t>
            </a:r>
            <a:endParaRPr lang="zh-CN" altLang="en-US" dirty="0"/>
          </a:p>
          <a:p>
            <a:r>
              <a:rPr lang="zh-CN" altLang="en-US" dirty="0"/>
              <a:t>叶子节点：设置双向链表连接，移动半数键值对</a:t>
            </a:r>
            <a:endParaRPr lang="zh-CN" altLang="en-US" dirty="0"/>
          </a:p>
          <a:p>
            <a:r>
              <a:rPr lang="zh-CN" altLang="en-US" dirty="0"/>
              <a:t>内部节点：更新子节点的父指针，移动半数键值对</a:t>
            </a:r>
            <a:endParaRPr lang="zh-CN" altLang="en-US" dirty="0"/>
          </a:p>
          <a:p>
            <a:r>
              <a:rPr lang="zh-CN" altLang="en-US" dirty="0"/>
              <a:t>返回结果：返回新节点指针和分裂键（用于更新父节点）</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分配新页面：从缓冲池获取新页面并初始化为对应节点类型</a:t>
            </a:r>
            <a:endParaRPr lang="en-US" altLang="zh-CN" dirty="0"/>
          </a:p>
          <a:p>
            <a:r>
              <a:rPr lang="zh-CN" altLang="en-US" dirty="0"/>
              <a:t>区分处理：</a:t>
            </a:r>
            <a:endParaRPr lang="en-US" altLang="zh-CN" dirty="0"/>
          </a:p>
          <a:p>
            <a:r>
              <a:rPr lang="zh-CN" altLang="en-US" dirty="0"/>
              <a:t>叶子节点：设置双向链表连接，移动半数键值对</a:t>
            </a:r>
            <a:endParaRPr lang="en-US" altLang="zh-CN" dirty="0"/>
          </a:p>
          <a:p>
            <a:r>
              <a:rPr lang="zh-CN" altLang="en-US" dirty="0"/>
              <a:t>内部节点：更新子节点的父指针，移动半数键值对</a:t>
            </a:r>
            <a:endParaRPr lang="en-US" altLang="zh-CN" dirty="0"/>
          </a:p>
          <a:p>
            <a:r>
              <a:rPr lang="zh-CN" altLang="en-US" dirty="0"/>
              <a:t>返回结果：返回新节点指针和分裂键（用于更新父节点）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根节点分裂：创建新根节点，将原节点和新节点作为左右子节点，更新树根</a:t>
            </a:r>
            <a:endParaRPr lang="en-US" altLang="zh-CN" dirty="0"/>
          </a:p>
          <a:p>
            <a:r>
              <a:rPr lang="zh-CN" altLang="en-US" dirty="0"/>
              <a:t>非根节点分裂：在现有父节点中插入分裂键和新节点指针</a:t>
            </a:r>
            <a:endParaRPr lang="en-US" altLang="zh-CN" dirty="0"/>
          </a:p>
          <a:p>
            <a:r>
              <a:rPr lang="zh-CN" altLang="en-US" dirty="0"/>
              <a:t>递归检查：若父节点因此变满，继续向上分裂（递归调用）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根节点分裂：创建新根节点，将原节点和新节点作为左右子节点，更新树根</a:t>
            </a:r>
            <a:endParaRPr lang="zh-CN" altLang="en-US" dirty="0"/>
          </a:p>
          <a:p>
            <a:r>
              <a:rPr lang="zh-CN" altLang="en-US" dirty="0"/>
              <a:t>非根节点分裂：在现有父节点中插入分裂键和新节点指针</a:t>
            </a:r>
            <a:endParaRPr lang="zh-CN" altLang="en-US" dirty="0"/>
          </a:p>
          <a:p>
            <a:r>
              <a:rPr lang="zh-CN" altLang="en-US" dirty="0"/>
              <a:t>递归检查：若父节点因此变满，继续向上分裂（递归调用）</a:t>
            </a:r>
            <a:endParaRPr lang="zh-CN"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根节点检查：根节点下溢时特殊处理（降低树高）</a:t>
            </a:r>
            <a:endParaRPr lang="zh-CN" altLang="en-US" dirty="0"/>
          </a:p>
          <a:p>
            <a:r>
              <a:rPr lang="zh-CN" altLang="en-US" dirty="0"/>
              <a:t>下溢判断：检查节点是否低于最小填充率</a:t>
            </a:r>
            <a:endParaRPr lang="zh-CN" altLang="en-US" dirty="0"/>
          </a:p>
          <a:p>
            <a:r>
              <a:rPr lang="zh-CN" altLang="en-US" dirty="0"/>
              <a:t>兄弟节点评估：</a:t>
            </a:r>
            <a:endParaRPr lang="en-US" altLang="zh-CN" dirty="0"/>
          </a:p>
          <a:p>
            <a:r>
              <a:rPr lang="zh-CN" altLang="en-US" dirty="0"/>
              <a:t>优先借键：从左兄弟或右兄弟借一个键（</a:t>
            </a:r>
            <a:r>
              <a:rPr lang="en-US" altLang="zh-CN" dirty="0"/>
              <a:t>Redistribute</a:t>
            </a:r>
            <a:r>
              <a:rPr lang="zh-CN" altLang="en-US" dirty="0"/>
              <a:t>）</a:t>
            </a:r>
            <a:endParaRPr lang="zh-CN" altLang="en-US" dirty="0"/>
          </a:p>
          <a:p>
            <a:r>
              <a:rPr lang="zh-CN" altLang="en-US" dirty="0"/>
              <a:t>备选合并：当兄弟节点也无富余时合并节点（</a:t>
            </a:r>
            <a:r>
              <a:rPr lang="en-US" altLang="zh-CN" dirty="0"/>
              <a:t>Coalesce</a:t>
            </a:r>
            <a:r>
              <a:rPr lang="zh-CN" altLang="en-US" dirty="0"/>
              <a:t>）</a:t>
            </a:r>
            <a:endParaRPr lang="zh-CN" altLang="en-US" dirty="0"/>
          </a:p>
          <a:p>
            <a:r>
              <a:rPr lang="zh-CN" altLang="en-US" dirty="0"/>
              <a:t>递归修复：合并操作可能导致父节点下溢，需进一步处理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根节点检查：根节点下溢时特殊处理（降低树高）</a:t>
            </a:r>
            <a:endParaRPr lang="zh-CN" altLang="en-US" dirty="0"/>
          </a:p>
          <a:p>
            <a:r>
              <a:rPr lang="zh-CN" altLang="en-US" dirty="0"/>
              <a:t>下溢判断：检查节点是否低于最小填充率</a:t>
            </a:r>
            <a:endParaRPr lang="zh-CN" altLang="en-US" dirty="0"/>
          </a:p>
          <a:p>
            <a:r>
              <a:rPr lang="zh-CN" altLang="en-US" dirty="0"/>
              <a:t>兄弟节点评估：</a:t>
            </a:r>
            <a:endParaRPr lang="zh-CN" altLang="en-US" dirty="0"/>
          </a:p>
          <a:p>
            <a:r>
              <a:rPr lang="zh-CN" altLang="en-US" dirty="0"/>
              <a:t>优先借键：从左兄弟或右兄弟借一个键（</a:t>
            </a:r>
            <a:r>
              <a:rPr lang="en-US" altLang="zh-CN" dirty="0"/>
              <a:t>Redistribute</a:t>
            </a:r>
            <a:r>
              <a:rPr lang="zh-CN" altLang="en-US" dirty="0"/>
              <a:t>）</a:t>
            </a:r>
            <a:endParaRPr lang="zh-CN" altLang="en-US" dirty="0"/>
          </a:p>
          <a:p>
            <a:r>
              <a:rPr lang="zh-CN" altLang="en-US" dirty="0"/>
              <a:t>备选合并：当兄弟节点也无富余时合并节点（</a:t>
            </a:r>
            <a:r>
              <a:rPr lang="en-US" altLang="zh-CN" dirty="0"/>
              <a:t>Coalesce</a:t>
            </a:r>
            <a:r>
              <a:rPr lang="zh-CN" altLang="en-US" dirty="0"/>
              <a:t>）</a:t>
            </a:r>
            <a:endParaRPr lang="zh-CN" altLang="en-US" dirty="0"/>
          </a:p>
          <a:p>
            <a:r>
              <a:rPr lang="zh-CN" altLang="en-US" dirty="0"/>
              <a:t>递归修复：合并操作可能导致父节点下溢，需进一步处理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根节点检查：根节点下溢时特殊处理（降低树高）</a:t>
            </a:r>
            <a:endParaRPr lang="zh-CN" altLang="en-US" dirty="0"/>
          </a:p>
          <a:p>
            <a:r>
              <a:rPr lang="zh-CN" altLang="en-US" dirty="0"/>
              <a:t>下溢判断：检查节点是否低于最小填充率</a:t>
            </a:r>
            <a:endParaRPr lang="zh-CN" altLang="en-US" dirty="0"/>
          </a:p>
          <a:p>
            <a:r>
              <a:rPr lang="zh-CN" altLang="en-US" dirty="0"/>
              <a:t>兄弟节点评估：</a:t>
            </a:r>
            <a:endParaRPr lang="zh-CN" altLang="en-US" dirty="0"/>
          </a:p>
          <a:p>
            <a:r>
              <a:rPr lang="zh-CN" altLang="en-US" dirty="0"/>
              <a:t>优先借键：从左兄弟或右兄弟借一个键（</a:t>
            </a:r>
            <a:r>
              <a:rPr lang="en-US" altLang="zh-CN" dirty="0"/>
              <a:t>Redistribute</a:t>
            </a:r>
            <a:r>
              <a:rPr lang="zh-CN" altLang="en-US" dirty="0"/>
              <a:t>）</a:t>
            </a:r>
            <a:endParaRPr lang="zh-CN" altLang="en-US" dirty="0"/>
          </a:p>
          <a:p>
            <a:r>
              <a:rPr lang="zh-CN" altLang="en-US" dirty="0"/>
              <a:t>备选合并：当兄弟节点也无富余时合并节点（</a:t>
            </a:r>
            <a:r>
              <a:rPr lang="en-US" altLang="zh-CN" dirty="0"/>
              <a:t>Coalesce</a:t>
            </a:r>
            <a:r>
              <a:rPr lang="zh-CN" altLang="en-US" dirty="0"/>
              <a:t>）</a:t>
            </a:r>
            <a:endParaRPr lang="zh-CN" altLang="en-US" dirty="0"/>
          </a:p>
          <a:p>
            <a:r>
              <a:rPr lang="zh-CN" altLang="en-US" dirty="0"/>
              <a:t>递归修复：合并操作可能导致父节点下溢，需进一步处理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根节点检查：根节点下溢时特殊处理（降低树高）</a:t>
            </a:r>
            <a:endParaRPr lang="zh-CN" altLang="en-US" dirty="0"/>
          </a:p>
          <a:p>
            <a:r>
              <a:rPr lang="zh-CN" altLang="en-US" dirty="0"/>
              <a:t>下溢判断：检查节点是否低于最小填充率</a:t>
            </a:r>
            <a:endParaRPr lang="zh-CN" altLang="en-US" dirty="0"/>
          </a:p>
          <a:p>
            <a:r>
              <a:rPr lang="zh-CN" altLang="en-US" dirty="0"/>
              <a:t>兄弟节点评估：</a:t>
            </a:r>
            <a:endParaRPr lang="zh-CN" altLang="en-US" dirty="0"/>
          </a:p>
          <a:p>
            <a:r>
              <a:rPr lang="zh-CN" altLang="en-US" dirty="0"/>
              <a:t>优先借键：从左兄弟或右兄弟借一个键（</a:t>
            </a:r>
            <a:r>
              <a:rPr lang="en-US" altLang="zh-CN" dirty="0"/>
              <a:t>Redistribute</a:t>
            </a:r>
            <a:r>
              <a:rPr lang="zh-CN" altLang="en-US" dirty="0"/>
              <a:t>）</a:t>
            </a:r>
            <a:endParaRPr lang="zh-CN" altLang="en-US" dirty="0"/>
          </a:p>
          <a:p>
            <a:r>
              <a:rPr lang="zh-CN" altLang="en-US" dirty="0"/>
              <a:t>备选合并：当兄弟节点也无富余时合并节点（</a:t>
            </a:r>
            <a:r>
              <a:rPr lang="en-US" altLang="zh-CN" dirty="0"/>
              <a:t>Coalesce</a:t>
            </a:r>
            <a:r>
              <a:rPr lang="zh-CN" altLang="en-US" dirty="0"/>
              <a:t>）</a:t>
            </a:r>
            <a:endParaRPr lang="zh-CN" altLang="en-US" dirty="0"/>
          </a:p>
          <a:p>
            <a:r>
              <a:rPr lang="zh-CN" altLang="en-US" dirty="0"/>
              <a:t>递归修复：合并操作可能导致父节点下溢，需进一步处理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根节点检查：根节点下溢时特殊处理（降低树高）</a:t>
            </a:r>
            <a:endParaRPr lang="zh-CN" altLang="en-US" dirty="0"/>
          </a:p>
          <a:p>
            <a:r>
              <a:rPr lang="zh-CN" altLang="en-US" dirty="0"/>
              <a:t>下溢判断：检查节点是否低于最小填充率</a:t>
            </a:r>
            <a:endParaRPr lang="zh-CN" altLang="en-US" dirty="0"/>
          </a:p>
          <a:p>
            <a:r>
              <a:rPr lang="zh-CN" altLang="en-US" dirty="0"/>
              <a:t>兄弟节点评估：</a:t>
            </a:r>
            <a:endParaRPr lang="zh-CN" altLang="en-US" dirty="0"/>
          </a:p>
          <a:p>
            <a:r>
              <a:rPr lang="zh-CN" altLang="en-US" dirty="0"/>
              <a:t>优先借键：从左兄弟或右兄弟借一个键（</a:t>
            </a:r>
            <a:r>
              <a:rPr lang="en-US" altLang="zh-CN" dirty="0"/>
              <a:t>Redistribute</a:t>
            </a:r>
            <a:r>
              <a:rPr lang="zh-CN" altLang="en-US" dirty="0"/>
              <a:t>）</a:t>
            </a:r>
            <a:endParaRPr lang="zh-CN" altLang="en-US" dirty="0"/>
          </a:p>
          <a:p>
            <a:r>
              <a:rPr lang="zh-CN" altLang="en-US" dirty="0"/>
              <a:t>备选合并：当兄弟节点也无富余时合并节点（</a:t>
            </a:r>
            <a:r>
              <a:rPr lang="en-US" altLang="zh-CN" dirty="0"/>
              <a:t>Coalesce</a:t>
            </a:r>
            <a:r>
              <a:rPr lang="zh-CN" altLang="en-US" dirty="0"/>
              <a:t>）</a:t>
            </a:r>
            <a:endParaRPr lang="zh-CN" altLang="en-US" dirty="0"/>
          </a:p>
          <a:p>
            <a:r>
              <a:rPr lang="zh-CN" altLang="en-US" dirty="0"/>
              <a:t>递归修复：合并操作可能导致父节点下溢，需进一步处理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合并执行逻辑：合并方向统一向左合并</a:t>
            </a:r>
            <a:endParaRPr lang="zh-CN" altLang="en-US" dirty="0"/>
          </a:p>
          <a:p>
            <a:r>
              <a:rPr lang="zh-CN" altLang="en-US" dirty="0"/>
              <a:t>区分节点类型：</a:t>
            </a:r>
            <a:endParaRPr lang="en-US" altLang="zh-CN" dirty="0"/>
          </a:p>
          <a:p>
            <a:r>
              <a:rPr lang="zh-CN" altLang="en-US" dirty="0"/>
              <a:t>叶子节点：直接迁移所有键值对，更新链表连接</a:t>
            </a:r>
            <a:endParaRPr lang="en-US" altLang="zh-CN" dirty="0"/>
          </a:p>
          <a:p>
            <a:r>
              <a:rPr lang="zh-CN" altLang="en-US" dirty="0"/>
              <a:t>内部节点：先插入父节点分隔键，再迁移子节点，更新子节点父指针</a:t>
            </a:r>
            <a:endParaRPr lang="zh-CN" altLang="en-US" dirty="0"/>
          </a:p>
          <a:p>
            <a:endParaRPr lang="en-US" altLang="zh-CN" dirty="0"/>
          </a:p>
          <a:p>
            <a:r>
              <a:rPr lang="zh-CN" altLang="en-US" dirty="0"/>
              <a:t>父节点清理：删除合并后在父节点中对应的键和子指针</a:t>
            </a:r>
            <a:endParaRPr lang="zh-CN" altLang="en-US" dirty="0"/>
          </a:p>
          <a:p>
            <a:endParaRPr lang="en-US" altLang="zh-CN" dirty="0"/>
          </a:p>
          <a:p>
            <a:r>
              <a:rPr lang="zh-CN" altLang="en-US" dirty="0"/>
              <a:t>递归修复：检查父节点是否因此下溢，继续向上修复</a:t>
            </a:r>
            <a:endParaRPr lang="zh-CN" altLang="en-US" dirty="0"/>
          </a:p>
          <a:p>
            <a:endParaRPr lang="en-US" altLang="zh-CN" dirty="0"/>
          </a:p>
          <a:p>
            <a:r>
              <a:rPr lang="zh-CN" altLang="en-US" dirty="0"/>
              <a:t>资源回收：删除被合并的空节点页面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合并执行逻辑：合并方向统一向左合并</a:t>
            </a:r>
            <a:endParaRPr lang="zh-CN" altLang="en-US" dirty="0"/>
          </a:p>
          <a:p>
            <a:r>
              <a:rPr lang="zh-CN" altLang="en-US" dirty="0"/>
              <a:t>区分节点类型：</a:t>
            </a:r>
            <a:endParaRPr lang="en-US" altLang="zh-CN" dirty="0"/>
          </a:p>
          <a:p>
            <a:r>
              <a:rPr lang="zh-CN" altLang="en-US" dirty="0"/>
              <a:t>叶子节点：直接迁移所有键值对，更新链表连接</a:t>
            </a:r>
            <a:endParaRPr lang="en-US" altLang="zh-CN" dirty="0"/>
          </a:p>
          <a:p>
            <a:r>
              <a:rPr lang="zh-CN" altLang="en-US" dirty="0"/>
              <a:t>内部节点：先插入父节点分隔键，再迁移子节点，更新子节点父指针</a:t>
            </a:r>
            <a:endParaRPr lang="zh-CN" altLang="en-US" dirty="0"/>
          </a:p>
          <a:p>
            <a:endParaRPr lang="en-US" altLang="zh-CN" dirty="0"/>
          </a:p>
          <a:p>
            <a:r>
              <a:rPr lang="zh-CN" altLang="en-US" dirty="0"/>
              <a:t>父节点清理：删除合并后在父节点中对应的键和子指针</a:t>
            </a:r>
            <a:endParaRPr lang="zh-CN" altLang="en-US" dirty="0"/>
          </a:p>
          <a:p>
            <a:endParaRPr lang="en-US" altLang="zh-CN" dirty="0"/>
          </a:p>
          <a:p>
            <a:r>
              <a:rPr lang="zh-CN" altLang="en-US" dirty="0"/>
              <a:t>递归修复：检查父节点是否因此下溢，继续向上修复</a:t>
            </a:r>
            <a:endParaRPr lang="zh-CN" altLang="en-US" dirty="0"/>
          </a:p>
          <a:p>
            <a:endParaRPr lang="en-US" altLang="zh-CN" dirty="0"/>
          </a:p>
          <a:p>
            <a:r>
              <a:rPr lang="zh-CN" altLang="en-US" dirty="0"/>
              <a:t>资源回收：删除被合并的空节点页面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合并执行逻辑：合并方向统一向左合并</a:t>
            </a:r>
            <a:endParaRPr lang="zh-CN" altLang="en-US" dirty="0"/>
          </a:p>
          <a:p>
            <a:r>
              <a:rPr lang="zh-CN" altLang="en-US" dirty="0"/>
              <a:t>区分节点类型：</a:t>
            </a:r>
            <a:endParaRPr lang="en-US" altLang="zh-CN" dirty="0"/>
          </a:p>
          <a:p>
            <a:r>
              <a:rPr lang="zh-CN" altLang="en-US" dirty="0"/>
              <a:t>叶子节点：直接迁移所有键值对，更新链表连接</a:t>
            </a:r>
            <a:endParaRPr lang="en-US" altLang="zh-CN" dirty="0"/>
          </a:p>
          <a:p>
            <a:r>
              <a:rPr lang="zh-CN" altLang="en-US" dirty="0"/>
              <a:t>内部节点：先插入父节点分隔键，再迁移子节点，更新子节点父指针</a:t>
            </a:r>
            <a:endParaRPr lang="zh-CN" altLang="en-US" dirty="0"/>
          </a:p>
          <a:p>
            <a:endParaRPr lang="en-US" altLang="zh-CN" dirty="0"/>
          </a:p>
          <a:p>
            <a:r>
              <a:rPr lang="zh-CN" altLang="en-US" dirty="0"/>
              <a:t>父节点清理：删除合并后在父节点中对应的键和子指针</a:t>
            </a:r>
            <a:endParaRPr lang="zh-CN" altLang="en-US" dirty="0"/>
          </a:p>
          <a:p>
            <a:endParaRPr lang="en-US" altLang="zh-CN" dirty="0"/>
          </a:p>
          <a:p>
            <a:r>
              <a:rPr lang="zh-CN" altLang="en-US" dirty="0"/>
              <a:t>递归修复：检查父节点是否因此下溢，继续向上修复</a:t>
            </a:r>
            <a:endParaRPr lang="zh-CN" altLang="en-US" dirty="0"/>
          </a:p>
          <a:p>
            <a:endParaRPr lang="en-US" altLang="zh-CN" dirty="0"/>
          </a:p>
          <a:p>
            <a:r>
              <a:rPr lang="zh-CN" altLang="en-US" dirty="0"/>
              <a:t>资源回收：删除被合并的空节点页面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叶子节点重分配：</a:t>
            </a:r>
            <a:endParaRPr lang="en-US" altLang="zh-CN" dirty="0"/>
          </a:p>
          <a:p>
            <a:r>
              <a:rPr lang="zh-CN" altLang="en-US" dirty="0"/>
              <a:t>从左借：取左兄弟最后一个键值对，更新父节点分隔键</a:t>
            </a:r>
            <a:endParaRPr lang="en-US" altLang="zh-CN" dirty="0"/>
          </a:p>
          <a:p>
            <a:r>
              <a:rPr lang="zh-CN" altLang="en-US" dirty="0"/>
              <a:t>从右借：取右兄弟第一个键值对，更新父节点分隔键</a:t>
            </a:r>
            <a:endParaRPr lang="en-US" altLang="zh-CN" dirty="0"/>
          </a:p>
          <a:p>
            <a:r>
              <a:rPr lang="zh-CN" altLang="en-US" dirty="0"/>
              <a:t>内部节点重分配：</a:t>
            </a:r>
            <a:endParaRPr lang="en-US" altLang="zh-CN" dirty="0"/>
          </a:p>
          <a:p>
            <a:r>
              <a:rPr lang="zh-CN" altLang="en-US" dirty="0"/>
              <a:t>从左借：父节点键下移，左兄弟键上移，更新子节点父指针</a:t>
            </a:r>
            <a:endParaRPr lang="zh-CN" altLang="en-US" dirty="0"/>
          </a:p>
          <a:p>
            <a:r>
              <a:rPr lang="zh-CN" altLang="en-US" dirty="0"/>
              <a:t>从右借：父节点键移动，右兄弟键上移，更新子节点父指针</a:t>
            </a:r>
            <a:endParaRPr lang="zh-CN" altLang="en-US" dirty="0"/>
          </a:p>
          <a:p>
            <a:endParaRPr lang="en-US" altLang="zh-CN" dirty="0"/>
          </a:p>
          <a:p>
            <a:r>
              <a:rPr lang="zh-CN" altLang="en-US" dirty="0"/>
              <a:t>父节点更新：同步调整父节点中对应的分隔键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叶子节点重分配：</a:t>
            </a:r>
            <a:endParaRPr lang="en-US" altLang="zh-CN" dirty="0"/>
          </a:p>
          <a:p>
            <a:r>
              <a:rPr lang="zh-CN" altLang="en-US" dirty="0"/>
              <a:t>从左借：取左兄弟最后一个键值对，更新父节点分隔键</a:t>
            </a:r>
            <a:endParaRPr lang="en-US" altLang="zh-CN" dirty="0"/>
          </a:p>
          <a:p>
            <a:r>
              <a:rPr lang="zh-CN" altLang="en-US" dirty="0"/>
              <a:t>从右借：取右兄弟第一个键值对，更新父节点分隔键</a:t>
            </a:r>
            <a:endParaRPr lang="en-US" altLang="zh-CN" dirty="0"/>
          </a:p>
          <a:p>
            <a:r>
              <a:rPr lang="zh-CN" altLang="en-US" dirty="0"/>
              <a:t>内部节点重分配：</a:t>
            </a:r>
            <a:endParaRPr lang="en-US" altLang="zh-CN" dirty="0"/>
          </a:p>
          <a:p>
            <a:r>
              <a:rPr lang="zh-CN" altLang="en-US" dirty="0"/>
              <a:t>从左借：父节点键下移，左兄弟键上移，更新子节点父指针</a:t>
            </a:r>
            <a:endParaRPr lang="zh-CN" altLang="en-US" dirty="0"/>
          </a:p>
          <a:p>
            <a:r>
              <a:rPr lang="zh-CN" altLang="en-US" dirty="0"/>
              <a:t>从右借：父节点键移动，右兄弟键上移，更新子节点父指针</a:t>
            </a:r>
            <a:endParaRPr lang="zh-CN" altLang="en-US" dirty="0"/>
          </a:p>
          <a:p>
            <a:endParaRPr lang="en-US" altLang="zh-CN" dirty="0"/>
          </a:p>
          <a:p>
            <a:r>
              <a:rPr lang="zh-CN" altLang="en-US" dirty="0"/>
              <a:t>父节点更新：同步调整父节点中对应的分隔键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叶子节点重分配：</a:t>
            </a:r>
            <a:endParaRPr lang="en-US" altLang="zh-CN" dirty="0"/>
          </a:p>
          <a:p>
            <a:r>
              <a:rPr lang="zh-CN" altLang="en-US" dirty="0"/>
              <a:t>从左借：取左兄弟最后一个键值对，更新父节点分隔键</a:t>
            </a:r>
            <a:endParaRPr lang="en-US" altLang="zh-CN" dirty="0"/>
          </a:p>
          <a:p>
            <a:r>
              <a:rPr lang="zh-CN" altLang="en-US" dirty="0"/>
              <a:t>从右借：取右兄弟第一个键值对，更新父节点分隔键</a:t>
            </a:r>
            <a:endParaRPr lang="en-US" altLang="zh-CN" dirty="0"/>
          </a:p>
          <a:p>
            <a:r>
              <a:rPr lang="zh-CN" altLang="en-US" dirty="0"/>
              <a:t>内部节点重分配：</a:t>
            </a:r>
            <a:endParaRPr lang="en-US" altLang="zh-CN" dirty="0"/>
          </a:p>
          <a:p>
            <a:r>
              <a:rPr lang="zh-CN" altLang="en-US" dirty="0"/>
              <a:t>从左借：父节点键下移，左兄弟键上移，更新子节点父指针</a:t>
            </a:r>
            <a:endParaRPr lang="zh-CN" altLang="en-US" dirty="0"/>
          </a:p>
          <a:p>
            <a:r>
              <a:rPr lang="zh-CN" altLang="en-US" dirty="0"/>
              <a:t>从右借：父节点键移动，右兄弟键上移，更新子节点父指针</a:t>
            </a:r>
            <a:endParaRPr lang="zh-CN" altLang="en-US" dirty="0"/>
          </a:p>
          <a:p>
            <a:endParaRPr lang="en-US" altLang="zh-CN" dirty="0"/>
          </a:p>
          <a:p>
            <a:r>
              <a:rPr lang="zh-CN" altLang="en-US" dirty="0"/>
              <a:t>父节点更新：同步调整父节点中对应的分隔键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9.png"/><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0" Type="http://schemas.openxmlformats.org/officeDocument/2006/relationships/notesSlide" Target="../notesSlides/notesSlide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slide" Target="slide35.xml"/><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xml"/><Relationship Id="rId3" Type="http://schemas.openxmlformats.org/officeDocument/2006/relationships/image" Target="../media/image13.png"/><Relationship Id="rId2" Type="http://schemas.openxmlformats.org/officeDocument/2006/relationships/slide" Target="slide37.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6.xml"/><Relationship Id="rId5" Type="http://schemas.openxmlformats.org/officeDocument/2006/relationships/slideLayout" Target="../slideLayouts/slideLayout1.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slide" Target="slide44.xml"/><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png"/><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1.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slide" Target="slide24.xml"/><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slideLayout" Target="../slideLayouts/slideLayout1.xml"/><Relationship Id="rId3" Type="http://schemas.openxmlformats.org/officeDocument/2006/relationships/slide" Target="slide36.xml"/><Relationship Id="rId2" Type="http://schemas.openxmlformats.org/officeDocument/2006/relationships/slide" Target="slide25.xml"/><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slide" Target="slide25.xml"/><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slide" Target="slide25.xml"/><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slide" Target="slide25.xml"/><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xml"/><Relationship Id="rId3" Type="http://schemas.openxmlformats.org/officeDocument/2006/relationships/slide" Target="slide36.xml"/><Relationship Id="rId2" Type="http://schemas.openxmlformats.org/officeDocument/2006/relationships/slide" Target="slide26.xml"/><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xml"/><Relationship Id="rId2" Type="http://schemas.openxmlformats.org/officeDocument/2006/relationships/slide" Target="slide26.xml"/><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xml"/><Relationship Id="rId2" Type="http://schemas.openxmlformats.org/officeDocument/2006/relationships/slide" Target="slide26.xml"/><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xml"/><Relationship Id="rId2" Type="http://schemas.openxmlformats.org/officeDocument/2006/relationships/slide" Target="slide26.xml"/><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pic>
        <p:nvPicPr>
          <p:cNvPr id="3" name="Image 1" descr="https://kimi-img.moonshot.cn/pub/slides/slides_tmpl/image/25-10-11-20:17:33-d3l4ln8s8jdo4os5ens0.png"/>
          <p:cNvPicPr>
            <a:picLocks noChangeAspect="1"/>
          </p:cNvPicPr>
          <p:nvPr/>
        </p:nvPicPr>
        <p:blipFill>
          <a:blip r:embed="rId3"/>
          <a:srcRect/>
          <a:stretch>
            <a:fillRect/>
          </a:stretch>
        </p:blipFill>
        <p:spPr>
          <a:xfrm>
            <a:off x="7657465" y="3551555"/>
            <a:ext cx="4408805" cy="3306445"/>
          </a:xfrm>
          <a:prstGeom prst="rect">
            <a:avLst/>
          </a:prstGeom>
        </p:spPr>
      </p:pic>
      <p:pic>
        <p:nvPicPr>
          <p:cNvPr id="4" name="Image 2" descr="https://kimi-img.moonshot.cn/pub/slides/slides_tmpl/image/25-10-11-20:17:33-d3l4ln8s8jdo4os5enr0.png"/>
          <p:cNvPicPr>
            <a:picLocks noChangeAspect="1"/>
          </p:cNvPicPr>
          <p:nvPr/>
        </p:nvPicPr>
        <p:blipFill>
          <a:blip r:embed="rId4"/>
          <a:stretch>
            <a:fillRect/>
          </a:stretch>
        </p:blipFill>
        <p:spPr>
          <a:xfrm>
            <a:off x="861464" y="5335588"/>
            <a:ext cx="3195606" cy="648335"/>
          </a:xfrm>
          <a:prstGeom prst="rect">
            <a:avLst/>
          </a:prstGeom>
        </p:spPr>
      </p:pic>
      <p:sp>
        <p:nvSpPr>
          <p:cNvPr id="5" name="Text 0"/>
          <p:cNvSpPr/>
          <p:nvPr/>
        </p:nvSpPr>
        <p:spPr>
          <a:xfrm>
            <a:off x="757555" y="1725930"/>
            <a:ext cx="8072755" cy="2041525"/>
          </a:xfrm>
          <a:prstGeom prst="rect">
            <a:avLst/>
          </a:prstGeom>
          <a:noFill/>
        </p:spPr>
        <p:txBody>
          <a:bodyPr wrap="square" lIns="91440" tIns="45720" rIns="91440" bIns="45720" rtlCol="0" anchor="t"/>
          <a:lstStyle/>
          <a:p>
            <a:pPr>
              <a:lnSpc>
                <a:spcPct val="110000"/>
              </a:lnSpc>
            </a:pPr>
            <a:r>
              <a:rPr lang="en-US" sz="6000" b="1" dirty="0">
                <a:solidFill>
                  <a:srgbClr val="000000"/>
                </a:solidFill>
                <a:latin typeface="MiSans" panose="00000500000000000000" pitchFamily="34" charset="-122"/>
                <a:ea typeface="MiSans" panose="00000500000000000000" pitchFamily="34" charset="-122"/>
                <a:cs typeface="MiSans" panose="00000500000000000000" pitchFamily="34" charset="-120"/>
              </a:rPr>
              <a:t>数据库实验汇报</a:t>
            </a:r>
            <a:endParaRPr lang="en-US" sz="1600" dirty="0"/>
          </a:p>
        </p:txBody>
      </p:sp>
      <p:sp>
        <p:nvSpPr>
          <p:cNvPr id="6" name="Shape 1"/>
          <p:cNvSpPr/>
          <p:nvPr/>
        </p:nvSpPr>
        <p:spPr>
          <a:xfrm>
            <a:off x="5096510" y="871220"/>
            <a:ext cx="1324610" cy="462280"/>
          </a:xfrm>
          <a:custGeom>
            <a:avLst/>
            <a:gdLst/>
            <a:ahLst/>
            <a:cxnLst/>
            <a:rect l="l" t="t" r="r" b="b"/>
            <a:pathLst>
              <a:path w="1324610" h="462280">
                <a:moveTo>
                  <a:pt x="58972" y="16482"/>
                </a:moveTo>
                <a:cubicBezTo>
                  <a:pt x="58972" y="25620"/>
                  <a:pt x="45517" y="33028"/>
                  <a:pt x="28920" y="33028"/>
                </a:cubicBezTo>
                <a:cubicBezTo>
                  <a:pt x="12323" y="33028"/>
                  <a:pt x="-1132" y="25620"/>
                  <a:pt x="-1132" y="16482"/>
                </a:cubicBezTo>
                <a:cubicBezTo>
                  <a:pt x="-1132" y="7343"/>
                  <a:pt x="12323" y="-65"/>
                  <a:pt x="28920" y="-65"/>
                </a:cubicBezTo>
                <a:cubicBezTo>
                  <a:pt x="45510" y="-69"/>
                  <a:pt x="58963" y="7333"/>
                  <a:pt x="58972" y="16466"/>
                </a:cubicBezTo>
                <a:cubicBezTo>
                  <a:pt x="58972" y="16471"/>
                  <a:pt x="58972" y="16477"/>
                  <a:pt x="58972" y="16482"/>
                </a:cubicBezTo>
                <a:close/>
                <a:moveTo>
                  <a:pt x="312113" y="16482"/>
                </a:moveTo>
                <a:cubicBezTo>
                  <a:pt x="312113" y="25620"/>
                  <a:pt x="298659" y="33028"/>
                  <a:pt x="282062" y="33028"/>
                </a:cubicBezTo>
                <a:cubicBezTo>
                  <a:pt x="265466" y="33028"/>
                  <a:pt x="252010" y="25620"/>
                  <a:pt x="252010" y="16482"/>
                </a:cubicBezTo>
                <a:cubicBezTo>
                  <a:pt x="252010" y="7343"/>
                  <a:pt x="265466" y="-65"/>
                  <a:pt x="282062" y="-65"/>
                </a:cubicBezTo>
                <a:cubicBezTo>
                  <a:pt x="298650" y="-54"/>
                  <a:pt x="312095" y="7348"/>
                  <a:pt x="312113" y="16482"/>
                </a:cubicBezTo>
                <a:close/>
                <a:moveTo>
                  <a:pt x="565186" y="16482"/>
                </a:moveTo>
                <a:cubicBezTo>
                  <a:pt x="565186" y="25620"/>
                  <a:pt x="551730" y="33028"/>
                  <a:pt x="535134" y="33028"/>
                </a:cubicBezTo>
                <a:cubicBezTo>
                  <a:pt x="518537" y="33028"/>
                  <a:pt x="505082" y="25620"/>
                  <a:pt x="505082" y="16482"/>
                </a:cubicBezTo>
                <a:cubicBezTo>
                  <a:pt x="505082" y="7343"/>
                  <a:pt x="518537" y="-65"/>
                  <a:pt x="535134" y="-65"/>
                </a:cubicBezTo>
                <a:cubicBezTo>
                  <a:pt x="551723" y="-69"/>
                  <a:pt x="565176" y="7333"/>
                  <a:pt x="565186" y="16466"/>
                </a:cubicBezTo>
                <a:cubicBezTo>
                  <a:pt x="565186" y="16471"/>
                  <a:pt x="565186" y="16477"/>
                  <a:pt x="565186" y="16482"/>
                </a:cubicBezTo>
                <a:close/>
                <a:moveTo>
                  <a:pt x="818327" y="16482"/>
                </a:moveTo>
                <a:cubicBezTo>
                  <a:pt x="818327" y="25620"/>
                  <a:pt x="804873" y="33028"/>
                  <a:pt x="788276" y="33028"/>
                </a:cubicBezTo>
                <a:cubicBezTo>
                  <a:pt x="771678" y="33028"/>
                  <a:pt x="758224" y="25620"/>
                  <a:pt x="758224" y="16482"/>
                </a:cubicBezTo>
                <a:cubicBezTo>
                  <a:pt x="758224" y="7343"/>
                  <a:pt x="771678" y="-65"/>
                  <a:pt x="788276" y="-65"/>
                </a:cubicBezTo>
                <a:cubicBezTo>
                  <a:pt x="804866" y="-69"/>
                  <a:pt x="818318" y="7333"/>
                  <a:pt x="818327" y="16466"/>
                </a:cubicBezTo>
                <a:cubicBezTo>
                  <a:pt x="818327" y="16471"/>
                  <a:pt x="818327" y="16477"/>
                  <a:pt x="818327" y="16482"/>
                </a:cubicBezTo>
                <a:close/>
                <a:moveTo>
                  <a:pt x="1071469" y="16482"/>
                </a:moveTo>
                <a:cubicBezTo>
                  <a:pt x="1071469" y="25620"/>
                  <a:pt x="1058015" y="33028"/>
                  <a:pt x="1041418" y="33028"/>
                </a:cubicBezTo>
                <a:cubicBezTo>
                  <a:pt x="1024821" y="33028"/>
                  <a:pt x="1011366" y="25620"/>
                  <a:pt x="1011366" y="16482"/>
                </a:cubicBezTo>
                <a:cubicBezTo>
                  <a:pt x="1011366" y="7343"/>
                  <a:pt x="1024821" y="-65"/>
                  <a:pt x="1041418" y="-65"/>
                </a:cubicBezTo>
                <a:cubicBezTo>
                  <a:pt x="1058008" y="-69"/>
                  <a:pt x="1071461" y="7333"/>
                  <a:pt x="1071469" y="16466"/>
                </a:cubicBezTo>
                <a:cubicBezTo>
                  <a:pt x="1071469" y="16471"/>
                  <a:pt x="1071469" y="16477"/>
                  <a:pt x="1071469" y="16482"/>
                </a:cubicBezTo>
                <a:close/>
                <a:moveTo>
                  <a:pt x="1324610" y="16482"/>
                </a:moveTo>
                <a:cubicBezTo>
                  <a:pt x="1324610" y="25620"/>
                  <a:pt x="1311155" y="33028"/>
                  <a:pt x="1294558" y="33028"/>
                </a:cubicBezTo>
                <a:cubicBezTo>
                  <a:pt x="1277961" y="33028"/>
                  <a:pt x="1264506" y="25620"/>
                  <a:pt x="1264506" y="16482"/>
                </a:cubicBezTo>
                <a:cubicBezTo>
                  <a:pt x="1264506" y="7343"/>
                  <a:pt x="1277961" y="-65"/>
                  <a:pt x="1294558" y="-65"/>
                </a:cubicBezTo>
                <a:cubicBezTo>
                  <a:pt x="1311146" y="-54"/>
                  <a:pt x="1324591" y="7348"/>
                  <a:pt x="1324610" y="16482"/>
                </a:cubicBezTo>
                <a:close/>
                <a:moveTo>
                  <a:pt x="58972" y="123795"/>
                </a:moveTo>
                <a:cubicBezTo>
                  <a:pt x="58972" y="132933"/>
                  <a:pt x="45517" y="140341"/>
                  <a:pt x="28920" y="140341"/>
                </a:cubicBezTo>
                <a:cubicBezTo>
                  <a:pt x="12323" y="140341"/>
                  <a:pt x="-1132" y="132933"/>
                  <a:pt x="-1132" y="123795"/>
                </a:cubicBezTo>
                <a:cubicBezTo>
                  <a:pt x="-1132" y="114656"/>
                  <a:pt x="12323" y="107248"/>
                  <a:pt x="28920" y="107248"/>
                </a:cubicBezTo>
                <a:cubicBezTo>
                  <a:pt x="45510" y="107244"/>
                  <a:pt x="58963" y="114646"/>
                  <a:pt x="58972" y="123779"/>
                </a:cubicBezTo>
                <a:cubicBezTo>
                  <a:pt x="58972" y="123784"/>
                  <a:pt x="58972" y="123790"/>
                  <a:pt x="58972" y="123795"/>
                </a:cubicBezTo>
                <a:close/>
                <a:moveTo>
                  <a:pt x="312113" y="123795"/>
                </a:moveTo>
                <a:cubicBezTo>
                  <a:pt x="312113" y="132933"/>
                  <a:pt x="298659" y="140341"/>
                  <a:pt x="282062" y="140341"/>
                </a:cubicBezTo>
                <a:cubicBezTo>
                  <a:pt x="265466" y="140341"/>
                  <a:pt x="252010" y="132933"/>
                  <a:pt x="252010" y="123795"/>
                </a:cubicBezTo>
                <a:cubicBezTo>
                  <a:pt x="252010" y="114656"/>
                  <a:pt x="265466" y="107248"/>
                  <a:pt x="282062" y="107248"/>
                </a:cubicBezTo>
                <a:cubicBezTo>
                  <a:pt x="298650" y="107259"/>
                  <a:pt x="312095" y="114661"/>
                  <a:pt x="312113" y="123795"/>
                </a:cubicBezTo>
                <a:close/>
                <a:moveTo>
                  <a:pt x="565186" y="123795"/>
                </a:moveTo>
                <a:cubicBezTo>
                  <a:pt x="565186" y="132933"/>
                  <a:pt x="551730" y="140341"/>
                  <a:pt x="535134" y="140341"/>
                </a:cubicBezTo>
                <a:cubicBezTo>
                  <a:pt x="518537" y="140341"/>
                  <a:pt x="505082" y="132933"/>
                  <a:pt x="505082" y="123795"/>
                </a:cubicBezTo>
                <a:cubicBezTo>
                  <a:pt x="505082" y="114656"/>
                  <a:pt x="518537" y="107248"/>
                  <a:pt x="535134" y="107248"/>
                </a:cubicBezTo>
                <a:cubicBezTo>
                  <a:pt x="551723" y="107244"/>
                  <a:pt x="565176" y="114646"/>
                  <a:pt x="565186" y="123779"/>
                </a:cubicBezTo>
                <a:cubicBezTo>
                  <a:pt x="565186" y="123784"/>
                  <a:pt x="565186" y="123790"/>
                  <a:pt x="565186" y="123795"/>
                </a:cubicBezTo>
                <a:close/>
                <a:moveTo>
                  <a:pt x="818327" y="123795"/>
                </a:moveTo>
                <a:cubicBezTo>
                  <a:pt x="818327" y="132933"/>
                  <a:pt x="804873" y="140341"/>
                  <a:pt x="788276" y="140341"/>
                </a:cubicBezTo>
                <a:cubicBezTo>
                  <a:pt x="771678" y="140341"/>
                  <a:pt x="758224" y="132933"/>
                  <a:pt x="758224" y="123795"/>
                </a:cubicBezTo>
                <a:cubicBezTo>
                  <a:pt x="758224" y="114656"/>
                  <a:pt x="771678" y="107248"/>
                  <a:pt x="788276" y="107248"/>
                </a:cubicBezTo>
                <a:cubicBezTo>
                  <a:pt x="804866" y="107244"/>
                  <a:pt x="818318" y="114646"/>
                  <a:pt x="818327" y="123779"/>
                </a:cubicBezTo>
                <a:cubicBezTo>
                  <a:pt x="818327" y="123784"/>
                  <a:pt x="818327" y="123790"/>
                  <a:pt x="818327" y="123795"/>
                </a:cubicBezTo>
                <a:close/>
                <a:moveTo>
                  <a:pt x="1071469" y="123795"/>
                </a:moveTo>
                <a:cubicBezTo>
                  <a:pt x="1071469" y="132933"/>
                  <a:pt x="1058015" y="140341"/>
                  <a:pt x="1041418" y="140341"/>
                </a:cubicBezTo>
                <a:cubicBezTo>
                  <a:pt x="1024821" y="140341"/>
                  <a:pt x="1011366" y="132933"/>
                  <a:pt x="1011366" y="123795"/>
                </a:cubicBezTo>
                <a:cubicBezTo>
                  <a:pt x="1011366" y="114656"/>
                  <a:pt x="1024821" y="107248"/>
                  <a:pt x="1041418" y="107248"/>
                </a:cubicBezTo>
                <a:cubicBezTo>
                  <a:pt x="1058008" y="107244"/>
                  <a:pt x="1071461" y="114646"/>
                  <a:pt x="1071469" y="123779"/>
                </a:cubicBezTo>
                <a:cubicBezTo>
                  <a:pt x="1071469" y="123784"/>
                  <a:pt x="1071469" y="123790"/>
                  <a:pt x="1071469" y="123795"/>
                </a:cubicBezTo>
                <a:close/>
                <a:moveTo>
                  <a:pt x="1324610" y="123795"/>
                </a:moveTo>
                <a:cubicBezTo>
                  <a:pt x="1324610" y="132933"/>
                  <a:pt x="1311155" y="140341"/>
                  <a:pt x="1294558" y="140341"/>
                </a:cubicBezTo>
                <a:cubicBezTo>
                  <a:pt x="1277961" y="140341"/>
                  <a:pt x="1264506" y="132933"/>
                  <a:pt x="1264506" y="123795"/>
                </a:cubicBezTo>
                <a:cubicBezTo>
                  <a:pt x="1264506" y="114656"/>
                  <a:pt x="1277961" y="107248"/>
                  <a:pt x="1294558" y="107248"/>
                </a:cubicBezTo>
                <a:cubicBezTo>
                  <a:pt x="1311146" y="107259"/>
                  <a:pt x="1324591" y="114661"/>
                  <a:pt x="1324610" y="123795"/>
                </a:cubicBezTo>
                <a:close/>
                <a:moveTo>
                  <a:pt x="58972" y="231108"/>
                </a:moveTo>
                <a:cubicBezTo>
                  <a:pt x="58972" y="240246"/>
                  <a:pt x="45517" y="247654"/>
                  <a:pt x="28920" y="247654"/>
                </a:cubicBezTo>
                <a:cubicBezTo>
                  <a:pt x="12323" y="247654"/>
                  <a:pt x="-1132" y="240246"/>
                  <a:pt x="-1132" y="231108"/>
                </a:cubicBezTo>
                <a:cubicBezTo>
                  <a:pt x="-1132" y="221969"/>
                  <a:pt x="12323" y="214561"/>
                  <a:pt x="28920" y="214561"/>
                </a:cubicBezTo>
                <a:cubicBezTo>
                  <a:pt x="45510" y="214557"/>
                  <a:pt x="58963" y="221958"/>
                  <a:pt x="58972" y="231092"/>
                </a:cubicBezTo>
                <a:cubicBezTo>
                  <a:pt x="58972" y="231097"/>
                  <a:pt x="58972" y="231103"/>
                  <a:pt x="58972" y="231108"/>
                </a:cubicBezTo>
                <a:close/>
                <a:moveTo>
                  <a:pt x="312113" y="231108"/>
                </a:moveTo>
                <a:cubicBezTo>
                  <a:pt x="312113" y="240246"/>
                  <a:pt x="298659" y="247654"/>
                  <a:pt x="282062" y="247654"/>
                </a:cubicBezTo>
                <a:cubicBezTo>
                  <a:pt x="265466" y="247654"/>
                  <a:pt x="252010" y="240246"/>
                  <a:pt x="252010" y="231108"/>
                </a:cubicBezTo>
                <a:cubicBezTo>
                  <a:pt x="252010" y="221969"/>
                  <a:pt x="265466" y="214561"/>
                  <a:pt x="282062" y="214561"/>
                </a:cubicBezTo>
                <a:cubicBezTo>
                  <a:pt x="298650" y="214572"/>
                  <a:pt x="312095" y="221974"/>
                  <a:pt x="312113" y="231108"/>
                </a:cubicBezTo>
                <a:close/>
                <a:moveTo>
                  <a:pt x="565186" y="231108"/>
                </a:moveTo>
                <a:cubicBezTo>
                  <a:pt x="565186" y="240246"/>
                  <a:pt x="551730" y="247654"/>
                  <a:pt x="535134" y="247654"/>
                </a:cubicBezTo>
                <a:cubicBezTo>
                  <a:pt x="518537" y="247654"/>
                  <a:pt x="505082" y="240246"/>
                  <a:pt x="505082" y="231108"/>
                </a:cubicBezTo>
                <a:cubicBezTo>
                  <a:pt x="505082" y="221969"/>
                  <a:pt x="518537" y="214561"/>
                  <a:pt x="535134" y="214561"/>
                </a:cubicBezTo>
                <a:cubicBezTo>
                  <a:pt x="551723" y="214557"/>
                  <a:pt x="565176" y="221958"/>
                  <a:pt x="565186" y="231092"/>
                </a:cubicBezTo>
                <a:cubicBezTo>
                  <a:pt x="565186" y="231097"/>
                  <a:pt x="565186" y="231103"/>
                  <a:pt x="565186" y="231108"/>
                </a:cubicBezTo>
                <a:close/>
                <a:moveTo>
                  <a:pt x="818327" y="231108"/>
                </a:moveTo>
                <a:cubicBezTo>
                  <a:pt x="818327" y="240246"/>
                  <a:pt x="804873" y="247654"/>
                  <a:pt x="788276" y="247654"/>
                </a:cubicBezTo>
                <a:cubicBezTo>
                  <a:pt x="771678" y="247654"/>
                  <a:pt x="758224" y="240246"/>
                  <a:pt x="758224" y="231108"/>
                </a:cubicBezTo>
                <a:cubicBezTo>
                  <a:pt x="758224" y="221969"/>
                  <a:pt x="771678" y="214561"/>
                  <a:pt x="788276" y="214561"/>
                </a:cubicBezTo>
                <a:cubicBezTo>
                  <a:pt x="804866" y="214557"/>
                  <a:pt x="818318" y="221958"/>
                  <a:pt x="818327" y="231092"/>
                </a:cubicBezTo>
                <a:cubicBezTo>
                  <a:pt x="818327" y="231097"/>
                  <a:pt x="818327" y="231103"/>
                  <a:pt x="818327" y="231108"/>
                </a:cubicBezTo>
                <a:close/>
                <a:moveTo>
                  <a:pt x="1071469" y="231108"/>
                </a:moveTo>
                <a:cubicBezTo>
                  <a:pt x="1071469" y="240246"/>
                  <a:pt x="1058015" y="247654"/>
                  <a:pt x="1041418" y="247654"/>
                </a:cubicBezTo>
                <a:cubicBezTo>
                  <a:pt x="1024821" y="247654"/>
                  <a:pt x="1011366" y="240246"/>
                  <a:pt x="1011366" y="231108"/>
                </a:cubicBezTo>
                <a:cubicBezTo>
                  <a:pt x="1011366" y="221969"/>
                  <a:pt x="1024821" y="214561"/>
                  <a:pt x="1041418" y="214561"/>
                </a:cubicBezTo>
                <a:cubicBezTo>
                  <a:pt x="1058008" y="214557"/>
                  <a:pt x="1071461" y="221958"/>
                  <a:pt x="1071469" y="231092"/>
                </a:cubicBezTo>
                <a:cubicBezTo>
                  <a:pt x="1071469" y="231097"/>
                  <a:pt x="1071469" y="231103"/>
                  <a:pt x="1071469" y="231108"/>
                </a:cubicBezTo>
                <a:close/>
                <a:moveTo>
                  <a:pt x="1324610" y="231108"/>
                </a:moveTo>
                <a:cubicBezTo>
                  <a:pt x="1324610" y="240246"/>
                  <a:pt x="1311155" y="247654"/>
                  <a:pt x="1294558" y="247654"/>
                </a:cubicBezTo>
                <a:cubicBezTo>
                  <a:pt x="1277961" y="247654"/>
                  <a:pt x="1264506" y="240246"/>
                  <a:pt x="1264506" y="231108"/>
                </a:cubicBezTo>
                <a:cubicBezTo>
                  <a:pt x="1264506" y="221969"/>
                  <a:pt x="1277961" y="214561"/>
                  <a:pt x="1294558" y="214561"/>
                </a:cubicBezTo>
                <a:cubicBezTo>
                  <a:pt x="1311146" y="214572"/>
                  <a:pt x="1324591" y="221974"/>
                  <a:pt x="1324610" y="231108"/>
                </a:cubicBezTo>
                <a:close/>
                <a:moveTo>
                  <a:pt x="58972" y="338421"/>
                </a:moveTo>
                <a:cubicBezTo>
                  <a:pt x="58972" y="347559"/>
                  <a:pt x="45517" y="354967"/>
                  <a:pt x="28920" y="354967"/>
                </a:cubicBezTo>
                <a:cubicBezTo>
                  <a:pt x="12323" y="354967"/>
                  <a:pt x="-1132" y="347559"/>
                  <a:pt x="-1132" y="338421"/>
                </a:cubicBezTo>
                <a:cubicBezTo>
                  <a:pt x="-1132" y="329282"/>
                  <a:pt x="12323" y="321875"/>
                  <a:pt x="28920" y="321875"/>
                </a:cubicBezTo>
                <a:cubicBezTo>
                  <a:pt x="45510" y="321870"/>
                  <a:pt x="58963" y="329271"/>
                  <a:pt x="58972" y="338405"/>
                </a:cubicBezTo>
                <a:cubicBezTo>
                  <a:pt x="58972" y="338411"/>
                  <a:pt x="58972" y="338416"/>
                  <a:pt x="58972" y="338421"/>
                </a:cubicBezTo>
                <a:close/>
                <a:moveTo>
                  <a:pt x="312113" y="338421"/>
                </a:moveTo>
                <a:cubicBezTo>
                  <a:pt x="312113" y="347559"/>
                  <a:pt x="298659" y="354967"/>
                  <a:pt x="282062" y="354967"/>
                </a:cubicBezTo>
                <a:cubicBezTo>
                  <a:pt x="265466" y="354967"/>
                  <a:pt x="252010" y="347559"/>
                  <a:pt x="252010" y="338421"/>
                </a:cubicBezTo>
                <a:cubicBezTo>
                  <a:pt x="252010" y="329282"/>
                  <a:pt x="265466" y="321875"/>
                  <a:pt x="282062" y="321875"/>
                </a:cubicBezTo>
                <a:cubicBezTo>
                  <a:pt x="298650" y="321885"/>
                  <a:pt x="312095" y="329287"/>
                  <a:pt x="312113" y="338421"/>
                </a:cubicBezTo>
                <a:close/>
                <a:moveTo>
                  <a:pt x="565186" y="338421"/>
                </a:moveTo>
                <a:cubicBezTo>
                  <a:pt x="565186" y="347559"/>
                  <a:pt x="551730" y="354967"/>
                  <a:pt x="535134" y="354967"/>
                </a:cubicBezTo>
                <a:cubicBezTo>
                  <a:pt x="518537" y="354967"/>
                  <a:pt x="505082" y="347559"/>
                  <a:pt x="505082" y="338421"/>
                </a:cubicBezTo>
                <a:cubicBezTo>
                  <a:pt x="505082" y="329282"/>
                  <a:pt x="518537" y="321875"/>
                  <a:pt x="535134" y="321875"/>
                </a:cubicBezTo>
                <a:cubicBezTo>
                  <a:pt x="551723" y="321870"/>
                  <a:pt x="565176" y="329271"/>
                  <a:pt x="565186" y="338405"/>
                </a:cubicBezTo>
                <a:cubicBezTo>
                  <a:pt x="565186" y="338411"/>
                  <a:pt x="565186" y="338416"/>
                  <a:pt x="565186" y="338421"/>
                </a:cubicBezTo>
                <a:close/>
                <a:moveTo>
                  <a:pt x="818327" y="338421"/>
                </a:moveTo>
                <a:cubicBezTo>
                  <a:pt x="818327" y="347559"/>
                  <a:pt x="804873" y="354967"/>
                  <a:pt x="788276" y="354967"/>
                </a:cubicBezTo>
                <a:cubicBezTo>
                  <a:pt x="771678" y="354967"/>
                  <a:pt x="758224" y="347559"/>
                  <a:pt x="758224" y="338421"/>
                </a:cubicBezTo>
                <a:cubicBezTo>
                  <a:pt x="758224" y="329282"/>
                  <a:pt x="771678" y="321875"/>
                  <a:pt x="788276" y="321875"/>
                </a:cubicBezTo>
                <a:cubicBezTo>
                  <a:pt x="804866" y="321870"/>
                  <a:pt x="818318" y="329271"/>
                  <a:pt x="818327" y="338405"/>
                </a:cubicBezTo>
                <a:cubicBezTo>
                  <a:pt x="818327" y="338411"/>
                  <a:pt x="818327" y="338416"/>
                  <a:pt x="818327" y="338421"/>
                </a:cubicBezTo>
                <a:close/>
                <a:moveTo>
                  <a:pt x="1071469" y="338421"/>
                </a:moveTo>
                <a:cubicBezTo>
                  <a:pt x="1071469" y="347559"/>
                  <a:pt x="1058015" y="354967"/>
                  <a:pt x="1041418" y="354967"/>
                </a:cubicBezTo>
                <a:cubicBezTo>
                  <a:pt x="1024821" y="354967"/>
                  <a:pt x="1011366" y="347559"/>
                  <a:pt x="1011366" y="338421"/>
                </a:cubicBezTo>
                <a:cubicBezTo>
                  <a:pt x="1011366" y="329282"/>
                  <a:pt x="1024821" y="321875"/>
                  <a:pt x="1041418" y="321875"/>
                </a:cubicBezTo>
                <a:cubicBezTo>
                  <a:pt x="1058008" y="321870"/>
                  <a:pt x="1071461" y="329271"/>
                  <a:pt x="1071469" y="338405"/>
                </a:cubicBezTo>
                <a:cubicBezTo>
                  <a:pt x="1071469" y="338411"/>
                  <a:pt x="1071469" y="338416"/>
                  <a:pt x="1071469" y="338421"/>
                </a:cubicBezTo>
                <a:close/>
                <a:moveTo>
                  <a:pt x="1324610" y="338421"/>
                </a:moveTo>
                <a:cubicBezTo>
                  <a:pt x="1324610" y="347559"/>
                  <a:pt x="1311155" y="354967"/>
                  <a:pt x="1294558" y="354967"/>
                </a:cubicBezTo>
                <a:cubicBezTo>
                  <a:pt x="1277961" y="354967"/>
                  <a:pt x="1264506" y="347559"/>
                  <a:pt x="1264506" y="338421"/>
                </a:cubicBezTo>
                <a:cubicBezTo>
                  <a:pt x="1264506" y="329282"/>
                  <a:pt x="1277961" y="321875"/>
                  <a:pt x="1294558" y="321875"/>
                </a:cubicBezTo>
                <a:cubicBezTo>
                  <a:pt x="1311146" y="321885"/>
                  <a:pt x="1324591" y="329287"/>
                  <a:pt x="1324610" y="338421"/>
                </a:cubicBezTo>
                <a:close/>
                <a:moveTo>
                  <a:pt x="58972" y="445734"/>
                </a:moveTo>
                <a:cubicBezTo>
                  <a:pt x="58972" y="454872"/>
                  <a:pt x="45517" y="462280"/>
                  <a:pt x="28920" y="462280"/>
                </a:cubicBezTo>
                <a:cubicBezTo>
                  <a:pt x="12323" y="462280"/>
                  <a:pt x="-1132" y="454872"/>
                  <a:pt x="-1132" y="445734"/>
                </a:cubicBezTo>
                <a:cubicBezTo>
                  <a:pt x="-1132" y="436595"/>
                  <a:pt x="12323" y="429188"/>
                  <a:pt x="28920" y="429188"/>
                </a:cubicBezTo>
                <a:cubicBezTo>
                  <a:pt x="45510" y="429183"/>
                  <a:pt x="58963" y="436584"/>
                  <a:pt x="58972" y="445718"/>
                </a:cubicBezTo>
                <a:cubicBezTo>
                  <a:pt x="58972" y="445723"/>
                  <a:pt x="58972" y="445728"/>
                  <a:pt x="58972" y="445734"/>
                </a:cubicBezTo>
                <a:close/>
                <a:moveTo>
                  <a:pt x="312113" y="445734"/>
                </a:moveTo>
                <a:cubicBezTo>
                  <a:pt x="312113" y="454872"/>
                  <a:pt x="298659" y="462280"/>
                  <a:pt x="282062" y="462280"/>
                </a:cubicBezTo>
                <a:cubicBezTo>
                  <a:pt x="265466" y="462280"/>
                  <a:pt x="252010" y="454872"/>
                  <a:pt x="252010" y="445734"/>
                </a:cubicBezTo>
                <a:cubicBezTo>
                  <a:pt x="252010" y="436595"/>
                  <a:pt x="265466" y="429188"/>
                  <a:pt x="282062" y="429188"/>
                </a:cubicBezTo>
                <a:cubicBezTo>
                  <a:pt x="298650" y="429198"/>
                  <a:pt x="312095" y="436600"/>
                  <a:pt x="312113" y="445734"/>
                </a:cubicBezTo>
                <a:close/>
                <a:moveTo>
                  <a:pt x="565186" y="445734"/>
                </a:moveTo>
                <a:cubicBezTo>
                  <a:pt x="565186" y="454872"/>
                  <a:pt x="551730" y="462280"/>
                  <a:pt x="535134" y="462280"/>
                </a:cubicBezTo>
                <a:cubicBezTo>
                  <a:pt x="518537" y="462280"/>
                  <a:pt x="505082" y="454872"/>
                  <a:pt x="505082" y="445734"/>
                </a:cubicBezTo>
                <a:cubicBezTo>
                  <a:pt x="505082" y="436595"/>
                  <a:pt x="518537" y="429188"/>
                  <a:pt x="535134" y="429188"/>
                </a:cubicBezTo>
                <a:cubicBezTo>
                  <a:pt x="551723" y="429183"/>
                  <a:pt x="565176" y="436584"/>
                  <a:pt x="565186" y="445718"/>
                </a:cubicBezTo>
                <a:cubicBezTo>
                  <a:pt x="565186" y="445723"/>
                  <a:pt x="565186" y="445728"/>
                  <a:pt x="565186" y="445734"/>
                </a:cubicBezTo>
                <a:close/>
                <a:moveTo>
                  <a:pt x="818327" y="445734"/>
                </a:moveTo>
                <a:cubicBezTo>
                  <a:pt x="818327" y="454872"/>
                  <a:pt x="804873" y="462280"/>
                  <a:pt x="788276" y="462280"/>
                </a:cubicBezTo>
                <a:cubicBezTo>
                  <a:pt x="771678" y="462280"/>
                  <a:pt x="758224" y="454872"/>
                  <a:pt x="758224" y="445734"/>
                </a:cubicBezTo>
                <a:cubicBezTo>
                  <a:pt x="758224" y="436595"/>
                  <a:pt x="771678" y="429188"/>
                  <a:pt x="788276" y="429188"/>
                </a:cubicBezTo>
                <a:cubicBezTo>
                  <a:pt x="804866" y="429183"/>
                  <a:pt x="818318" y="436584"/>
                  <a:pt x="818327" y="445718"/>
                </a:cubicBezTo>
                <a:cubicBezTo>
                  <a:pt x="818327" y="445723"/>
                  <a:pt x="818327" y="445728"/>
                  <a:pt x="818327" y="445734"/>
                </a:cubicBezTo>
                <a:close/>
                <a:moveTo>
                  <a:pt x="1071469" y="445734"/>
                </a:moveTo>
                <a:cubicBezTo>
                  <a:pt x="1071469" y="454872"/>
                  <a:pt x="1058015" y="462280"/>
                  <a:pt x="1041418" y="462280"/>
                </a:cubicBezTo>
                <a:cubicBezTo>
                  <a:pt x="1024821" y="462280"/>
                  <a:pt x="1011366" y="454872"/>
                  <a:pt x="1011366" y="445734"/>
                </a:cubicBezTo>
                <a:cubicBezTo>
                  <a:pt x="1011366" y="436595"/>
                  <a:pt x="1024821" y="429188"/>
                  <a:pt x="1041418" y="429188"/>
                </a:cubicBezTo>
                <a:cubicBezTo>
                  <a:pt x="1058008" y="429183"/>
                  <a:pt x="1071461" y="436584"/>
                  <a:pt x="1071469" y="445718"/>
                </a:cubicBezTo>
                <a:cubicBezTo>
                  <a:pt x="1071469" y="445723"/>
                  <a:pt x="1071469" y="445728"/>
                  <a:pt x="1071469" y="445734"/>
                </a:cubicBezTo>
                <a:close/>
                <a:moveTo>
                  <a:pt x="1324610" y="445734"/>
                </a:moveTo>
                <a:cubicBezTo>
                  <a:pt x="1324610" y="454872"/>
                  <a:pt x="1311155" y="462280"/>
                  <a:pt x="1294558" y="462280"/>
                </a:cubicBezTo>
                <a:cubicBezTo>
                  <a:pt x="1277961" y="462280"/>
                  <a:pt x="1264506" y="454872"/>
                  <a:pt x="1264506" y="445734"/>
                </a:cubicBezTo>
                <a:cubicBezTo>
                  <a:pt x="1264506" y="436595"/>
                  <a:pt x="1277961" y="429188"/>
                  <a:pt x="1294558" y="429188"/>
                </a:cubicBezTo>
                <a:cubicBezTo>
                  <a:pt x="1311146" y="429198"/>
                  <a:pt x="1324591" y="436600"/>
                  <a:pt x="1324610" y="445734"/>
                </a:cubicBezTo>
                <a:close/>
              </a:path>
            </a:pathLst>
          </a:custGeom>
          <a:solidFill>
            <a:srgbClr val="FFFFFF"/>
          </a:solidFill>
        </p:spPr>
      </p:sp>
      <p:sp>
        <p:nvSpPr>
          <p:cNvPr id="7" name="Text 2"/>
          <p:cNvSpPr/>
          <p:nvPr/>
        </p:nvSpPr>
        <p:spPr>
          <a:xfrm>
            <a:off x="5096510" y="871220"/>
            <a:ext cx="1324610" cy="462280"/>
          </a:xfrm>
          <a:prstGeom prst="rect">
            <a:avLst/>
          </a:prstGeom>
          <a:noFill/>
        </p:spPr>
        <p:txBody>
          <a:bodyPr wrap="square" lIns="45720" tIns="91440" rIns="91440" bIns="45720" rtlCol="0" anchor="ctr"/>
          <a:lstStyle/>
          <a:p>
            <a:pPr>
              <a:lnSpc>
                <a:spcPct val="100000"/>
              </a:lnSpc>
            </a:pPr>
            <a:endParaRPr lang="en-US" sz="1600" dirty="0"/>
          </a:p>
        </p:txBody>
      </p:sp>
      <p:sp>
        <p:nvSpPr>
          <p:cNvPr id="8" name="Text 3"/>
          <p:cNvSpPr/>
          <p:nvPr/>
        </p:nvSpPr>
        <p:spPr>
          <a:xfrm>
            <a:off x="982799" y="5462724"/>
            <a:ext cx="2938201" cy="645517"/>
          </a:xfrm>
          <a:prstGeom prst="rect">
            <a:avLst/>
          </a:prstGeom>
          <a:noFill/>
        </p:spPr>
        <p:txBody>
          <a:bodyPr wrap="square" lIns="91440" tIns="45720" rIns="91440" bIns="45720" rtlCol="0" anchor="t"/>
          <a:lstStyle/>
          <a:p>
            <a:pPr algn="ctr">
              <a:lnSpc>
                <a:spcPct val="100000"/>
              </a:lnSpc>
            </a:pPr>
            <a:r>
              <a:rPr lang="en-US" sz="2000" b="1" dirty="0">
                <a:solidFill>
                  <a:srgbClr val="FFFFFF"/>
                </a:solidFill>
                <a:latin typeface="MiSans" panose="00000500000000000000" pitchFamily="34" charset="-122"/>
                <a:ea typeface="MiSans" panose="00000500000000000000" pitchFamily="34" charset="-122"/>
                <a:cs typeface="MiSans" panose="00000500000000000000" pitchFamily="34" charset="-120"/>
              </a:rPr>
              <a:t>汇报人：冯韵婷 鲍紫萱</a:t>
            </a:r>
            <a:endParaRPr lang="en-US" sz="1600" dirty="0"/>
          </a:p>
        </p:txBody>
      </p:sp>
      <p:sp>
        <p:nvSpPr>
          <p:cNvPr id="9" name="Text 4"/>
          <p:cNvSpPr/>
          <p:nvPr/>
        </p:nvSpPr>
        <p:spPr>
          <a:xfrm>
            <a:off x="7936865" y="5659755"/>
            <a:ext cx="3417570" cy="381635"/>
          </a:xfrm>
          <a:prstGeom prst="rect">
            <a:avLst/>
          </a:prstGeom>
          <a:noFill/>
        </p:spPr>
        <p:txBody>
          <a:bodyPr wrap="square" lIns="91440" tIns="45720" rIns="91440" bIns="45720" rtlCol="0" anchor="t"/>
          <a:lstStyle/>
          <a:p>
            <a:pPr algn="r">
              <a:lnSpc>
                <a:spcPct val="100000"/>
              </a:lnSpc>
            </a:pPr>
            <a:r>
              <a:rPr lang="en-US"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汇报时间：2025/12/</a:t>
            </a:r>
            <a:r>
              <a:rPr lang="en-US" altLang="zh-CN" sz="1800" b="1" dirty="0">
                <a:solidFill>
                  <a:srgbClr val="FFFFFF"/>
                </a:solidFill>
                <a:latin typeface="MiSans" panose="00000500000000000000" pitchFamily="34" charset="-122"/>
                <a:ea typeface="MiSans" panose="00000500000000000000" pitchFamily="34" charset="-122"/>
                <a:cs typeface="MiSans" panose="00000500000000000000" pitchFamily="34" charset="-120"/>
              </a:rPr>
              <a:t>23</a:t>
            </a:r>
            <a:endParaRPr lang="en-US" sz="1600" dirty="0"/>
          </a:p>
        </p:txBody>
      </p:sp>
      <p:sp>
        <p:nvSpPr>
          <p:cNvPr id="10" name="Shape 5"/>
          <p:cNvSpPr/>
          <p:nvPr/>
        </p:nvSpPr>
        <p:spPr>
          <a:xfrm>
            <a:off x="957050" y="987713"/>
            <a:ext cx="878810" cy="279259"/>
          </a:xfrm>
          <a:custGeom>
            <a:avLst/>
            <a:gdLst/>
            <a:ahLst/>
            <a:cxnLst/>
            <a:rect l="l" t="t" r="r" b="b"/>
            <a:pathLst>
              <a:path w="878810" h="279259">
                <a:moveTo>
                  <a:pt x="192859" y="139265"/>
                </a:moveTo>
                <a:lnTo>
                  <a:pt x="54326" y="-101"/>
                </a:lnTo>
                <a:lnTo>
                  <a:pt x="-976" y="55587"/>
                </a:lnTo>
                <a:lnTo>
                  <a:pt x="43352" y="100198"/>
                </a:lnTo>
                <a:lnTo>
                  <a:pt x="78533" y="139582"/>
                </a:lnTo>
                <a:lnTo>
                  <a:pt x="43352" y="178953"/>
                </a:lnTo>
                <a:lnTo>
                  <a:pt x="-976" y="223565"/>
                </a:lnTo>
                <a:lnTo>
                  <a:pt x="54326" y="279259"/>
                </a:lnTo>
                <a:lnTo>
                  <a:pt x="192859" y="139893"/>
                </a:lnTo>
                <a:lnTo>
                  <a:pt x="192553" y="139576"/>
                </a:lnTo>
                <a:close/>
                <a:moveTo>
                  <a:pt x="421509" y="139265"/>
                </a:moveTo>
                <a:lnTo>
                  <a:pt x="282977" y="-101"/>
                </a:lnTo>
                <a:lnTo>
                  <a:pt x="227674" y="55587"/>
                </a:lnTo>
                <a:lnTo>
                  <a:pt x="272002" y="100198"/>
                </a:lnTo>
                <a:lnTo>
                  <a:pt x="307123" y="139582"/>
                </a:lnTo>
                <a:lnTo>
                  <a:pt x="272002" y="178953"/>
                </a:lnTo>
                <a:lnTo>
                  <a:pt x="227674" y="223565"/>
                </a:lnTo>
                <a:lnTo>
                  <a:pt x="282977" y="279259"/>
                </a:lnTo>
                <a:lnTo>
                  <a:pt x="421509" y="139893"/>
                </a:lnTo>
                <a:lnTo>
                  <a:pt x="421204" y="139576"/>
                </a:lnTo>
                <a:close/>
                <a:moveTo>
                  <a:pt x="650160" y="139265"/>
                </a:moveTo>
                <a:lnTo>
                  <a:pt x="511627" y="-101"/>
                </a:lnTo>
                <a:lnTo>
                  <a:pt x="456264" y="55587"/>
                </a:lnTo>
                <a:lnTo>
                  <a:pt x="500653" y="100198"/>
                </a:lnTo>
                <a:lnTo>
                  <a:pt x="535774" y="139582"/>
                </a:lnTo>
                <a:lnTo>
                  <a:pt x="500653" y="178953"/>
                </a:lnTo>
                <a:lnTo>
                  <a:pt x="456264" y="223565"/>
                </a:lnTo>
                <a:lnTo>
                  <a:pt x="511627" y="279259"/>
                </a:lnTo>
                <a:lnTo>
                  <a:pt x="650160" y="139893"/>
                </a:lnTo>
                <a:lnTo>
                  <a:pt x="649854" y="139576"/>
                </a:lnTo>
                <a:close/>
                <a:moveTo>
                  <a:pt x="878810" y="139265"/>
                </a:moveTo>
                <a:lnTo>
                  <a:pt x="740277" y="-101"/>
                </a:lnTo>
                <a:lnTo>
                  <a:pt x="684914" y="55587"/>
                </a:lnTo>
                <a:lnTo>
                  <a:pt x="729242" y="100198"/>
                </a:lnTo>
                <a:lnTo>
                  <a:pt x="764423" y="139582"/>
                </a:lnTo>
                <a:lnTo>
                  <a:pt x="729242" y="178953"/>
                </a:lnTo>
                <a:lnTo>
                  <a:pt x="684914" y="223565"/>
                </a:lnTo>
                <a:lnTo>
                  <a:pt x="740277" y="279259"/>
                </a:lnTo>
                <a:lnTo>
                  <a:pt x="878810" y="139893"/>
                </a:lnTo>
                <a:lnTo>
                  <a:pt x="878444" y="139576"/>
                </a:lnTo>
                <a:close/>
              </a:path>
            </a:pathLst>
          </a:custGeom>
          <a:solidFill>
            <a:srgbClr val="2142EF"/>
          </a:solidFill>
        </p:spPr>
      </p:sp>
      <p:sp>
        <p:nvSpPr>
          <p:cNvPr id="11" name="Text 6"/>
          <p:cNvSpPr/>
          <p:nvPr/>
        </p:nvSpPr>
        <p:spPr>
          <a:xfrm>
            <a:off x="957050" y="987713"/>
            <a:ext cx="878810" cy="279259"/>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7"/>
          <p:cNvSpPr/>
          <p:nvPr/>
        </p:nvSpPr>
        <p:spPr>
          <a:xfrm>
            <a:off x="10444145" y="2935569"/>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3" name="Text 8"/>
          <p:cNvSpPr/>
          <p:nvPr/>
        </p:nvSpPr>
        <p:spPr>
          <a:xfrm>
            <a:off x="10444145" y="2935569"/>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9"/>
          <p:cNvSpPr/>
          <p:nvPr/>
        </p:nvSpPr>
        <p:spPr>
          <a:xfrm rot="5400000">
            <a:off x="2578142" y="2275815"/>
            <a:ext cx="6090" cy="3248474"/>
          </a:xfrm>
          <a:custGeom>
            <a:avLst/>
            <a:gdLst/>
            <a:ahLst/>
            <a:cxnLst/>
            <a:rect l="l" t="t" r="r" b="b"/>
            <a:pathLst>
              <a:path w="6090" h="3248474">
                <a:moveTo>
                  <a:pt x="6090" y="-1437"/>
                </a:moveTo>
                <a:lnTo>
                  <a:pt x="6090" y="3248474"/>
                </a:lnTo>
              </a:path>
            </a:pathLst>
          </a:custGeom>
          <a:solidFill>
            <a:srgbClr val="000000">
              <a:alpha val="0"/>
            </a:srgbClr>
          </a:solidFill>
          <a:ln w="12700">
            <a:solidFill>
              <a:srgbClr val="000000"/>
            </a:solidFill>
            <a:prstDash val="solid"/>
          </a:ln>
        </p:spPr>
      </p:sp>
      <p:sp>
        <p:nvSpPr>
          <p:cNvPr id="15" name="Text 10"/>
          <p:cNvSpPr/>
          <p:nvPr/>
        </p:nvSpPr>
        <p:spPr>
          <a:xfrm rot="5400000">
            <a:off x="2578142" y="2275815"/>
            <a:ext cx="6090" cy="3248474"/>
          </a:xfrm>
          <a:prstGeom prst="rect">
            <a:avLst/>
          </a:prstGeom>
          <a:noFill/>
        </p:spPr>
        <p:txBody>
          <a:bodyPr wrap="square" lIns="45720" tIns="91440" rIns="91440" bIns="45720" rtlCol="0" anchor="ctr"/>
          <a:lstStyle/>
          <a:p>
            <a:pPr>
              <a:lnSpc>
                <a:spcPct val="100000"/>
              </a:lnSpc>
            </a:pPr>
            <a:endParaRPr 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375" r="1375"/>
          <a:stretch>
            <a:fillRect/>
          </a:stretch>
        </p:blipFill>
        <p:spPr>
          <a:xfrm>
            <a:off x="0" y="0"/>
            <a:ext cx="12192635" cy="6857365"/>
          </a:xfrm>
          <a:prstGeom prst="rect">
            <a:avLst/>
          </a:prstGeom>
        </p:spPr>
      </p:pic>
      <p:pic>
        <p:nvPicPr>
          <p:cNvPr id="3" name="Image 1" descr="https://kimi-img.moonshot.cn/pub/slides/slides_tmpl/image/25-10-11-20:17:33-d3l4ln8s8jdo4os5enrg.png"/>
          <p:cNvPicPr>
            <a:picLocks noChangeAspect="1"/>
          </p:cNvPicPr>
          <p:nvPr/>
        </p:nvPicPr>
        <p:blipFill>
          <a:blip r:embed="rId3"/>
          <a:stretch>
            <a:fillRect/>
          </a:stretch>
        </p:blipFill>
        <p:spPr>
          <a:xfrm>
            <a:off x="4422140" y="5285105"/>
            <a:ext cx="7425055" cy="1572895"/>
          </a:xfrm>
          <a:prstGeom prst="rect">
            <a:avLst/>
          </a:prstGeom>
        </p:spPr>
      </p:pic>
      <p:sp>
        <p:nvSpPr>
          <p:cNvPr id="4" name="Text 0"/>
          <p:cNvSpPr/>
          <p:nvPr/>
        </p:nvSpPr>
        <p:spPr>
          <a:xfrm>
            <a:off x="715010" y="1210945"/>
            <a:ext cx="2138680" cy="613767"/>
          </a:xfrm>
          <a:prstGeom prst="rect">
            <a:avLst/>
          </a:prstGeom>
          <a:noFill/>
        </p:spPr>
        <p:txBody>
          <a:bodyPr wrap="square" lIns="91440" tIns="45720" rIns="91440" bIns="45720" rtlCol="0" anchor="t">
            <a:spAutoFit/>
          </a:bodyPr>
          <a:lstStyle/>
          <a:p>
            <a:pPr>
              <a:lnSpc>
                <a:spcPct val="100000"/>
              </a:lnSpc>
            </a:pPr>
            <a:r>
              <a:rPr lang="en-US" sz="4000" b="1" dirty="0">
                <a:solidFill>
                  <a:srgbClr val="000000"/>
                </a:solidFill>
                <a:latin typeface="MiSans" panose="00000500000000000000" pitchFamily="34" charset="-122"/>
                <a:ea typeface="MiSans" panose="00000500000000000000" pitchFamily="34" charset="-122"/>
                <a:cs typeface="MiSans" panose="00000500000000000000" pitchFamily="34" charset="-120"/>
              </a:rPr>
              <a:t>目 录</a:t>
            </a:r>
            <a:endParaRPr lang="en-US" sz="1600" dirty="0"/>
          </a:p>
        </p:txBody>
      </p:sp>
      <p:sp>
        <p:nvSpPr>
          <p:cNvPr id="5" name="Text 1"/>
          <p:cNvSpPr/>
          <p:nvPr/>
        </p:nvSpPr>
        <p:spPr>
          <a:xfrm>
            <a:off x="815340" y="682625"/>
            <a:ext cx="3825240" cy="683617"/>
          </a:xfrm>
          <a:prstGeom prst="rect">
            <a:avLst/>
          </a:prstGeom>
          <a:noFill/>
        </p:spPr>
        <p:txBody>
          <a:bodyPr wrap="square" lIns="0" tIns="0" rIns="0" bIns="0" rtlCol="0" anchor="t">
            <a:spAutoFit/>
          </a:bodyPr>
          <a:lstStyle/>
          <a:p>
            <a:pPr>
              <a:lnSpc>
                <a:spcPct val="100000"/>
              </a:lnSpc>
            </a:pPr>
            <a:r>
              <a:rPr lang="en-US" sz="4400" kern="0" spc="300" dirty="0">
                <a:solidFill>
                  <a:srgbClr val="000000"/>
                </a:solidFill>
                <a:latin typeface="MiSans" panose="00000500000000000000" pitchFamily="34" charset="-122"/>
                <a:ea typeface="MiSans" panose="00000500000000000000" pitchFamily="34" charset="-122"/>
                <a:cs typeface="MiSans" panose="00000500000000000000" pitchFamily="34" charset="-120"/>
              </a:rPr>
              <a:t>CONTENTS</a:t>
            </a:r>
            <a:endParaRPr lang="en-US" sz="1600" dirty="0"/>
          </a:p>
        </p:txBody>
      </p:sp>
      <p:pic>
        <p:nvPicPr>
          <p:cNvPr id="6" name="Image 2" descr="https://kimi-img.moonshot.cn/pub/slides/slides_tmpl/image/25-10-11-20:17:33-d3l4ln8s8jdo4os5enug.png"/>
          <p:cNvPicPr>
            <a:picLocks noChangeAspect="1"/>
          </p:cNvPicPr>
          <p:nvPr/>
        </p:nvPicPr>
        <p:blipFill>
          <a:blip r:embed="rId4"/>
          <a:srcRect t="-2400" b="-1006"/>
          <a:stretch>
            <a:fillRect/>
          </a:stretch>
        </p:blipFill>
        <p:spPr>
          <a:xfrm>
            <a:off x="990600" y="2487295"/>
            <a:ext cx="819150" cy="847725"/>
          </a:xfrm>
          <a:prstGeom prst="rect">
            <a:avLst/>
          </a:prstGeom>
        </p:spPr>
      </p:pic>
      <p:pic>
        <p:nvPicPr>
          <p:cNvPr id="7" name="Image 3" descr="https://kimi-img.moonshot.cn/pub/slides/slides_tmpl/image/25-10-11-20:17:33-d3l4ln8s8jdo4os5enug.png"/>
          <p:cNvPicPr>
            <a:picLocks noChangeAspect="1"/>
          </p:cNvPicPr>
          <p:nvPr/>
        </p:nvPicPr>
        <p:blipFill>
          <a:blip r:embed="rId4"/>
          <a:srcRect t="-2400" b="-1006"/>
          <a:stretch>
            <a:fillRect/>
          </a:stretch>
        </p:blipFill>
        <p:spPr>
          <a:xfrm>
            <a:off x="6433820" y="2487295"/>
            <a:ext cx="819150" cy="847725"/>
          </a:xfrm>
          <a:prstGeom prst="rect">
            <a:avLst/>
          </a:prstGeom>
        </p:spPr>
      </p:pic>
      <p:pic>
        <p:nvPicPr>
          <p:cNvPr id="8" name="Image 4" descr="https://kimi-img.moonshot.cn/pub/slides/slides_tmpl/image/25-10-11-20:17:33-d3l4ln8s8jdo4os5enug.png"/>
          <p:cNvPicPr>
            <a:picLocks noChangeAspect="1"/>
          </p:cNvPicPr>
          <p:nvPr/>
        </p:nvPicPr>
        <p:blipFill>
          <a:blip r:embed="rId4"/>
          <a:srcRect t="-6816" b="-5886"/>
          <a:stretch>
            <a:fillRect/>
          </a:stretch>
        </p:blipFill>
        <p:spPr>
          <a:xfrm>
            <a:off x="990600" y="3647440"/>
            <a:ext cx="819150" cy="923925"/>
          </a:xfrm>
          <a:prstGeom prst="rect">
            <a:avLst/>
          </a:prstGeom>
        </p:spPr>
      </p:pic>
      <p:pic>
        <p:nvPicPr>
          <p:cNvPr id="9" name="Image 5" descr="https://kimi-img.moonshot.cn/pub/slides/slides_tmpl/image/25-10-11-20:17:33-d3l4ln8s8jdo4os5enug.png"/>
          <p:cNvPicPr>
            <a:picLocks noChangeAspect="1"/>
          </p:cNvPicPr>
          <p:nvPr/>
        </p:nvPicPr>
        <p:blipFill>
          <a:blip r:embed="rId4"/>
          <a:srcRect l="-5116" t="-8287" b="-6971"/>
          <a:stretch>
            <a:fillRect/>
          </a:stretch>
        </p:blipFill>
        <p:spPr>
          <a:xfrm>
            <a:off x="6391910" y="3646170"/>
            <a:ext cx="861060" cy="944880"/>
          </a:xfrm>
          <a:prstGeom prst="rect">
            <a:avLst/>
          </a:prstGeom>
        </p:spPr>
      </p:pic>
      <p:pic>
        <p:nvPicPr>
          <p:cNvPr id="10" name="Image 6" descr="https://kimi-img.moonshot.cn/pub/slides/slides_tmpl/image/25-10-11-20:17:33-d3l4ln8s8jdo4os5enug.png"/>
          <p:cNvPicPr>
            <a:picLocks noChangeAspect="1"/>
          </p:cNvPicPr>
          <p:nvPr/>
        </p:nvPicPr>
        <p:blipFill>
          <a:blip r:embed="rId4"/>
          <a:srcRect t="-3407" b="-3175"/>
          <a:stretch>
            <a:fillRect/>
          </a:stretch>
        </p:blipFill>
        <p:spPr>
          <a:xfrm>
            <a:off x="990600" y="4883785"/>
            <a:ext cx="819150" cy="873760"/>
          </a:xfrm>
          <a:prstGeom prst="rect">
            <a:avLst/>
          </a:prstGeom>
        </p:spPr>
      </p:pic>
      <p:sp>
        <p:nvSpPr>
          <p:cNvPr id="11" name="Shape 2"/>
          <p:cNvSpPr/>
          <p:nvPr/>
        </p:nvSpPr>
        <p:spPr>
          <a:xfrm>
            <a:off x="4719620" y="682589"/>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3"/>
          <p:cNvSpPr/>
          <p:nvPr/>
        </p:nvSpPr>
        <p:spPr>
          <a:xfrm>
            <a:off x="4719620" y="682589"/>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3" name="Shape 4"/>
          <p:cNvSpPr/>
          <p:nvPr/>
        </p:nvSpPr>
        <p:spPr>
          <a:xfrm flipH="1">
            <a:off x="10238845" y="931833"/>
            <a:ext cx="878810" cy="279259"/>
          </a:xfrm>
          <a:custGeom>
            <a:avLst/>
            <a:gdLst/>
            <a:ahLst/>
            <a:cxnLst/>
            <a:rect l="l" t="t" r="r" b="b"/>
            <a:pathLst>
              <a:path w="878810" h="279259">
                <a:moveTo>
                  <a:pt x="192859" y="139265"/>
                </a:moveTo>
                <a:lnTo>
                  <a:pt x="54326" y="-101"/>
                </a:lnTo>
                <a:lnTo>
                  <a:pt x="-976" y="55587"/>
                </a:lnTo>
                <a:lnTo>
                  <a:pt x="43352" y="100198"/>
                </a:lnTo>
                <a:lnTo>
                  <a:pt x="78533" y="139582"/>
                </a:lnTo>
                <a:lnTo>
                  <a:pt x="43352" y="178953"/>
                </a:lnTo>
                <a:lnTo>
                  <a:pt x="-976" y="223565"/>
                </a:lnTo>
                <a:lnTo>
                  <a:pt x="54326" y="279259"/>
                </a:lnTo>
                <a:lnTo>
                  <a:pt x="192859" y="139893"/>
                </a:lnTo>
                <a:lnTo>
                  <a:pt x="192553" y="139576"/>
                </a:lnTo>
                <a:close/>
                <a:moveTo>
                  <a:pt x="421509" y="139265"/>
                </a:moveTo>
                <a:lnTo>
                  <a:pt x="282977" y="-101"/>
                </a:lnTo>
                <a:lnTo>
                  <a:pt x="227674" y="55587"/>
                </a:lnTo>
                <a:lnTo>
                  <a:pt x="272002" y="100198"/>
                </a:lnTo>
                <a:lnTo>
                  <a:pt x="307123" y="139582"/>
                </a:lnTo>
                <a:lnTo>
                  <a:pt x="272002" y="178953"/>
                </a:lnTo>
                <a:lnTo>
                  <a:pt x="227674" y="223565"/>
                </a:lnTo>
                <a:lnTo>
                  <a:pt x="282977" y="279259"/>
                </a:lnTo>
                <a:lnTo>
                  <a:pt x="421509" y="139893"/>
                </a:lnTo>
                <a:lnTo>
                  <a:pt x="421204" y="139576"/>
                </a:lnTo>
                <a:close/>
                <a:moveTo>
                  <a:pt x="650160" y="139265"/>
                </a:moveTo>
                <a:lnTo>
                  <a:pt x="511627" y="-101"/>
                </a:lnTo>
                <a:lnTo>
                  <a:pt x="456264" y="55587"/>
                </a:lnTo>
                <a:lnTo>
                  <a:pt x="500653" y="100198"/>
                </a:lnTo>
                <a:lnTo>
                  <a:pt x="535774" y="139582"/>
                </a:lnTo>
                <a:lnTo>
                  <a:pt x="500653" y="178953"/>
                </a:lnTo>
                <a:lnTo>
                  <a:pt x="456264" y="223565"/>
                </a:lnTo>
                <a:lnTo>
                  <a:pt x="511627" y="279259"/>
                </a:lnTo>
                <a:lnTo>
                  <a:pt x="650160" y="139893"/>
                </a:lnTo>
                <a:lnTo>
                  <a:pt x="649854" y="139576"/>
                </a:lnTo>
                <a:close/>
                <a:moveTo>
                  <a:pt x="878810" y="139265"/>
                </a:moveTo>
                <a:lnTo>
                  <a:pt x="740277" y="-101"/>
                </a:lnTo>
                <a:lnTo>
                  <a:pt x="684914" y="55587"/>
                </a:lnTo>
                <a:lnTo>
                  <a:pt x="729242" y="100198"/>
                </a:lnTo>
                <a:lnTo>
                  <a:pt x="764423" y="139582"/>
                </a:lnTo>
                <a:lnTo>
                  <a:pt x="729242" y="178953"/>
                </a:lnTo>
                <a:lnTo>
                  <a:pt x="684914" y="223565"/>
                </a:lnTo>
                <a:lnTo>
                  <a:pt x="740277" y="279259"/>
                </a:lnTo>
                <a:lnTo>
                  <a:pt x="878810" y="139893"/>
                </a:lnTo>
                <a:lnTo>
                  <a:pt x="878444" y="139576"/>
                </a:lnTo>
                <a:close/>
              </a:path>
            </a:pathLst>
          </a:custGeom>
          <a:solidFill>
            <a:srgbClr val="2142EF"/>
          </a:solidFill>
        </p:spPr>
      </p:sp>
      <p:sp>
        <p:nvSpPr>
          <p:cNvPr id="14" name="Text 5"/>
          <p:cNvSpPr/>
          <p:nvPr/>
        </p:nvSpPr>
        <p:spPr>
          <a:xfrm>
            <a:off x="10238845" y="931833"/>
            <a:ext cx="878810" cy="279259"/>
          </a:xfrm>
          <a:prstGeom prst="rect">
            <a:avLst/>
          </a:prstGeom>
          <a:noFill/>
        </p:spPr>
        <p:txBody>
          <a:bodyPr wrap="square" lIns="45720" tIns="91440" rIns="91440" bIns="45720" rtlCol="0" anchor="ctr"/>
          <a:lstStyle/>
          <a:p>
            <a:pPr>
              <a:lnSpc>
                <a:spcPct val="100000"/>
              </a:lnSpc>
            </a:pPr>
            <a:endParaRPr lang="en-US" sz="1600" dirty="0"/>
          </a:p>
        </p:txBody>
      </p:sp>
      <p:sp>
        <p:nvSpPr>
          <p:cNvPr id="15" name="Text 6"/>
          <p:cNvSpPr/>
          <p:nvPr/>
        </p:nvSpPr>
        <p:spPr>
          <a:xfrm>
            <a:off x="1154430" y="2701290"/>
            <a:ext cx="490855" cy="429617"/>
          </a:xfrm>
          <a:prstGeom prst="rect">
            <a:avLst/>
          </a:prstGeom>
          <a:noFill/>
        </p:spPr>
        <p:txBody>
          <a:bodyPr wrap="square" lIns="0" tIns="0" rIns="0" bIns="0" rtlCol="0" anchor="t">
            <a:spAutoFit/>
          </a:bodyPr>
          <a:lstStyle/>
          <a:p>
            <a:pPr algn="ctr">
              <a:lnSpc>
                <a:spcPct val="100000"/>
              </a:lnSpc>
            </a:pPr>
            <a:r>
              <a:rPr lang="en-US" sz="2800" dirty="0">
                <a:solidFill>
                  <a:srgbClr val="FFFFFF"/>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16" name="Text 7"/>
          <p:cNvSpPr/>
          <p:nvPr/>
        </p:nvSpPr>
        <p:spPr>
          <a:xfrm>
            <a:off x="1786573" y="2429510"/>
            <a:ext cx="4511040" cy="805180"/>
          </a:xfrm>
          <a:prstGeom prst="rect">
            <a:avLst/>
          </a:prstGeom>
          <a:noFill/>
        </p:spPr>
        <p:txBody>
          <a:bodyPr wrap="square" lIns="91440" tIns="45720" rIns="91440" bIns="45720" rtlCol="0" anchor="t"/>
          <a:lstStyle/>
          <a:p>
            <a:pPr>
              <a:lnSpc>
                <a:spcPct val="180000"/>
              </a:lnSpc>
            </a:pPr>
            <a:r>
              <a:rPr 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实验目标与系统架构</a:t>
            </a:r>
            <a:endParaRPr lang="en-US" sz="1600" dirty="0"/>
          </a:p>
        </p:txBody>
      </p:sp>
      <p:sp>
        <p:nvSpPr>
          <p:cNvPr id="17" name="Text 8"/>
          <p:cNvSpPr/>
          <p:nvPr/>
        </p:nvSpPr>
        <p:spPr>
          <a:xfrm>
            <a:off x="6597968" y="2701290"/>
            <a:ext cx="490855" cy="429617"/>
          </a:xfrm>
          <a:prstGeom prst="rect">
            <a:avLst/>
          </a:prstGeom>
          <a:noFill/>
        </p:spPr>
        <p:txBody>
          <a:bodyPr wrap="square" lIns="0" tIns="0" rIns="0" bIns="0" rtlCol="0" anchor="t">
            <a:spAutoFit/>
          </a:bodyPr>
          <a:lstStyle/>
          <a:p>
            <a:pPr algn="ctr">
              <a:lnSpc>
                <a:spcPct val="100000"/>
              </a:lnSpc>
            </a:pPr>
            <a:r>
              <a:rPr lang="en-US" sz="2800" dirty="0">
                <a:solidFill>
                  <a:srgbClr val="FFFFFF"/>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18" name="Text 9"/>
          <p:cNvSpPr/>
          <p:nvPr/>
        </p:nvSpPr>
        <p:spPr>
          <a:xfrm>
            <a:off x="7238048" y="2429510"/>
            <a:ext cx="4511040" cy="702945"/>
          </a:xfrm>
          <a:prstGeom prst="rect">
            <a:avLst/>
          </a:prstGeom>
          <a:noFill/>
        </p:spPr>
        <p:txBody>
          <a:bodyPr wrap="square" lIns="91440" tIns="45720" rIns="91440" bIns="45720" rtlCol="0" anchor="t"/>
          <a:lstStyle/>
          <a:p>
            <a:pPr>
              <a:lnSpc>
                <a:spcPct val="180000"/>
              </a:lnSpc>
            </a:pPr>
            <a:r>
              <a:rPr 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缓冲池管理器实现细节</a:t>
            </a:r>
            <a:endParaRPr lang="en-US" sz="1600" dirty="0"/>
          </a:p>
        </p:txBody>
      </p:sp>
      <p:sp>
        <p:nvSpPr>
          <p:cNvPr id="19" name="Text 10"/>
          <p:cNvSpPr/>
          <p:nvPr/>
        </p:nvSpPr>
        <p:spPr>
          <a:xfrm>
            <a:off x="1154430" y="3897313"/>
            <a:ext cx="490855" cy="429617"/>
          </a:xfrm>
          <a:prstGeom prst="rect">
            <a:avLst/>
          </a:prstGeom>
          <a:noFill/>
        </p:spPr>
        <p:txBody>
          <a:bodyPr wrap="square" lIns="0" tIns="0" rIns="0" bIns="0" rtlCol="0" anchor="t">
            <a:spAutoFit/>
          </a:bodyPr>
          <a:lstStyle/>
          <a:p>
            <a:pPr algn="ctr">
              <a:lnSpc>
                <a:spcPct val="100000"/>
              </a:lnSpc>
            </a:pPr>
            <a:r>
              <a:rPr lang="en-US" sz="2800" dirty="0">
                <a:solidFill>
                  <a:srgbClr val="FFFFFF"/>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
        <p:nvSpPr>
          <p:cNvPr id="20" name="Text 11"/>
          <p:cNvSpPr/>
          <p:nvPr/>
        </p:nvSpPr>
        <p:spPr>
          <a:xfrm>
            <a:off x="1777048" y="3646170"/>
            <a:ext cx="4511040" cy="702945"/>
          </a:xfrm>
          <a:prstGeom prst="rect">
            <a:avLst/>
          </a:prstGeom>
          <a:noFill/>
        </p:spPr>
        <p:txBody>
          <a:bodyPr wrap="square" lIns="91440" tIns="45720" rIns="91440" bIns="45720" rtlCol="0" anchor="t"/>
          <a:lstStyle/>
          <a:p>
            <a:pPr>
              <a:lnSpc>
                <a:spcPct val="180000"/>
              </a:lnSpc>
            </a:pPr>
            <a:r>
              <a:rPr 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B+树</a:t>
            </a:r>
            <a:r>
              <a:rPr lang="zh-CN" alt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实现细节</a:t>
            </a:r>
            <a:endParaRPr lang="en-US" sz="1600" dirty="0"/>
          </a:p>
        </p:txBody>
      </p:sp>
      <p:sp>
        <p:nvSpPr>
          <p:cNvPr id="21" name="Text 12"/>
          <p:cNvSpPr/>
          <p:nvPr/>
        </p:nvSpPr>
        <p:spPr>
          <a:xfrm>
            <a:off x="6597968" y="3908108"/>
            <a:ext cx="490855" cy="429617"/>
          </a:xfrm>
          <a:prstGeom prst="rect">
            <a:avLst/>
          </a:prstGeom>
          <a:noFill/>
        </p:spPr>
        <p:txBody>
          <a:bodyPr wrap="square" lIns="0" tIns="0" rIns="0" bIns="0" rtlCol="0" anchor="t">
            <a:spAutoFit/>
          </a:bodyPr>
          <a:lstStyle/>
          <a:p>
            <a:pPr algn="ctr">
              <a:lnSpc>
                <a:spcPct val="100000"/>
              </a:lnSpc>
            </a:pPr>
            <a:r>
              <a:rPr lang="en-US" sz="2800" dirty="0">
                <a:solidFill>
                  <a:srgbClr val="FFFFFF"/>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
        <p:nvSpPr>
          <p:cNvPr id="22" name="Text 13"/>
          <p:cNvSpPr/>
          <p:nvPr/>
        </p:nvSpPr>
        <p:spPr>
          <a:xfrm>
            <a:off x="7212965" y="3783965"/>
            <a:ext cx="4511040" cy="544195"/>
          </a:xfrm>
          <a:prstGeom prst="rect">
            <a:avLst/>
          </a:prstGeom>
          <a:noFill/>
        </p:spPr>
        <p:txBody>
          <a:bodyPr wrap="square" lIns="91440" tIns="45720" rIns="91440" bIns="45720" rtlCol="0" anchor="t"/>
          <a:lstStyle/>
          <a:p>
            <a:pPr>
              <a:lnSpc>
                <a:spcPct val="130000"/>
              </a:lnSpc>
            </a:pPr>
            <a:r>
              <a:rPr lang="zh-CN" alt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测试结果</a:t>
            </a:r>
            <a:endParaRPr lang="zh-CN" alt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
        <p:nvSpPr>
          <p:cNvPr id="23" name="Text 14"/>
          <p:cNvSpPr/>
          <p:nvPr/>
        </p:nvSpPr>
        <p:spPr>
          <a:xfrm>
            <a:off x="1154430" y="5105718"/>
            <a:ext cx="490855" cy="429617"/>
          </a:xfrm>
          <a:prstGeom prst="rect">
            <a:avLst/>
          </a:prstGeom>
          <a:noFill/>
        </p:spPr>
        <p:txBody>
          <a:bodyPr wrap="square" lIns="0" tIns="0" rIns="0" bIns="0" rtlCol="0" anchor="t">
            <a:spAutoFit/>
          </a:bodyPr>
          <a:lstStyle/>
          <a:p>
            <a:pPr algn="ctr">
              <a:lnSpc>
                <a:spcPct val="100000"/>
              </a:lnSpc>
            </a:pPr>
            <a:r>
              <a:rPr lang="en-US" sz="2800" dirty="0">
                <a:solidFill>
                  <a:srgbClr val="FFFFFF"/>
                </a:solidFill>
                <a:latin typeface="MiSans" panose="00000500000000000000" pitchFamily="34" charset="-122"/>
                <a:ea typeface="MiSans" panose="00000500000000000000" pitchFamily="34" charset="-122"/>
                <a:cs typeface="MiSans" panose="00000500000000000000" pitchFamily="34" charset="-120"/>
              </a:rPr>
              <a:t>05</a:t>
            </a:r>
            <a:endParaRPr lang="en-US" sz="1600" dirty="0"/>
          </a:p>
        </p:txBody>
      </p:sp>
      <p:sp>
        <p:nvSpPr>
          <p:cNvPr id="24" name="Text 15"/>
          <p:cNvSpPr/>
          <p:nvPr/>
        </p:nvSpPr>
        <p:spPr>
          <a:xfrm>
            <a:off x="1786573" y="4906010"/>
            <a:ext cx="3327802" cy="702945"/>
          </a:xfrm>
          <a:prstGeom prst="rect">
            <a:avLst/>
          </a:prstGeom>
          <a:noFill/>
        </p:spPr>
        <p:txBody>
          <a:bodyPr wrap="square" lIns="91440" tIns="45720" rIns="91440" bIns="45720" rtlCol="0" anchor="t"/>
          <a:lstStyle/>
          <a:p>
            <a:pPr>
              <a:lnSpc>
                <a:spcPct val="160000"/>
              </a:lnSpc>
            </a:pPr>
            <a:r>
              <a:rPr lang="zh-CN" alt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rPr>
              <a:t>附页</a:t>
            </a:r>
            <a:endParaRPr lang="zh-CN" altLang="en-US" sz="2400" dirty="0">
              <a:solidFill>
                <a:srgbClr val="000000"/>
              </a:solidFill>
              <a:latin typeface="MiSans" panose="00000500000000000000" pitchFamily="34" charset="-122"/>
              <a:ea typeface="MiSans" panose="00000500000000000000" pitchFamily="34" charset="-122"/>
              <a:cs typeface="MiSans" panose="00000500000000000000" pitchFamily="34" charset="-12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sp>
        <p:nvSpPr>
          <p:cNvPr id="3" name="Text 0"/>
          <p:cNvSpPr/>
          <p:nvPr/>
        </p:nvSpPr>
        <p:spPr>
          <a:xfrm>
            <a:off x="1358900" y="3599180"/>
            <a:ext cx="9475470" cy="688340"/>
          </a:xfrm>
          <a:prstGeom prst="rect">
            <a:avLst/>
          </a:prstGeom>
          <a:noFill/>
        </p:spPr>
        <p:txBody>
          <a:bodyPr wrap="square" lIns="91440" tIns="45720" rIns="91440" bIns="45720" rtlCol="0" anchor="t"/>
          <a:lstStyle/>
          <a:p>
            <a:pPr algn="ctr">
              <a:lnSpc>
                <a:spcPct val="110000"/>
              </a:lnSpc>
            </a:pPr>
            <a:r>
              <a:rPr lang="en-US" sz="3200" dirty="0">
                <a:solidFill>
                  <a:srgbClr val="000000"/>
                </a:solidFill>
                <a:latin typeface="MiSans" panose="00000500000000000000" pitchFamily="34" charset="-122"/>
                <a:ea typeface="MiSans" panose="00000500000000000000" pitchFamily="34" charset="-122"/>
                <a:cs typeface="MiSans" panose="00000500000000000000" pitchFamily="34" charset="-120"/>
              </a:rPr>
              <a:t>实验目标与系统架构</a:t>
            </a:r>
            <a:endParaRPr lang="en-US" sz="1600" dirty="0"/>
          </a:p>
        </p:txBody>
      </p:sp>
      <p:sp>
        <p:nvSpPr>
          <p:cNvPr id="4" name="Text 1"/>
          <p:cNvSpPr/>
          <p:nvPr/>
        </p:nvSpPr>
        <p:spPr>
          <a:xfrm>
            <a:off x="4684395" y="216535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2142EF"/>
                </a:solidFill>
                <a:latin typeface="MiSans" panose="00000500000000000000" pitchFamily="34" charset="-122"/>
                <a:ea typeface="MiSans" panose="00000500000000000000" pitchFamily="34" charset="-122"/>
                <a:cs typeface="MiSans" panose="00000500000000000000" pitchFamily="34" charset="-120"/>
              </a:rPr>
              <a:t>01</a:t>
            </a:r>
            <a:endParaRPr lang="en-US" sz="1600" dirty="0"/>
          </a:p>
        </p:txBody>
      </p:sp>
      <p:sp>
        <p:nvSpPr>
          <p:cNvPr id="5" name="Shape 2"/>
          <p:cNvSpPr/>
          <p:nvPr/>
        </p:nvSpPr>
        <p:spPr>
          <a:xfrm>
            <a:off x="3863975"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6" name="Text 3"/>
          <p:cNvSpPr/>
          <p:nvPr/>
        </p:nvSpPr>
        <p:spPr>
          <a:xfrm>
            <a:off x="3863975"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flipH="1">
            <a:off x="6957060"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8" name="Text 5"/>
          <p:cNvSpPr/>
          <p:nvPr/>
        </p:nvSpPr>
        <p:spPr>
          <a:xfrm>
            <a:off x="6957060"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690545" y="208276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0" name="Text 7"/>
          <p:cNvSpPr/>
          <p:nvPr/>
        </p:nvSpPr>
        <p:spPr>
          <a:xfrm>
            <a:off x="690545" y="208276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10703860" y="391664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9"/>
          <p:cNvSpPr/>
          <p:nvPr/>
        </p:nvSpPr>
        <p:spPr>
          <a:xfrm>
            <a:off x="10703860" y="391664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3" name="Image 1" descr="https://kimi-img.moonshot.cn/pub/slides/slides_tmpl/image/25-10-11-20:17:34-d3l4lngs8jdo4os5envg.png"/>
          <p:cNvPicPr>
            <a:picLocks noChangeAspect="1"/>
          </p:cNvPicPr>
          <p:nvPr/>
        </p:nvPicPr>
        <p:blipFill>
          <a:blip r:embed="rId3"/>
          <a:stretch>
            <a:fillRect/>
          </a:stretch>
        </p:blipFill>
        <p:spPr>
          <a:xfrm>
            <a:off x="6602095" y="4456430"/>
            <a:ext cx="5589905" cy="2401570"/>
          </a:xfrm>
          <a:prstGeom prst="rect">
            <a:avLst/>
          </a:prstGeom>
        </p:spPr>
      </p:pic>
      <p:pic>
        <p:nvPicPr>
          <p:cNvPr id="14" name="Image 2" descr="https://kimi-img.moonshot.cn/pub/slides/slides_tmpl/image/25-10-11-20:17:34-d3l4lngs8jdo4os5envg.png"/>
          <p:cNvPicPr>
            <a:picLocks noChangeAspect="1"/>
          </p:cNvPicPr>
          <p:nvPr/>
        </p:nvPicPr>
        <p:blipFill>
          <a:blip r:embed="rId3"/>
          <a:stretch>
            <a:fillRect/>
          </a:stretch>
        </p:blipFill>
        <p:spPr>
          <a:xfrm>
            <a:off x="0" y="-40005"/>
            <a:ext cx="558990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24130" y="-101282"/>
            <a:ext cx="12190730" cy="6857365"/>
          </a:xfrm>
          <a:prstGeom prst="rect">
            <a:avLst/>
          </a:prstGeom>
        </p:spPr>
      </p:pic>
      <p:sp>
        <p:nvSpPr>
          <p:cNvPr id="3" name="Text 0"/>
          <p:cNvSpPr/>
          <p:nvPr/>
        </p:nvSpPr>
        <p:spPr>
          <a:xfrm>
            <a:off x="254000" y="218414"/>
            <a:ext cx="11912600" cy="508000"/>
          </a:xfrm>
          <a:prstGeom prst="rect">
            <a:avLst/>
          </a:prstGeom>
          <a:noFill/>
        </p:spPr>
        <p:txBody>
          <a:bodyPr wrap="square" lIns="0" tIns="0" rIns="0" bIns="0" rtlCol="0" anchor="ctr"/>
          <a:lstStyle/>
          <a:p>
            <a:pPr>
              <a:lnSpc>
                <a:spcPct val="90000"/>
              </a:lnSpc>
            </a:pPr>
            <a:r>
              <a:rPr lang="en-US" sz="36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实验目标与系统架构</a:t>
            </a:r>
            <a:endParaRPr lang="en-US" sz="1600" dirty="0"/>
          </a:p>
        </p:txBody>
      </p:sp>
      <p:sp>
        <p:nvSpPr>
          <p:cNvPr id="4" name="Text 1"/>
          <p:cNvSpPr/>
          <p:nvPr/>
        </p:nvSpPr>
        <p:spPr>
          <a:xfrm>
            <a:off x="254000" y="828014"/>
            <a:ext cx="11798300" cy="355600"/>
          </a:xfrm>
          <a:prstGeom prst="rect">
            <a:avLst/>
          </a:prstGeom>
          <a:noFill/>
        </p:spPr>
        <p:txBody>
          <a:bodyPr wrap="square" lIns="0" tIns="0" rIns="0" bIns="0" rtlCol="0" anchor="ctr"/>
          <a:lstStyle/>
          <a:p>
            <a:pPr>
              <a:lnSpc>
                <a:spcPct val="130000"/>
              </a:lnSpc>
            </a:pPr>
            <a:r>
              <a:rPr lang="en-US" sz="18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实现数据库存储</a:t>
            </a:r>
            <a:r>
              <a:rPr lang="zh-CN" altLang="en-US" sz="18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层和缓存层</a:t>
            </a:r>
            <a:endParaRPr lang="en-US" sz="1600" dirty="0"/>
          </a:p>
        </p:txBody>
      </p:sp>
      <p:sp>
        <p:nvSpPr>
          <p:cNvPr id="5" name="Shape 2"/>
          <p:cNvSpPr/>
          <p:nvPr>
            <p:custDataLst>
              <p:tags r:id="rId2"/>
            </p:custDataLst>
          </p:nvPr>
        </p:nvSpPr>
        <p:spPr>
          <a:xfrm>
            <a:off x="254000" y="1981200"/>
            <a:ext cx="3759200" cy="1371600"/>
          </a:xfrm>
          <a:custGeom>
            <a:avLst/>
            <a:gdLst/>
            <a:ahLst/>
            <a:cxnLst/>
            <a:rect l="l" t="t" r="r" b="b"/>
            <a:pathLst>
              <a:path w="3759200" h="1371600">
                <a:moveTo>
                  <a:pt x="101594" y="0"/>
                </a:moveTo>
                <a:lnTo>
                  <a:pt x="3657606" y="0"/>
                </a:lnTo>
                <a:cubicBezTo>
                  <a:pt x="3713715" y="0"/>
                  <a:pt x="3759200" y="45485"/>
                  <a:pt x="3759200" y="101594"/>
                </a:cubicBezTo>
                <a:lnTo>
                  <a:pt x="3759200" y="1270006"/>
                </a:lnTo>
                <a:cubicBezTo>
                  <a:pt x="3759200" y="1326115"/>
                  <a:pt x="3713715" y="1371600"/>
                  <a:pt x="3657606" y="1371600"/>
                </a:cubicBezTo>
                <a:lnTo>
                  <a:pt x="101594" y="1371600"/>
                </a:lnTo>
                <a:cubicBezTo>
                  <a:pt x="45485" y="1371600"/>
                  <a:pt x="0" y="1326115"/>
                  <a:pt x="0" y="1270006"/>
                </a:cubicBezTo>
                <a:lnTo>
                  <a:pt x="0" y="101594"/>
                </a:lnTo>
                <a:cubicBezTo>
                  <a:pt x="0" y="45523"/>
                  <a:pt x="45523" y="0"/>
                  <a:pt x="101594" y="0"/>
                </a:cubicBezTo>
                <a:close/>
              </a:path>
            </a:pathLst>
          </a:custGeom>
          <a:solidFill>
            <a:srgbClr val="4A90E2">
              <a:alpha val="10196"/>
            </a:srgbClr>
          </a:solidFill>
        </p:spPr>
      </p:sp>
      <p:sp>
        <p:nvSpPr>
          <p:cNvPr id="6" name="Text 3"/>
          <p:cNvSpPr/>
          <p:nvPr>
            <p:custDataLst>
              <p:tags r:id="rId3"/>
            </p:custDataLst>
          </p:nvPr>
        </p:nvSpPr>
        <p:spPr>
          <a:xfrm>
            <a:off x="400050" y="2079338"/>
            <a:ext cx="3467100" cy="355600"/>
          </a:xfrm>
          <a:prstGeom prst="rect">
            <a:avLst/>
          </a:prstGeom>
          <a:noFill/>
        </p:spPr>
        <p:txBody>
          <a:bodyPr wrap="square" lIns="0" tIns="0" rIns="0" bIns="0" rtlCol="0" anchor="ctr"/>
          <a:lstStyle/>
          <a:p>
            <a:pPr>
              <a:lnSpc>
                <a:spcPct val="130000"/>
              </a:lnSpc>
            </a:pPr>
            <a:r>
              <a:rPr lang="en-US" sz="18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实验</a:t>
            </a:r>
            <a:r>
              <a:rPr lang="en-US" altLang="zh-CN" sz="18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1</a:t>
            </a:r>
            <a:r>
              <a:rPr lang="en-US" sz="18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目标</a:t>
            </a:r>
            <a:r>
              <a:rPr lang="zh-CN" altLang="en-US" sz="18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dirty="0"/>
          </a:p>
        </p:txBody>
      </p:sp>
      <p:sp>
        <p:nvSpPr>
          <p:cNvPr id="7" name="Text 4"/>
          <p:cNvSpPr/>
          <p:nvPr>
            <p:custDataLst>
              <p:tags r:id="rId4"/>
            </p:custDataLst>
          </p:nvPr>
        </p:nvSpPr>
        <p:spPr>
          <a:xfrm>
            <a:off x="400050" y="2506424"/>
            <a:ext cx="3441700" cy="651113"/>
          </a:xfrm>
          <a:prstGeom prst="rect">
            <a:avLst/>
          </a:prstGeom>
          <a:noFill/>
        </p:spPr>
        <p:txBody>
          <a:bodyPr wrap="square" lIns="0" tIns="0" rIns="0" bIns="0" rtlCol="0" anchor="ctr"/>
          <a:lstStyle/>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实现 </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数据库的</a:t>
            </a:r>
            <a:r>
              <a:rPr lang="zh-CN" alt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2"/>
              </a:rPr>
              <a:t>缓存管理器</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包括：可扩展哈希表，</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LRU-K</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替换器，缓冲池管理器</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Shape 5"/>
          <p:cNvSpPr/>
          <p:nvPr>
            <p:custDataLst>
              <p:tags r:id="rId5"/>
            </p:custDataLst>
          </p:nvPr>
        </p:nvSpPr>
        <p:spPr>
          <a:xfrm>
            <a:off x="254000" y="3657600"/>
            <a:ext cx="3759200" cy="1727200"/>
          </a:xfrm>
          <a:custGeom>
            <a:avLst/>
            <a:gdLst/>
            <a:ahLst/>
            <a:cxnLst/>
            <a:rect l="l" t="t" r="r" b="b"/>
            <a:pathLst>
              <a:path w="3759200" h="1727200">
                <a:moveTo>
                  <a:pt x="101594" y="0"/>
                </a:moveTo>
                <a:lnTo>
                  <a:pt x="3657606" y="0"/>
                </a:lnTo>
                <a:cubicBezTo>
                  <a:pt x="3713715" y="0"/>
                  <a:pt x="3759200" y="45485"/>
                  <a:pt x="3759200" y="101594"/>
                </a:cubicBezTo>
                <a:lnTo>
                  <a:pt x="3759200" y="1625606"/>
                </a:lnTo>
                <a:cubicBezTo>
                  <a:pt x="3759200" y="1681715"/>
                  <a:pt x="3713715" y="1727200"/>
                  <a:pt x="3657606" y="1727200"/>
                </a:cubicBezTo>
                <a:lnTo>
                  <a:pt x="101594" y="1727200"/>
                </a:lnTo>
                <a:cubicBezTo>
                  <a:pt x="45485" y="1727200"/>
                  <a:pt x="0" y="1681715"/>
                  <a:pt x="0" y="1625606"/>
                </a:cubicBezTo>
                <a:lnTo>
                  <a:pt x="0" y="101594"/>
                </a:lnTo>
                <a:cubicBezTo>
                  <a:pt x="0" y="45523"/>
                  <a:pt x="45523" y="0"/>
                  <a:pt x="101594" y="0"/>
                </a:cubicBezTo>
                <a:close/>
              </a:path>
            </a:pathLst>
          </a:custGeom>
          <a:solidFill>
            <a:srgbClr val="87CEEB">
              <a:alpha val="20000"/>
            </a:srgbClr>
          </a:solidFill>
        </p:spPr>
      </p:sp>
      <p:sp>
        <p:nvSpPr>
          <p:cNvPr id="9" name="Text 6"/>
          <p:cNvSpPr/>
          <p:nvPr>
            <p:custDataLst>
              <p:tags r:id="rId6"/>
            </p:custDataLst>
          </p:nvPr>
        </p:nvSpPr>
        <p:spPr>
          <a:xfrm>
            <a:off x="400050" y="3761714"/>
            <a:ext cx="3467100" cy="355600"/>
          </a:xfrm>
          <a:prstGeom prst="rect">
            <a:avLst/>
          </a:prstGeom>
          <a:noFill/>
        </p:spPr>
        <p:txBody>
          <a:bodyPr wrap="square" lIns="0" tIns="0" rIns="0" bIns="0" rtlCol="0" anchor="ctr"/>
          <a:lstStyle/>
          <a:p>
            <a:pPr>
              <a:lnSpc>
                <a:spcPct val="130000"/>
              </a:lnSpc>
            </a:pPr>
            <a:r>
              <a:rPr lang="en-US"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实验</a:t>
            </a:r>
            <a:r>
              <a:rPr lang="en-US" altLang="zh-CN"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2</a:t>
            </a:r>
            <a:r>
              <a:rPr lang="en-US"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目标</a:t>
            </a:r>
            <a:r>
              <a:rPr lang="zh-CN" altLang="en-US"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a:t>
            </a:r>
            <a:endParaRPr lang="en-US" sz="16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endParaRPr>
          </a:p>
        </p:txBody>
      </p:sp>
      <p:sp>
        <p:nvSpPr>
          <p:cNvPr id="10" name="Text 7"/>
          <p:cNvSpPr/>
          <p:nvPr>
            <p:custDataLst>
              <p:tags r:id="rId7"/>
            </p:custDataLst>
          </p:nvPr>
        </p:nvSpPr>
        <p:spPr>
          <a:xfrm>
            <a:off x="425450" y="4117340"/>
            <a:ext cx="3441700" cy="999173"/>
          </a:xfrm>
          <a:prstGeom prst="rect">
            <a:avLst/>
          </a:prstGeom>
          <a:noFill/>
        </p:spPr>
        <p:txBody>
          <a:bodyPr wrap="square" lIns="0" tIns="0" rIns="0" bIns="0" rtlCol="0" anchor="ctr"/>
          <a:lstStyle/>
          <a:p>
            <a:pPr algn="l">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实现 </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sym typeface="+mn-ea"/>
              </a:rPr>
              <a:t>数据库的</a:t>
            </a:r>
            <a:r>
              <a:rPr lang="zh-CN" alt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2"/>
                <a:sym typeface="+mn-ea"/>
              </a:rPr>
              <a:t>索引管理</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gn="l">
              <a:lnSpc>
                <a:spcPct val="12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sym typeface="+mn-ea"/>
              </a:rPr>
              <a:t>包括：</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内部页、叶子页、基类页的实现，</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B+</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树索引的插入、删除、点查找操作</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10"/>
          <p:cNvSpPr/>
          <p:nvPr/>
        </p:nvSpPr>
        <p:spPr>
          <a:xfrm>
            <a:off x="4240530" y="1183640"/>
            <a:ext cx="7697470" cy="5461000"/>
          </a:xfrm>
          <a:custGeom>
            <a:avLst/>
            <a:gdLst/>
            <a:ahLst/>
            <a:cxnLst/>
            <a:rect l="l" t="t" r="r" b="b"/>
            <a:pathLst>
              <a:path w="7518400" h="5156200">
                <a:moveTo>
                  <a:pt x="101577" y="0"/>
                </a:moveTo>
                <a:lnTo>
                  <a:pt x="7416823" y="0"/>
                </a:lnTo>
                <a:cubicBezTo>
                  <a:pt x="7472922" y="0"/>
                  <a:pt x="7518400" y="45478"/>
                  <a:pt x="7518400" y="101577"/>
                </a:cubicBezTo>
                <a:lnTo>
                  <a:pt x="7518400" y="5054623"/>
                </a:lnTo>
                <a:cubicBezTo>
                  <a:pt x="7518400" y="5110722"/>
                  <a:pt x="7472922" y="5156200"/>
                  <a:pt x="7416823" y="5156200"/>
                </a:cubicBezTo>
                <a:lnTo>
                  <a:pt x="101577" y="5156200"/>
                </a:lnTo>
                <a:cubicBezTo>
                  <a:pt x="45478" y="5156200"/>
                  <a:pt x="0" y="5110722"/>
                  <a:pt x="0" y="5054623"/>
                </a:cubicBezTo>
                <a:lnTo>
                  <a:pt x="0" y="101577"/>
                </a:lnTo>
                <a:cubicBezTo>
                  <a:pt x="0" y="45515"/>
                  <a:pt x="45515" y="0"/>
                  <a:pt x="101577" y="0"/>
                </a:cubicBezTo>
                <a:close/>
              </a:path>
            </a:pathLst>
          </a:custGeom>
          <a:solidFill>
            <a:srgbClr val="87CEEB">
              <a:alpha val="10196"/>
            </a:srgbClr>
          </a:solidFill>
        </p:spPr>
      </p:sp>
      <p:sp>
        <p:nvSpPr>
          <p:cNvPr id="15" name="圆角矩形 14"/>
          <p:cNvSpPr/>
          <p:nvPr/>
        </p:nvSpPr>
        <p:spPr>
          <a:xfrm>
            <a:off x="4241800" y="1285240"/>
            <a:ext cx="7386320" cy="485140"/>
          </a:xfrm>
          <a:prstGeom prst="roundRect">
            <a:avLst/>
          </a:prstGeom>
          <a:solidFill>
            <a:srgbClr val="D6E6F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rgbClr val="4A90E2"/>
                </a:solidFill>
                <a:latin typeface="Noto Sans SC Black" panose="020B0200000000000000" charset="-122"/>
                <a:ea typeface="Noto Sans SC Black" panose="020B0200000000000000" charset="-122"/>
                <a:cs typeface="Noto Sans SC Black" panose="020B0200000000000000" charset="-122"/>
              </a:rPr>
              <a:t> </a:t>
            </a:r>
            <a:r>
              <a:rPr lang="zh-CN" altLang="en-US">
                <a:solidFill>
                  <a:srgbClr val="4A90E2"/>
                </a:solidFill>
                <a:latin typeface="Noto Sans SC Black" panose="020B0200000000000000" charset="-122"/>
                <a:ea typeface="Noto Sans SC Black" panose="020B0200000000000000" charset="-122"/>
                <a:cs typeface="Noto Sans SC Black" panose="020B0200000000000000" charset="-122"/>
              </a:rPr>
              <a:t>系统架构</a:t>
            </a:r>
            <a:endParaRPr lang="zh-CN" altLang="en-US">
              <a:solidFill>
                <a:srgbClr val="4A90E2"/>
              </a:solidFill>
              <a:latin typeface="Noto Sans SC Black" panose="020B0200000000000000" charset="-122"/>
              <a:ea typeface="Noto Sans SC Black" panose="020B0200000000000000" charset="-122"/>
              <a:cs typeface="Noto Sans SC Black" panose="020B0200000000000000" charset="-122"/>
            </a:endParaRPr>
          </a:p>
        </p:txBody>
      </p:sp>
      <p:pic>
        <p:nvPicPr>
          <p:cNvPr id="12" name="图片 11" descr="post_object_image_3257855232"/>
          <p:cNvPicPr>
            <a:picLocks noChangeAspect="1"/>
          </p:cNvPicPr>
          <p:nvPr/>
        </p:nvPicPr>
        <p:blipFill>
          <a:blip r:embed="rId8"/>
          <a:stretch>
            <a:fillRect/>
          </a:stretch>
        </p:blipFill>
        <p:spPr>
          <a:xfrm>
            <a:off x="5096282" y="1981200"/>
            <a:ext cx="6200232" cy="4424952"/>
          </a:xfrm>
          <a:prstGeom prst="rect">
            <a:avLst/>
          </a:prstGeom>
        </p:spPr>
      </p:pic>
      <p:sp>
        <p:nvSpPr>
          <p:cNvPr id="16" name="左箭头 15"/>
          <p:cNvSpPr/>
          <p:nvPr userDrawn="1"/>
        </p:nvSpPr>
        <p:spPr>
          <a:xfrm>
            <a:off x="10678795" y="4508409"/>
            <a:ext cx="421912" cy="136736"/>
          </a:xfrm>
          <a:prstGeom prst="leftArrow">
            <a:avLst/>
          </a:prstGeom>
          <a:solidFill>
            <a:srgbClr val="7B68EE">
              <a:alpha val="100000"/>
            </a:srgbClr>
          </a:solidFill>
          <a:ln>
            <a:solidFill>
              <a:schemeClr val="accent1">
                <a:lumMod val="50000"/>
                <a:alpha val="10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8" name="左箭头 17"/>
          <p:cNvSpPr/>
          <p:nvPr userDrawn="1"/>
        </p:nvSpPr>
        <p:spPr>
          <a:xfrm>
            <a:off x="10696938" y="4104730"/>
            <a:ext cx="421912" cy="136736"/>
          </a:xfrm>
          <a:prstGeom prst="leftArrow">
            <a:avLst/>
          </a:prstGeom>
          <a:solidFill>
            <a:srgbClr val="C3A4FC">
              <a:alpha val="100000"/>
            </a:srgbClr>
          </a:solidFill>
          <a:ln>
            <a:solidFill>
              <a:schemeClr val="accent1">
                <a:lumMod val="50000"/>
                <a:alpha val="10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sp>
        <p:nvSpPr>
          <p:cNvPr id="3" name="Text 0"/>
          <p:cNvSpPr/>
          <p:nvPr/>
        </p:nvSpPr>
        <p:spPr>
          <a:xfrm>
            <a:off x="1358900" y="3599180"/>
            <a:ext cx="9475470" cy="688340"/>
          </a:xfrm>
          <a:prstGeom prst="rect">
            <a:avLst/>
          </a:prstGeom>
          <a:noFill/>
        </p:spPr>
        <p:txBody>
          <a:bodyPr wrap="square" lIns="91440" tIns="45720" rIns="91440" bIns="45720" rtlCol="0" anchor="t"/>
          <a:lstStyle/>
          <a:p>
            <a:pPr algn="ctr">
              <a:lnSpc>
                <a:spcPct val="110000"/>
              </a:lnSpc>
            </a:pPr>
            <a:r>
              <a:rPr lang="en-US" sz="3200" dirty="0">
                <a:solidFill>
                  <a:srgbClr val="000000"/>
                </a:solidFill>
                <a:latin typeface="MiSans" panose="00000500000000000000" pitchFamily="34" charset="-122"/>
                <a:ea typeface="MiSans" panose="00000500000000000000" pitchFamily="34" charset="-122"/>
                <a:cs typeface="MiSans" panose="00000500000000000000" pitchFamily="34" charset="-120"/>
              </a:rPr>
              <a:t>缓冲池管理器实现细节</a:t>
            </a:r>
            <a:endParaRPr lang="en-US" sz="1600" dirty="0"/>
          </a:p>
        </p:txBody>
      </p:sp>
      <p:sp>
        <p:nvSpPr>
          <p:cNvPr id="4" name="Text 1"/>
          <p:cNvSpPr/>
          <p:nvPr/>
        </p:nvSpPr>
        <p:spPr>
          <a:xfrm>
            <a:off x="4684395" y="216535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2142EF"/>
                </a:solidFill>
                <a:latin typeface="MiSans" panose="00000500000000000000" pitchFamily="34" charset="-122"/>
                <a:ea typeface="MiSans" panose="00000500000000000000" pitchFamily="34" charset="-122"/>
                <a:cs typeface="MiSans" panose="00000500000000000000" pitchFamily="34" charset="-120"/>
              </a:rPr>
              <a:t>02</a:t>
            </a:r>
            <a:endParaRPr lang="en-US" sz="1600" dirty="0"/>
          </a:p>
        </p:txBody>
      </p:sp>
      <p:sp>
        <p:nvSpPr>
          <p:cNvPr id="5" name="Shape 2"/>
          <p:cNvSpPr/>
          <p:nvPr/>
        </p:nvSpPr>
        <p:spPr>
          <a:xfrm>
            <a:off x="3863975"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6" name="Text 3"/>
          <p:cNvSpPr/>
          <p:nvPr/>
        </p:nvSpPr>
        <p:spPr>
          <a:xfrm>
            <a:off x="3863975"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flipH="1">
            <a:off x="6957060"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8" name="Text 5"/>
          <p:cNvSpPr/>
          <p:nvPr/>
        </p:nvSpPr>
        <p:spPr>
          <a:xfrm>
            <a:off x="6957060"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690545" y="208276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0" name="Text 7"/>
          <p:cNvSpPr/>
          <p:nvPr/>
        </p:nvSpPr>
        <p:spPr>
          <a:xfrm>
            <a:off x="690545" y="208276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10703860" y="391664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9"/>
          <p:cNvSpPr/>
          <p:nvPr/>
        </p:nvSpPr>
        <p:spPr>
          <a:xfrm>
            <a:off x="10703860" y="391664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3" name="Image 1" descr="https://kimi-img.moonshot.cn/pub/slides/slides_tmpl/image/25-10-11-20:17:34-d3l4lngs8jdo4os5envg.png"/>
          <p:cNvPicPr>
            <a:picLocks noChangeAspect="1"/>
          </p:cNvPicPr>
          <p:nvPr/>
        </p:nvPicPr>
        <p:blipFill>
          <a:blip r:embed="rId3"/>
          <a:stretch>
            <a:fillRect/>
          </a:stretch>
        </p:blipFill>
        <p:spPr>
          <a:xfrm>
            <a:off x="6602095" y="4456430"/>
            <a:ext cx="5589905" cy="2401570"/>
          </a:xfrm>
          <a:prstGeom prst="rect">
            <a:avLst/>
          </a:prstGeom>
        </p:spPr>
      </p:pic>
      <p:pic>
        <p:nvPicPr>
          <p:cNvPr id="14" name="Image 2" descr="https://kimi-img.moonshot.cn/pub/slides/slides_tmpl/image/25-10-11-20:17:34-d3l4lngs8jdo4os5envg.png"/>
          <p:cNvPicPr>
            <a:picLocks noChangeAspect="1"/>
          </p:cNvPicPr>
          <p:nvPr/>
        </p:nvPicPr>
        <p:blipFill>
          <a:blip r:embed="rId3"/>
          <a:stretch>
            <a:fillRect/>
          </a:stretch>
        </p:blipFill>
        <p:spPr>
          <a:xfrm>
            <a:off x="0" y="-40005"/>
            <a:ext cx="558990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缓冲池管理器</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算法概念</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缓冲池管理器</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的特性</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345" y="914400"/>
            <a:ext cx="7658100" cy="214757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缓冲池管理器</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在数据库的扮演的角色</a:t>
            </a:r>
            <a:endParaRPr lang="en-US" sz="1600" dirty="0"/>
          </a:p>
        </p:txBody>
      </p:sp>
      <p:sp>
        <p:nvSpPr>
          <p:cNvPr id="11" name="Text 8"/>
          <p:cNvSpPr/>
          <p:nvPr/>
        </p:nvSpPr>
        <p:spPr>
          <a:xfrm>
            <a:off x="4487333" y="1574800"/>
            <a:ext cx="7340600" cy="1181100"/>
          </a:xfrm>
          <a:prstGeom prst="rect">
            <a:avLst/>
          </a:prstGeom>
          <a:noFill/>
        </p:spPr>
        <p:txBody>
          <a:bodyPr wrap="square" lIns="0" tIns="0" rIns="0" bIns="0" rtlCol="0" anchor="ctr"/>
          <a:lstStyle/>
          <a:p>
            <a:pPr indent="0">
              <a:lnSpc>
                <a:spcPct val="120000"/>
              </a:lnSpc>
              <a:spcBef>
                <a:spcPts val="10"/>
              </a:spcBef>
              <a:buSzPct val="100000"/>
              <a:buNone/>
            </a:pPr>
            <a:r>
              <a:rPr lang="zh-CN" altLang="en-US" sz="1600" dirty="0"/>
              <a:t>缓冲池管理器在数据库存储引擎中作为</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内存管理层</a:t>
            </a:r>
            <a:r>
              <a:rPr lang="zh-CN" altLang="en-US" sz="1600" dirty="0"/>
              <a:t>，向下</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使用磁盘管理器</a:t>
            </a:r>
            <a:r>
              <a:rPr lang="zh-CN" altLang="en-US" sz="1600" dirty="0"/>
              <a:t>读写物理页面，向上为索引层和表堆</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提供高效的内存页面访问接口</a:t>
            </a:r>
            <a:r>
              <a:rPr lang="zh-CN" altLang="en-US" sz="1600" dirty="0"/>
              <a:t>，是连接磁盘存储与内存计算的关键桥梁，承担着减少磁盘</a:t>
            </a:r>
            <a:r>
              <a:rPr lang="en-US" altLang="zh-CN" sz="1600" dirty="0"/>
              <a:t>I/O</a:t>
            </a:r>
            <a:r>
              <a:rPr lang="zh-CN" altLang="en-US" sz="1600" dirty="0"/>
              <a:t>、提高数据访问性能的核心职责</a:t>
            </a:r>
            <a:endParaRPr lang="zh-CN" altLang="en-US" sz="1600" dirty="0"/>
          </a:p>
        </p:txBody>
      </p:sp>
      <p:sp>
        <p:nvSpPr>
          <p:cNvPr id="12" name="Shape 9"/>
          <p:cNvSpPr/>
          <p:nvPr/>
        </p:nvSpPr>
        <p:spPr>
          <a:xfrm>
            <a:off x="4284345" y="3265170"/>
            <a:ext cx="7658100" cy="333883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3" name="Text 10"/>
          <p:cNvSpPr/>
          <p:nvPr/>
        </p:nvSpPr>
        <p:spPr>
          <a:xfrm>
            <a:off x="4487333" y="3339465"/>
            <a:ext cx="73787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为什么选择</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 LRU-K</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4" name="Text 11"/>
          <p:cNvSpPr/>
          <p:nvPr/>
        </p:nvSpPr>
        <p:spPr>
          <a:xfrm>
            <a:off x="4487545" y="3860800"/>
            <a:ext cx="6894830" cy="946150"/>
          </a:xfrm>
          <a:prstGeom prst="rect">
            <a:avLst/>
          </a:prstGeom>
          <a:noFill/>
        </p:spPr>
        <p:txBody>
          <a:bodyPr wrap="square" lIns="0" tIns="0" rIns="0" bIns="0" rtlCol="0" anchor="ctr"/>
          <a:lstStyle/>
          <a:p>
            <a:pPr marL="254000" indent="-254000">
              <a:lnSpc>
                <a:spcPct val="120000"/>
              </a:lnSpc>
              <a:spcBef>
                <a:spcPts val="10"/>
              </a:spcBef>
              <a:buSzPct val="100000"/>
              <a:buFont typeface="+mj-lt"/>
              <a:buAutoNum type="arabicPeriod"/>
            </a:pPr>
            <a:r>
              <a:rPr lang="zh-CN" altLang="en-US" sz="1600" dirty="0"/>
              <a:t>传统</a:t>
            </a:r>
            <a:r>
              <a:rPr lang="en-US" altLang="zh-CN" sz="1600" dirty="0"/>
              <a:t>LRU</a:t>
            </a:r>
            <a:r>
              <a:rPr lang="zh-CN" altLang="en-US" sz="1600" dirty="0"/>
              <a:t>问题：容易受到一次性访问的页面干扰，导致缓存污染</a:t>
            </a:r>
            <a:endParaRPr lang="en-US" altLang="zh-CN" sz="1600" dirty="0"/>
          </a:p>
          <a:p>
            <a:pPr marL="254000" indent="-254000">
              <a:lnSpc>
                <a:spcPct val="120000"/>
              </a:lnSpc>
              <a:spcBef>
                <a:spcPts val="10"/>
              </a:spcBef>
              <a:buSzPct val="100000"/>
              <a:buFont typeface="+mj-lt"/>
              <a:buAutoNum type="arabicPeriod"/>
            </a:pPr>
            <a:r>
              <a:rPr lang="en-US" altLang="zh-CN" sz="1600" dirty="0"/>
              <a:t>LRU-K</a:t>
            </a:r>
            <a:r>
              <a:rPr lang="zh-CN" altLang="en-US" sz="1600" dirty="0"/>
              <a:t>优势：考虑最近</a:t>
            </a:r>
            <a:r>
              <a:rPr lang="en-US" altLang="zh-CN" sz="1600" dirty="0"/>
              <a:t>K</a:t>
            </a:r>
            <a:r>
              <a:rPr lang="zh-CN" altLang="en-US" sz="1600" dirty="0"/>
              <a:t>次访问历史，区分频繁访问和偶然访问的页面</a:t>
            </a:r>
            <a:endParaRPr lang="en-US" altLang="zh-CN" sz="1600" dirty="0"/>
          </a:p>
          <a:p>
            <a:pPr marL="254000" indent="-254000">
              <a:lnSpc>
                <a:spcPct val="120000"/>
              </a:lnSpc>
              <a:spcBef>
                <a:spcPts val="10"/>
              </a:spcBef>
              <a:buSzPct val="100000"/>
              <a:buFont typeface="+mj-lt"/>
              <a:buAutoNum type="arabicPeriod"/>
            </a:pPr>
            <a:r>
              <a:rPr lang="zh-CN" altLang="en-US" sz="1600" dirty="0"/>
              <a:t>访问模式适应性：对数据库的访问模式（热点数据重复访问）更加友好</a:t>
            </a:r>
            <a:endParaRPr lang="en-US" altLang="zh-CN" sz="1600" dirty="0"/>
          </a:p>
          <a:p>
            <a:pPr marL="254000" indent="-254000">
              <a:lnSpc>
                <a:spcPct val="120000"/>
              </a:lnSpc>
              <a:spcBef>
                <a:spcPts val="10"/>
              </a:spcBef>
              <a:buSzPct val="100000"/>
              <a:buFont typeface="+mj-lt"/>
              <a:buAutoNum type="arabicPeriod"/>
            </a:pPr>
            <a:r>
              <a:rPr lang="zh-CN" altLang="en-US" sz="1600" dirty="0"/>
              <a:t>驱逐精度：更准确地预测哪些页面未来可能被再次访问</a:t>
            </a:r>
            <a:endParaRPr lang="zh-CN" altLang="en-US" sz="1600" dirty="0"/>
          </a:p>
        </p:txBody>
      </p:sp>
      <p:sp>
        <p:nvSpPr>
          <p:cNvPr id="15" name="文本框 14"/>
          <p:cNvSpPr txBox="1"/>
          <p:nvPr userDrawn="1"/>
        </p:nvSpPr>
        <p:spPr>
          <a:xfrm>
            <a:off x="459740" y="1492885"/>
            <a:ext cx="3414395" cy="3322955"/>
          </a:xfrm>
          <a:prstGeom prst="rect">
            <a:avLst/>
          </a:prstGeom>
        </p:spPr>
        <p:txBody>
          <a:bodyPr wrap="square" rtlCol="0">
            <a:noAutofit/>
          </a:bodyPr>
          <a:p>
            <a:pPr>
              <a:lnSpc>
                <a:spcPct val="150000"/>
              </a:lnSpc>
            </a:pPr>
            <a:r>
              <a:rPr lang="en-US" altLang="zh-CN" sz="1400"/>
              <a:t>1. </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页面缓存机制：</a:t>
            </a:r>
            <a:r>
              <a:rPr lang="zh-CN" altLang="en-US" sz="1400"/>
              <a:t>在内存中维护固定大小的</a:t>
            </a:r>
            <a:r>
              <a:rPr lang="en-US" altLang="zh-CN" sz="1400"/>
              <a:t> </a:t>
            </a:r>
            <a:r>
              <a:rPr lang="zh-CN" altLang="en-US" sz="1400"/>
              <a:t>面数组，作为磁盘页面的缓存</a:t>
            </a:r>
            <a:endParaRPr lang="zh-CN" altLang="en-US" sz="1400"/>
          </a:p>
          <a:p>
            <a:pPr>
              <a:lnSpc>
                <a:spcPct val="15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2. 页面替换策略：</a:t>
            </a:r>
            <a:r>
              <a:rPr lang="zh-CN" altLang="en-US" sz="1400"/>
              <a:t>使用</a:t>
            </a:r>
            <a:r>
              <a:rPr lang="en-US" altLang="zh-CN" sz="1400"/>
              <a:t> LRU-K </a:t>
            </a:r>
            <a:r>
              <a:rPr lang="zh-CN" altLang="en-US" sz="1400"/>
              <a:t>算法决定哪些页面可以被驱逐</a:t>
            </a:r>
            <a:endParaRPr lang="zh-CN" altLang="en-US" sz="1400"/>
          </a:p>
          <a:p>
            <a:pPr>
              <a:lnSpc>
                <a:spcPct val="15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3. 页面映射管理：</a:t>
            </a:r>
            <a:r>
              <a:rPr lang="zh-CN" altLang="en-US" sz="1400"/>
              <a:t>使用可扩展哈希表维护页面</a:t>
            </a:r>
            <a:r>
              <a:rPr lang="en-US" altLang="zh-CN" sz="1400"/>
              <a:t>ID</a:t>
            </a:r>
            <a:r>
              <a:rPr lang="zh-CN" altLang="en-US" sz="1400"/>
              <a:t>到帧</a:t>
            </a:r>
            <a:r>
              <a:rPr lang="en-US" altLang="zh-CN" sz="1400"/>
              <a:t>ID</a:t>
            </a:r>
            <a:r>
              <a:rPr lang="zh-CN" altLang="en-US" sz="1400"/>
              <a:t>的映射关系</a:t>
            </a:r>
            <a:endParaRPr lang="zh-CN" altLang="en-US" sz="1400"/>
          </a:p>
          <a:p>
            <a:pPr>
              <a:lnSpc>
                <a:spcPct val="15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4</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脏页管理：</a:t>
            </a:r>
            <a:r>
              <a:rPr lang="zh-CN" altLang="en-US" sz="1400"/>
              <a:t>延迟写入机制，只有驱逐时才将修改的页面写回磁盘</a:t>
            </a:r>
            <a:endParaRPr lang="zh-CN" altLang="en-US" sz="1400"/>
          </a:p>
        </p:txBody>
      </p:sp>
      <p:sp>
        <p:nvSpPr>
          <p:cNvPr id="6" name="文本框 5"/>
          <p:cNvSpPr txBox="1"/>
          <p:nvPr/>
        </p:nvSpPr>
        <p:spPr>
          <a:xfrm>
            <a:off x="4359910" y="4972685"/>
            <a:ext cx="4064000" cy="398780"/>
          </a:xfrm>
          <a:prstGeom prst="rect">
            <a:avLst/>
          </a:prstGeom>
          <a:noFill/>
        </p:spPr>
        <p:txBody>
          <a:bodyPr wrap="square" rtlCol="0">
            <a:spAutoFit/>
          </a:bodyPr>
          <a:p>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为什么需要可扩展哈希表？</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p:nvSpPr>
        <p:spPr>
          <a:xfrm>
            <a:off x="4482465" y="5371465"/>
            <a:ext cx="7273290" cy="829945"/>
          </a:xfrm>
          <a:prstGeom prst="rect">
            <a:avLst/>
          </a:prstGeom>
          <a:noFill/>
        </p:spPr>
        <p:txBody>
          <a:bodyPr wrap="square" rtlCol="0">
            <a:spAutoFit/>
          </a:bodyPr>
          <a:p>
            <a:r>
              <a:rPr lang="en-US" altLang="zh-CN" sz="1600"/>
              <a:t>1. </a:t>
            </a:r>
            <a:r>
              <a:rPr lang="zh-CN" altLang="en-US" sz="1600"/>
              <a:t>动态扩容：无需预先指定哈希表大小，随数据量增长自动扩展</a:t>
            </a:r>
            <a:endParaRPr lang="zh-CN" altLang="en-US" sz="1600"/>
          </a:p>
          <a:p>
            <a:r>
              <a:rPr lang="en-US" altLang="zh-CN" sz="1600"/>
              <a:t>2. </a:t>
            </a:r>
            <a:r>
              <a:rPr lang="zh-CN" altLang="en-US" sz="1600"/>
              <a:t>性能稳定：通过桶分裂而非重新哈希，保证操作时间复杂度稳定</a:t>
            </a:r>
            <a:endParaRPr lang="zh-CN" altLang="en-US" sz="1600"/>
          </a:p>
          <a:p>
            <a:r>
              <a:rPr lang="en-US" altLang="zh-CN" sz="1600"/>
              <a:t>3. </a:t>
            </a:r>
            <a:r>
              <a:rPr lang="zh-CN" altLang="en-US" sz="1600"/>
              <a:t>内存效率：多个目录项可指向同一个桶，减少内存碎片</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缓冲池管理器</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关键组件实现细节</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可扩展哈希表</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 (Extendible Hash Table)</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6" name="Text 3"/>
          <p:cNvSpPr/>
          <p:nvPr/>
        </p:nvSpPr>
        <p:spPr>
          <a:xfrm>
            <a:off x="359691" y="1798955"/>
            <a:ext cx="3716996" cy="2149475"/>
          </a:xfrm>
          <a:prstGeom prst="rect">
            <a:avLst/>
          </a:prstGeom>
          <a:noFill/>
        </p:spPr>
        <p:txBody>
          <a:bodyPr wrap="square" lIns="0" tIns="0" rIns="0" bIns="0" rtlCol="0" anchor="ctr"/>
          <a:lstStyle/>
          <a:p>
            <a:pPr>
              <a:lnSpc>
                <a:spcPct val="12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核心思想：</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按需扩展，局部重组</a:t>
            </a:r>
            <a:endPar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数据结构：</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目录</a:t>
            </a:r>
            <a:r>
              <a:rPr lang="en-US" altLang="zh-CN"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桶，</a:t>
            </a:r>
            <a:r>
              <a:rPr lang="en-US" altLang="zh-CN"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2^</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全局深度个指针</a:t>
            </a:r>
            <a:endPar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扩展条件：</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桶满且局部深度</a:t>
            </a:r>
            <a:r>
              <a:rPr lang="en-US" altLang="zh-CN"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全局深度</a:t>
            </a:r>
            <a:endPar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分裂操作：</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只移动满桶数据，不影响其他</a:t>
            </a:r>
            <a:endPar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对应</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算法</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p:nvSpPr>
        <p:spPr>
          <a:xfrm>
            <a:off x="254011" y="4055110"/>
            <a:ext cx="3172090" cy="2176780"/>
          </a:xfrm>
          <a:prstGeom prst="rect">
            <a:avLst/>
          </a:prstGeom>
          <a:noFill/>
        </p:spPr>
        <p:txBody>
          <a:bodyPr wrap="square" rtlCol="0">
            <a:noAutofit/>
          </a:bodyPr>
          <a:p>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算法</a:t>
            </a:r>
            <a:r>
              <a:rPr lang="zh-CN" altLang="en-US" sz="1600" b="1" dirty="0">
                <a:solidFill>
                  <a:srgbClr val="7B68EE"/>
                </a:solidFill>
                <a:latin typeface="Noto Sans SC" panose="020B0200000000000000" pitchFamily="34" charset="-122"/>
                <a:ea typeface="Noto Sans SC" panose="020B0200000000000000" pitchFamily="34" charset="-122"/>
                <a:cs typeface="Arial" panose="020B0604020202020204" pitchFamily="34" charset="0"/>
              </a:rPr>
              <a:t>主要作用</a:t>
            </a: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存储缓冲池中</a:t>
            </a:r>
            <a:r>
              <a:rPr lang="en-US"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en-US" altLang="zh-CN"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 ID </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和帧</a:t>
            </a:r>
            <a:r>
              <a:rPr lang="en-US" altLang="zh-CN"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 ID </a:t>
            </a:r>
            <a:r>
              <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的映射关系</a:t>
            </a:r>
            <a:endParaRPr lang="zh-CN" altLang="en-US" sz="16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文本框 12"/>
          <p:cNvSpPr txBox="1"/>
          <p:nvPr/>
        </p:nvSpPr>
        <p:spPr>
          <a:xfrm>
            <a:off x="4461510" y="1611630"/>
            <a:ext cx="7405370" cy="4611370"/>
          </a:xfrm>
          <a:prstGeom prst="rect">
            <a:avLst/>
          </a:prstGeom>
          <a:noFill/>
        </p:spPr>
        <p:txBody>
          <a:bodyPr wrap="square" rtlCol="0">
            <a:noAutofit/>
          </a:bodyPr>
          <a:p>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1. </a:t>
            </a:r>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计算哈希，定位目录索引</a:t>
            </a: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gn="l"/>
            <a:r>
              <a:rPr lang="en-US" altLang="zh-CN" sz="1600">
                <a:solidFill>
                  <a:schemeClr val="tx1"/>
                </a:solidFill>
              </a:rPr>
              <a:t>auto index = IndexOf(key);</a:t>
            </a:r>
            <a:endParaRPr lang="en-US" altLang="zh-CN" sz="1600">
              <a:solidFill>
                <a:schemeClr val="tx1"/>
              </a:solidFill>
            </a:endParaRPr>
          </a:p>
          <a:p>
            <a:pPr algn="l"/>
            <a:r>
              <a:rPr lang="en-US" altLang="zh-CN" sz="1600">
                <a:solidFill>
                  <a:schemeClr val="tx1"/>
                </a:solidFill>
              </a:rPr>
              <a:t>auto bucket = dir_[index];</a:t>
            </a:r>
            <a:endParaRPr lang="en-US" altLang="zh-CN" sz="1600">
              <a:solidFill>
                <a:schemeClr val="tx1"/>
              </a:solidFill>
            </a:endParaRPr>
          </a:p>
          <a:p>
            <a:pPr algn="l"/>
            <a:r>
              <a:rPr lang="zh-CN" altLang="en-US" sz="1600"/>
              <a:t>调用私有函数</a:t>
            </a:r>
            <a:r>
              <a:rPr lang="en-US" altLang="zh-CN" sz="1600"/>
              <a:t> IndexOf(key)</a:t>
            </a:r>
            <a:r>
              <a:rPr lang="zh-CN" altLang="en-US" sz="1600"/>
              <a:t>。</a:t>
            </a:r>
            <a:endParaRPr lang="zh-CN" altLang="en-US" sz="1600"/>
          </a:p>
          <a:p>
            <a:pPr algn="l"/>
            <a:endParaRPr lang="zh-CN" altLang="en-US" sz="1600"/>
          </a:p>
          <a:p>
            <a:pPr algn="l"/>
            <a:r>
              <a:rPr lang="zh-CN" altLang="en-US" sz="1600"/>
              <a:t>其内部通过</a:t>
            </a:r>
            <a:r>
              <a:rPr lang="en-US" altLang="zh-CN" sz="1600"/>
              <a:t> std::hash&lt;K&gt;{}(key) </a:t>
            </a:r>
            <a:r>
              <a:rPr lang="zh-CN" altLang="en-US" sz="1600"/>
              <a:t>计算哈希值，并取该值的低</a:t>
            </a:r>
            <a:r>
              <a:rPr lang="en-US" altLang="zh-CN" sz="1600"/>
              <a:t> global_depth_ </a:t>
            </a:r>
            <a:r>
              <a:rPr lang="zh-CN" altLang="en-US" sz="1600"/>
              <a:t>位作为数组下标，从而找到键</a:t>
            </a:r>
            <a:r>
              <a:rPr lang="en-US" altLang="zh-CN" sz="1600"/>
              <a:t> key </a:t>
            </a:r>
            <a:r>
              <a:rPr lang="zh-CN" altLang="en-US" sz="1600"/>
              <a:t>对应的桶。</a:t>
            </a:r>
            <a:r>
              <a:rPr lang="en-US" altLang="zh-CN" sz="1600"/>
              <a:t> </a:t>
            </a:r>
            <a:endParaRPr lang="en-US" altLang="zh-CN" sz="1600"/>
          </a:p>
          <a:p>
            <a:pPr algn="l"/>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2. 尝试插入，判断桶满</a:t>
            </a: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r>
              <a:rPr lang="en-US" altLang="zh-CN" sz="1600">
                <a:solidFill>
                  <a:schemeClr val="tx1"/>
                </a:solidFill>
                <a:sym typeface="+mn-ea"/>
              </a:rPr>
              <a:t>if (bucket-&gt;Insert(key, value)) {</a:t>
            </a:r>
            <a:endParaRPr lang="en-US" altLang="zh-CN" sz="1600">
              <a:solidFill>
                <a:schemeClr val="tx1"/>
              </a:solidFill>
              <a:sym typeface="+mn-ea"/>
            </a:endParaRPr>
          </a:p>
          <a:p>
            <a:pPr algn="l">
              <a:buClrTx/>
              <a:buSzTx/>
              <a:buFontTx/>
            </a:pPr>
            <a:r>
              <a:rPr lang="en-US" altLang="zh-CN" sz="1600">
                <a:solidFill>
                  <a:schemeClr val="tx1"/>
                </a:solidFill>
                <a:sym typeface="+mn-ea"/>
              </a:rPr>
              <a:t>    return; // 插入成功则直接返回</a:t>
            </a:r>
            <a:endParaRPr lang="en-US" altLang="zh-CN" sz="1600">
              <a:solidFill>
                <a:schemeClr val="tx1"/>
              </a:solidFill>
              <a:sym typeface="+mn-ea"/>
            </a:endParaRPr>
          </a:p>
          <a:p>
            <a:pPr algn="l">
              <a:buClrTx/>
              <a:buSzTx/>
              <a:buFontTx/>
            </a:pPr>
            <a:r>
              <a:rPr lang="en-US" altLang="zh-CN" sz="1600">
                <a:solidFill>
                  <a:schemeClr val="tx1"/>
                </a:solidFill>
                <a:sym typeface="+mn-ea"/>
              </a:rPr>
              <a:t>}</a:t>
            </a:r>
            <a:endParaRPr lang="en-US" altLang="zh-CN" sz="1600">
              <a:solidFill>
                <a:schemeClr val="tx1"/>
              </a:solidFill>
              <a:sym typeface="+mn-ea"/>
            </a:endParaRPr>
          </a:p>
          <a:p>
            <a:pPr algn="l">
              <a:buClrTx/>
              <a:buSzTx/>
              <a:buFontTx/>
            </a:pPr>
            <a:endParaRPr lang="en-US" altLang="zh-CN" sz="1600">
              <a:solidFill>
                <a:schemeClr val="tx1"/>
              </a:solidFill>
              <a:sym typeface="+mn-ea"/>
            </a:endParaRPr>
          </a:p>
          <a:p>
            <a:pPr algn="l">
              <a:buClrTx/>
              <a:buSzTx/>
              <a:buFontTx/>
            </a:pPr>
            <a:r>
              <a:rPr lang="zh-CN" altLang="en-US" sz="1600">
                <a:solidFill>
                  <a:schemeClr val="tx1"/>
                </a:solidFill>
                <a:sym typeface="+mn-ea"/>
              </a:rPr>
              <a:t>尝试向桶中插入键值对。</a:t>
            </a:r>
            <a:endParaRPr lang="zh-CN" altLang="en-US" sz="1600">
              <a:solidFill>
                <a:schemeClr val="tx1"/>
              </a:solidFill>
              <a:sym typeface="+mn-ea"/>
            </a:endParaRPr>
          </a:p>
          <a:p>
            <a:pPr algn="l">
              <a:buClrTx/>
              <a:buSzTx/>
              <a:buFontTx/>
            </a:pPr>
            <a:r>
              <a:rPr lang="zh-CN" altLang="en-US" sz="1600">
                <a:solidFill>
                  <a:schemeClr val="tx1"/>
                </a:solidFill>
                <a:sym typeface="+mn-ea"/>
              </a:rPr>
              <a:t>若键已存在则更新值并返回成功；若桶未满则插入新键值对并返回成功。</a:t>
            </a:r>
            <a:endParaRPr lang="zh-CN" altLang="en-US" sz="1600">
              <a:solidFill>
                <a:schemeClr val="tx1"/>
              </a:solidFill>
              <a:sym typeface="+mn-ea"/>
            </a:endParaRPr>
          </a:p>
          <a:p>
            <a:pPr algn="l">
              <a:buClrTx/>
              <a:buSzTx/>
              <a:buFontTx/>
            </a:pPr>
            <a:r>
              <a:rPr lang="zh-CN" altLang="en-US" sz="1600">
                <a:solidFill>
                  <a:schemeClr val="tx1"/>
                </a:solidFill>
                <a:sym typeface="+mn-ea"/>
              </a:rPr>
              <a:t>仅当桶已满且键为新键时，插入失败，触发后续的分裂流程</a:t>
            </a:r>
            <a:endParaRPr lang="zh-CN" altLang="en-US" sz="1600">
              <a:solidFill>
                <a:schemeClr val="tx1"/>
              </a:solidFill>
              <a:sym typeface="+mn-ea"/>
            </a:endParaRPr>
          </a:p>
          <a:p>
            <a:pPr algn="l">
              <a:buClrTx/>
              <a:buSzTx/>
              <a:buFontTx/>
            </a:pP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可拓展哈希表对应算法</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续</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9" name="Shape 6"/>
          <p:cNvSpPr/>
          <p:nvPr/>
        </p:nvSpPr>
        <p:spPr>
          <a:xfrm>
            <a:off x="281305" y="914400"/>
            <a:ext cx="11661140" cy="5917565"/>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3" name="文本框 12"/>
          <p:cNvSpPr txBox="1"/>
          <p:nvPr/>
        </p:nvSpPr>
        <p:spPr>
          <a:xfrm>
            <a:off x="393065" y="1611630"/>
            <a:ext cx="4931833" cy="4989830"/>
          </a:xfrm>
          <a:prstGeom prst="rect">
            <a:avLst/>
          </a:prstGeom>
          <a:noFill/>
        </p:spPr>
        <p:txBody>
          <a:bodyPr wrap="square" rtlCol="0">
            <a:noAutofit/>
          </a:bodyPr>
          <a:p>
            <a:pPr algn="l">
              <a:buClrTx/>
              <a:buSzTx/>
              <a:buFontTx/>
            </a:pPr>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3. 深度相等→目录翻倍，全局深度+1</a:t>
            </a: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r>
              <a:rPr lang="en-US" altLang="zh-CN" sz="1600">
                <a:sym typeface="+mn-ea"/>
              </a:rPr>
              <a:t>if (bucket-&gt;GetDepth() == global_depth_) {</a:t>
            </a:r>
            <a:endParaRPr lang="en-US" altLang="zh-CN" sz="1600">
              <a:sym typeface="+mn-ea"/>
            </a:endParaRPr>
          </a:p>
          <a:p>
            <a:pPr algn="l">
              <a:buClrTx/>
              <a:buSzTx/>
              <a:buFontTx/>
            </a:pPr>
            <a:r>
              <a:rPr lang="en-US" altLang="zh-CN" sz="1600">
                <a:sym typeface="+mn-ea"/>
              </a:rPr>
              <a:t>    size_t length = dir_.size();</a:t>
            </a:r>
            <a:endParaRPr lang="en-US" altLang="zh-CN" sz="1600">
              <a:sym typeface="+mn-ea"/>
            </a:endParaRPr>
          </a:p>
          <a:p>
            <a:pPr algn="l">
              <a:buClrTx/>
              <a:buSzTx/>
              <a:buFontTx/>
            </a:pPr>
            <a:r>
              <a:rPr lang="en-US" altLang="zh-CN" sz="1600">
                <a:sym typeface="+mn-ea"/>
              </a:rPr>
              <a:t>    dir_.resize(length * 2); // 1. 目录翻倍</a:t>
            </a:r>
            <a:endParaRPr lang="en-US" altLang="zh-CN" sz="1600">
              <a:sym typeface="+mn-ea"/>
            </a:endParaRPr>
          </a:p>
          <a:p>
            <a:pPr algn="l">
              <a:buClrTx/>
              <a:buSzTx/>
              <a:buFontTx/>
            </a:pPr>
            <a:r>
              <a:rPr lang="en-US" altLang="zh-CN" sz="1600">
                <a:sym typeface="+mn-ea"/>
              </a:rPr>
              <a:t>    for (size_t i = 0; i &lt; length; i++) {</a:t>
            </a:r>
            <a:endParaRPr lang="en-US" altLang="zh-CN" sz="1600">
              <a:sym typeface="+mn-ea"/>
            </a:endParaRPr>
          </a:p>
          <a:p>
            <a:pPr algn="l">
              <a:buClrTx/>
              <a:buSzTx/>
              <a:buFontTx/>
            </a:pPr>
            <a:r>
              <a:rPr lang="en-US" altLang="zh-CN" sz="1600">
                <a:sym typeface="+mn-ea"/>
              </a:rPr>
              <a:t>        dir_[i + length] = dir_[i]; // 2. 复制指针（创建多个目录指向同一桶）</a:t>
            </a:r>
            <a:endParaRPr lang="en-US" altLang="zh-CN" sz="1600">
              <a:sym typeface="+mn-ea"/>
            </a:endParaRPr>
          </a:p>
          <a:p>
            <a:pPr algn="l">
              <a:buClrTx/>
              <a:buSzTx/>
              <a:buFontTx/>
            </a:pPr>
            <a:r>
              <a:rPr lang="en-US" altLang="zh-CN" sz="1600">
                <a:sym typeface="+mn-ea"/>
              </a:rPr>
              <a:t>    }</a:t>
            </a:r>
            <a:endParaRPr lang="en-US" altLang="zh-CN" sz="1600">
              <a:sym typeface="+mn-ea"/>
            </a:endParaRPr>
          </a:p>
          <a:p>
            <a:pPr algn="l">
              <a:buClrTx/>
              <a:buSzTx/>
              <a:buFontTx/>
            </a:pPr>
            <a:r>
              <a:rPr lang="en-US" altLang="zh-CN" sz="1600">
                <a:sym typeface="+mn-ea"/>
              </a:rPr>
              <a:t>    global_depth_++; // 3. 全局深度加1</a:t>
            </a:r>
            <a:endParaRPr lang="en-US" altLang="zh-CN" sz="1600">
              <a:sym typeface="+mn-ea"/>
            </a:endParaRPr>
          </a:p>
          <a:p>
            <a:pPr algn="l">
              <a:buClrTx/>
              <a:buSzTx/>
              <a:buFontTx/>
            </a:pPr>
            <a:r>
              <a:rPr lang="en-US" altLang="zh-CN" sz="1600">
                <a:sym typeface="+mn-ea"/>
              </a:rPr>
              <a:t>}</a:t>
            </a:r>
            <a:endParaRPr lang="en-US" altLang="zh-CN" sz="1600">
              <a:sym typeface="+mn-ea"/>
            </a:endParaRPr>
          </a:p>
          <a:p>
            <a:pPr algn="l">
              <a:buClrTx/>
              <a:buSzTx/>
              <a:buFontTx/>
            </a:pPr>
            <a:endParaRPr lang="en-US" altLang="zh-CN" sz="1600">
              <a:sym typeface="+mn-ea"/>
            </a:endParaRPr>
          </a:p>
          <a:p>
            <a:pPr algn="l">
              <a:buClrTx/>
              <a:buSzTx/>
              <a:buFontTx/>
            </a:pPr>
            <a:r>
              <a:rPr lang="en-US" altLang="zh-CN" sz="1600">
                <a:sym typeface="+mn-ea"/>
              </a:rPr>
              <a:t>当待分裂桶的局部深度与全局深度相等时，</a:t>
            </a:r>
            <a:endParaRPr lang="en-US" altLang="zh-CN" sz="1600">
              <a:sym typeface="+mn-ea"/>
            </a:endParaRPr>
          </a:p>
          <a:p>
            <a:pPr algn="l">
              <a:buClrTx/>
              <a:buSzTx/>
              <a:buFontTx/>
            </a:pPr>
            <a:r>
              <a:rPr lang="en-US" altLang="zh-CN" sz="1600">
                <a:sym typeface="+mn-ea"/>
              </a:rPr>
              <a:t>说明所有目录项都已指向不同的桶，必须扩展目录以容纳即将新增的桶</a:t>
            </a:r>
            <a:endParaRPr lang="en-US" altLang="zh-CN" sz="1600">
              <a:sym typeface="+mn-ea"/>
            </a:endParaRPr>
          </a:p>
          <a:p>
            <a:pPr algn="l">
              <a:buClrTx/>
              <a:buSzTx/>
              <a:buFontTx/>
            </a:pP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algn="l">
              <a:buClrTx/>
              <a:buSzTx/>
              <a:buFontTx/>
            </a:pP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p:txBody>
      </p:sp>
      <p:sp>
        <p:nvSpPr>
          <p:cNvPr id="7" name="文本框 6"/>
          <p:cNvSpPr txBox="1"/>
          <p:nvPr/>
        </p:nvSpPr>
        <p:spPr>
          <a:xfrm>
            <a:off x="6103789" y="1611545"/>
            <a:ext cx="5807498" cy="4043754"/>
          </a:xfrm>
          <a:prstGeom prst="rect">
            <a:avLst/>
          </a:prstGeom>
          <a:noFill/>
        </p:spPr>
        <p:txBody>
          <a:bodyPr wrap="square" rtlCol="0">
            <a:noAutofit/>
          </a:bodyPr>
          <a:p>
            <a:pPr algn="l">
              <a:buClrTx/>
              <a:buSzTx/>
              <a:buFontTx/>
            </a:pPr>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4. 创建新桶，局部深度+1</a:t>
            </a: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gn="l">
              <a:buClrTx/>
              <a:buSzTx/>
              <a:buFontTx/>
            </a:pPr>
            <a:r>
              <a:rPr lang="en-US" altLang="zh-CN" sz="1600">
                <a:sym typeface="+mn-ea"/>
              </a:rPr>
              <a:t>bucket-&gt;IncrementDepth();  // 1. </a:t>
            </a:r>
            <a:r>
              <a:rPr lang="zh-CN" altLang="en-US" sz="1600">
                <a:sym typeface="+mn-ea"/>
              </a:rPr>
              <a:t>原桶局部深度</a:t>
            </a:r>
            <a:r>
              <a:rPr lang="en-US" altLang="zh-CN" sz="1600">
                <a:sym typeface="+mn-ea"/>
              </a:rPr>
              <a:t>+1</a:t>
            </a:r>
            <a:endParaRPr lang="en-US" altLang="zh-CN" sz="1600">
              <a:sym typeface="+mn-ea"/>
            </a:endParaRPr>
          </a:p>
          <a:p>
            <a:pPr algn="l">
              <a:buClrTx/>
              <a:buSzTx/>
              <a:buFontTx/>
            </a:pPr>
            <a:r>
              <a:rPr lang="en-US" altLang="zh-CN" sz="1600">
                <a:sym typeface="+mn-ea"/>
              </a:rPr>
              <a:t>int local_depth = bucket-&gt;GetDepth();</a:t>
            </a:r>
            <a:endParaRPr lang="en-US" altLang="zh-CN" sz="1600">
              <a:sym typeface="+mn-ea"/>
            </a:endParaRPr>
          </a:p>
          <a:p>
            <a:pPr algn="l">
              <a:buClrTx/>
              <a:buSzTx/>
              <a:buFontTx/>
            </a:pPr>
            <a:r>
              <a:rPr lang="en-US" altLang="zh-CN" sz="1600">
                <a:sym typeface="+mn-ea"/>
              </a:rPr>
              <a:t>auto bucket0 = std::make_shared&lt;Bucket&gt;(bucket_size_, local_depth);  // 2. </a:t>
            </a:r>
            <a:r>
              <a:rPr lang="zh-CN" altLang="en-US" sz="1600">
                <a:sym typeface="+mn-ea"/>
              </a:rPr>
              <a:t>创建新桶</a:t>
            </a:r>
            <a:r>
              <a:rPr lang="en-US" altLang="zh-CN" sz="1600">
                <a:sym typeface="+mn-ea"/>
              </a:rPr>
              <a:t>0</a:t>
            </a:r>
            <a:endParaRPr lang="en-US" altLang="zh-CN" sz="1600">
              <a:sym typeface="+mn-ea"/>
            </a:endParaRPr>
          </a:p>
          <a:p>
            <a:pPr algn="l">
              <a:buClrTx/>
              <a:buSzTx/>
              <a:buFontTx/>
            </a:pPr>
            <a:r>
              <a:rPr lang="en-US" altLang="zh-CN" sz="1600">
                <a:sym typeface="+mn-ea"/>
              </a:rPr>
              <a:t>auto bucket1 = std::make_shared&lt;Bucket&gt;(bucket_size_, local_depth);  // 3. </a:t>
            </a:r>
            <a:r>
              <a:rPr lang="zh-CN" altLang="en-US" sz="1600">
                <a:sym typeface="+mn-ea"/>
              </a:rPr>
              <a:t>创建新桶</a:t>
            </a:r>
            <a:r>
              <a:rPr lang="en-US" altLang="zh-CN" sz="1600">
                <a:sym typeface="+mn-ea"/>
              </a:rPr>
              <a:t>1</a:t>
            </a:r>
            <a:endParaRPr lang="en-US" altLang="zh-CN" sz="1600">
              <a:sym typeface="+mn-ea"/>
            </a:endParaRPr>
          </a:p>
          <a:p>
            <a:pPr algn="l">
              <a:buClrTx/>
              <a:buSzTx/>
              <a:buFontTx/>
            </a:pPr>
            <a:endParaRPr lang="en-US" altLang="zh-CN" sz="1600">
              <a:sym typeface="+mn-ea"/>
            </a:endParaRPr>
          </a:p>
          <a:p>
            <a:pPr algn="l">
              <a:buClrTx/>
              <a:buSzTx/>
              <a:buFontTx/>
            </a:pPr>
            <a:r>
              <a:rPr lang="en-US" altLang="zh-CN" sz="1600">
                <a:sym typeface="+mn-ea"/>
              </a:rPr>
              <a:t>增加原桶的局部深度，并创建两个具有相同新深度的空桶。</a:t>
            </a:r>
            <a:endParaRPr lang="zh-CN" altLang="en-US" sz="160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可拓展哈希表对应算法</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续</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9" name="Shape 6"/>
          <p:cNvSpPr/>
          <p:nvPr/>
        </p:nvSpPr>
        <p:spPr>
          <a:xfrm>
            <a:off x="281305" y="914400"/>
            <a:ext cx="11661140" cy="5917565"/>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3" name="文本框 12"/>
          <p:cNvSpPr txBox="1"/>
          <p:nvPr/>
        </p:nvSpPr>
        <p:spPr>
          <a:xfrm>
            <a:off x="6218332" y="1473200"/>
            <a:ext cx="5518373" cy="4989830"/>
          </a:xfrm>
          <a:prstGeom prst="rect">
            <a:avLst/>
          </a:prstGeom>
          <a:noFill/>
        </p:spPr>
        <p:txBody>
          <a:bodyPr wrap="square" rtlCol="0">
            <a:noAutofit/>
          </a:bodyPr>
          <a:p>
            <a:pPr algn="l">
              <a:buClrTx/>
              <a:buSzTx/>
              <a:buFontTx/>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6. 更新目录指针，完成分裂</a:t>
            </a: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for (size_t i = 0; i &lt; dir_.size(); i++)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if (dir_[i] == bucket) { // </a:t>
            </a:r>
            <a:r>
              <a:rPr lang="zh-CN" altLang="en-US" sz="1600">
                <a:solidFill>
                  <a:schemeClr val="tx1"/>
                </a:solidFill>
                <a:sym typeface="+mn-ea"/>
              </a:rPr>
              <a:t>找到所有指向原桶的目录项</a:t>
            </a:r>
            <a:endParaRPr lang="zh-CN" altLang="en-US"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if ((i &gt;&gt; (local_depth - 1)) &amp; 1) { // </a:t>
            </a:r>
            <a:r>
              <a:rPr lang="zh-CN" altLang="en-US" sz="1600">
                <a:solidFill>
                  <a:schemeClr val="tx1"/>
                </a:solidFill>
                <a:sym typeface="+mn-ea"/>
              </a:rPr>
              <a:t>根据目录索引的对应位判断</a:t>
            </a:r>
            <a:endParaRPr lang="zh-CN" altLang="en-US"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dir_[i] = bucket1; // </a:t>
            </a:r>
            <a:r>
              <a:rPr lang="zh-CN" altLang="en-US" sz="1600">
                <a:solidFill>
                  <a:schemeClr val="tx1"/>
                </a:solidFill>
                <a:sym typeface="+mn-ea"/>
              </a:rPr>
              <a:t>该位为</a:t>
            </a:r>
            <a:r>
              <a:rPr lang="en-US" altLang="zh-CN" sz="1600">
                <a:solidFill>
                  <a:schemeClr val="tx1"/>
                </a:solidFill>
                <a:sym typeface="+mn-ea"/>
              </a:rPr>
              <a:t>1</a:t>
            </a:r>
            <a:r>
              <a:rPr lang="zh-CN" altLang="en-US" sz="1600">
                <a:solidFill>
                  <a:schemeClr val="tx1"/>
                </a:solidFill>
                <a:sym typeface="+mn-ea"/>
              </a:rPr>
              <a:t>，指向新桶</a:t>
            </a:r>
            <a:r>
              <a:rPr lang="en-US" altLang="zh-CN" sz="1600">
                <a:solidFill>
                  <a:schemeClr val="tx1"/>
                </a:solidFill>
                <a:sym typeface="+mn-ea"/>
              </a:rPr>
              <a:t>1</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 else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dir_[i] = bucket0; // </a:t>
            </a:r>
            <a:r>
              <a:rPr lang="zh-CN" altLang="en-US" sz="1600">
                <a:solidFill>
                  <a:schemeClr val="tx1"/>
                </a:solidFill>
                <a:sym typeface="+mn-ea"/>
              </a:rPr>
              <a:t>该位为</a:t>
            </a:r>
            <a:r>
              <a:rPr lang="en-US" altLang="zh-CN" sz="1600">
                <a:solidFill>
                  <a:schemeClr val="tx1"/>
                </a:solidFill>
                <a:sym typeface="+mn-ea"/>
              </a:rPr>
              <a:t>0</a:t>
            </a:r>
            <a:r>
              <a:rPr lang="zh-CN" altLang="en-US" sz="1600">
                <a:solidFill>
                  <a:schemeClr val="tx1"/>
                </a:solidFill>
                <a:sym typeface="+mn-ea"/>
              </a:rPr>
              <a:t>，指向新桶</a:t>
            </a:r>
            <a:r>
              <a:rPr lang="en-US" altLang="zh-CN" sz="1600">
                <a:solidFill>
                  <a:schemeClr val="tx1"/>
                </a:solidFill>
                <a:sym typeface="+mn-ea"/>
              </a:rPr>
              <a:t>0</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num_buckets_++; // </a:t>
            </a:r>
            <a:r>
              <a:rPr lang="zh-CN" altLang="en-US" sz="1600">
                <a:solidFill>
                  <a:schemeClr val="tx1"/>
                </a:solidFill>
                <a:sym typeface="+mn-ea"/>
              </a:rPr>
              <a:t>桶总数</a:t>
            </a:r>
            <a:r>
              <a:rPr lang="en-US" altLang="zh-CN" sz="1600">
                <a:solidFill>
                  <a:schemeClr val="tx1"/>
                </a:solidFill>
                <a:sym typeface="+mn-ea"/>
              </a:rPr>
              <a:t>+1 (</a:t>
            </a:r>
            <a:r>
              <a:rPr lang="zh-CN" altLang="en-US" sz="1600">
                <a:solidFill>
                  <a:schemeClr val="tx1"/>
                </a:solidFill>
                <a:sym typeface="+mn-ea"/>
              </a:rPr>
              <a:t>因为</a:t>
            </a:r>
            <a:r>
              <a:rPr lang="en-US" altLang="zh-CN" sz="1600">
                <a:solidFill>
                  <a:schemeClr val="tx1"/>
                </a:solidFill>
                <a:sym typeface="+mn-ea"/>
              </a:rPr>
              <a:t>bucket0</a:t>
            </a:r>
            <a:r>
              <a:rPr lang="zh-CN" altLang="en-US" sz="1600">
                <a:solidFill>
                  <a:schemeClr val="tx1"/>
                </a:solidFill>
                <a:sym typeface="+mn-ea"/>
              </a:rPr>
              <a:t>和</a:t>
            </a:r>
            <a:r>
              <a:rPr lang="en-US" altLang="zh-CN" sz="1600">
                <a:solidFill>
                  <a:schemeClr val="tx1"/>
                </a:solidFill>
                <a:sym typeface="+mn-ea"/>
              </a:rPr>
              <a:t>bucket1</a:t>
            </a:r>
            <a:r>
              <a:rPr lang="zh-CN" altLang="en-US" sz="1600">
                <a:solidFill>
                  <a:schemeClr val="tx1"/>
                </a:solidFill>
                <a:sym typeface="+mn-ea"/>
              </a:rPr>
              <a:t>取代了原</a:t>
            </a:r>
            <a:r>
              <a:rPr lang="en-US" altLang="zh-CN" sz="1600">
                <a:solidFill>
                  <a:schemeClr val="tx1"/>
                </a:solidFill>
                <a:sym typeface="+mn-ea"/>
              </a:rPr>
              <a:t>bucket</a:t>
            </a:r>
            <a:r>
              <a:rPr lang="zh-CN" altLang="en-US" sz="1600">
                <a:solidFill>
                  <a:schemeClr val="tx1"/>
                </a:solidFill>
                <a:sym typeface="+mn-ea"/>
              </a:rPr>
              <a:t>，净增</a:t>
            </a:r>
            <a:r>
              <a:rPr lang="en-US" altLang="zh-CN" sz="1600">
                <a:solidFill>
                  <a:schemeClr val="tx1"/>
                </a:solidFill>
                <a:sym typeface="+mn-ea"/>
              </a:rPr>
              <a:t>1</a:t>
            </a:r>
            <a:r>
              <a:rPr lang="zh-CN" altLang="en-US" sz="1600">
                <a:solidFill>
                  <a:schemeClr val="tx1"/>
                </a:solidFill>
                <a:sym typeface="+mn-ea"/>
              </a:rPr>
              <a:t>个</a:t>
            </a:r>
            <a:r>
              <a:rPr lang="en-US" altLang="zh-CN" sz="1600">
                <a:solidFill>
                  <a:schemeClr val="tx1"/>
                </a:solidFill>
                <a:sym typeface="+mn-ea"/>
              </a:rPr>
              <a:t>)	</a:t>
            </a:r>
            <a:endParaRPr lang="en-US" altLang="zh-CN" sz="1600">
              <a:solidFill>
                <a:schemeClr val="tx1"/>
              </a:solidFill>
              <a:sym typeface="+mn-ea"/>
            </a:endParaRPr>
          </a:p>
          <a:p>
            <a:pPr marL="0" indent="0" algn="l" defTabSz="0" rtl="0" eaLnBrk="1" latinLnBrk="0" hangingPunct="1">
              <a:spcBef>
                <a:spcPct val="0"/>
              </a:spcBef>
              <a:spcAft>
                <a:spcPct val="0"/>
              </a:spcAft>
              <a:buSzTx/>
              <a:buNone/>
            </a:pP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更新目录中所有原来指向旧桶(bucket)的指针。判断依据是目录索引 i 的第 local_depth 位。</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此步完成后，旧桶被两个新桶替代，分裂完成。</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整个操作受 std::scoped_lock&lt;std::mutex&gt; lock(latch_); 保护，保证线程安全</a:t>
            </a:r>
            <a:endParaRPr lang="en-US" altLang="zh-CN" sz="1600">
              <a:solidFill>
                <a:schemeClr val="tx1"/>
              </a:solidFill>
              <a:sym typeface="+mn-ea"/>
            </a:endParaRPr>
          </a:p>
          <a:p>
            <a:endParaRPr lang="en-US" sz="1600">
              <a:solidFill>
                <a:schemeClr val="tx1"/>
              </a:solidFill>
              <a:sym typeface="+mn-ea"/>
            </a:endParaRPr>
          </a:p>
        </p:txBody>
      </p:sp>
      <p:sp>
        <p:nvSpPr>
          <p:cNvPr id="4" name="文本框 3"/>
          <p:cNvSpPr txBox="1"/>
          <p:nvPr/>
        </p:nvSpPr>
        <p:spPr>
          <a:xfrm>
            <a:off x="449808" y="1536700"/>
            <a:ext cx="4786415" cy="4989830"/>
          </a:xfrm>
          <a:prstGeom prst="rect">
            <a:avLst/>
          </a:prstGeom>
          <a:noFill/>
        </p:spPr>
        <p:txBody>
          <a:bodyPr wrap="square" rtlCol="0">
            <a:noAutofit/>
          </a:bodyPr>
          <a:p>
            <a:pPr algn="l">
              <a:buClrTx/>
              <a:buSzTx/>
              <a:buFontTx/>
            </a:pPr>
            <a:r>
              <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5. 按哈希值重新分配原桶数据</a:t>
            </a:r>
            <a:endParaRPr lang="en-US"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marL="0" indent="0" algn="l" defTabSz="0" rtl="0" eaLnBrk="1" latinLnBrk="0" hangingPunct="1">
              <a:spcBef>
                <a:spcPct val="0"/>
              </a:spcBef>
              <a:spcAft>
                <a:spcPct val="0"/>
              </a:spcAft>
              <a:buSzTx/>
              <a:buNone/>
            </a:pPr>
            <a:r>
              <a:rPr lang="en-US" altLang="zh-CN" sz="1600">
                <a:solidFill>
                  <a:schemeClr val="tx1"/>
                </a:solidFill>
                <a:sym typeface="+mn-ea"/>
              </a:rPr>
              <a:t>for (const auto &amp;[k, v] : bucket-&gt;GetItems())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auto hash_val = std::hash&lt;K&gt;{}(k);</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 根据哈希值在【新的局部深度】对应位上的值，决定放入哪个新桶</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if ((hash_val &gt;&gt; (local_depth - 1)) &amp; 1)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bucket1-&gt;Insert(k, v); // 该位为1，放入 bucket1</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 else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bucket0-&gt;Insert(k, v); // 该位为0，放入 bucket0</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    }</a:t>
            </a: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a:t>
            </a:r>
            <a:endParaRPr lang="en-US" altLang="zh-CN" sz="1600">
              <a:solidFill>
                <a:schemeClr val="tx1"/>
              </a:solidFill>
              <a:sym typeface="+mn-ea"/>
            </a:endParaRPr>
          </a:p>
          <a:p>
            <a:pPr marL="0" indent="0" algn="l" defTabSz="0" rtl="0" eaLnBrk="1" latinLnBrk="0" hangingPunct="1">
              <a:spcBef>
                <a:spcPct val="0"/>
              </a:spcBef>
              <a:spcAft>
                <a:spcPct val="0"/>
              </a:spcAft>
              <a:buSzTx/>
              <a:buNone/>
            </a:pPr>
            <a:endParaRPr lang="en-US" altLang="zh-CN" sz="1600">
              <a:solidFill>
                <a:schemeClr val="tx1"/>
              </a:solidFill>
              <a:sym typeface="+mn-ea"/>
            </a:endParaRPr>
          </a:p>
          <a:p>
            <a:pPr marL="0" indent="0" algn="l" defTabSz="0" rtl="0" eaLnBrk="1" latinLnBrk="0" hangingPunct="1">
              <a:spcBef>
                <a:spcPct val="0"/>
              </a:spcBef>
              <a:spcAft>
                <a:spcPct val="0"/>
              </a:spcAft>
              <a:buSzTx/>
              <a:buNone/>
            </a:pPr>
            <a:r>
              <a:rPr lang="en-US" altLang="zh-CN" sz="1600">
                <a:solidFill>
                  <a:schemeClr val="tx1"/>
                </a:solidFill>
                <a:sym typeface="+mn-ea"/>
              </a:rPr>
              <a:t>遍历原桶中的所有元素，根据哈希值在【新的局部深度位】（第 local_depth 位）上是0还是1，将数据拆分到两个新桶中。</a:t>
            </a:r>
            <a:endParaRPr lang="en-US" sz="1600">
              <a:solidFill>
                <a:schemeClr val="tx1"/>
              </a:solidFill>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LRU-K替换算法解析</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LRU-K</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算法作用</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345" y="914400"/>
            <a:ext cx="7658100" cy="5689638"/>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LRU-K Replacer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数据成员</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endParaRPr>
          </a:p>
        </p:txBody>
      </p:sp>
      <p:sp>
        <p:nvSpPr>
          <p:cNvPr id="15" name="文本框 14"/>
          <p:cNvSpPr txBox="1"/>
          <p:nvPr userDrawn="1"/>
        </p:nvSpPr>
        <p:spPr>
          <a:xfrm>
            <a:off x="459740" y="1492885"/>
            <a:ext cx="3414395" cy="991235"/>
          </a:xfrm>
          <a:prstGeom prst="rect">
            <a:avLst/>
          </a:prstGeom>
        </p:spPr>
        <p:txBody>
          <a:bodyPr wrap="square" rtlCol="0">
            <a:noAutofit/>
          </a:bodyPr>
          <a:p>
            <a:pPr>
              <a:lnSpc>
                <a:spcPct val="150000"/>
              </a:lnSpc>
            </a:pPr>
            <a:r>
              <a:rPr lang="zh-CN" altLang="en-US" sz="1600" dirty="0"/>
              <a:t>负责在缓冲池中跟踪</a:t>
            </a:r>
            <a:r>
              <a:rPr lang="en-US" altLang="en-US" sz="1600" dirty="0"/>
              <a:t>⻚⾯</a:t>
            </a:r>
            <a:r>
              <a:rPr lang="zh-CN" altLang="en-US" sz="1600" dirty="0"/>
              <a:t>的使</a:t>
            </a:r>
            <a:r>
              <a:rPr lang="en-US" altLang="en-US" sz="1600" dirty="0"/>
              <a:t>⽤</a:t>
            </a:r>
            <a:endParaRPr lang="zh-CN" altLang="en-US" sz="1600" dirty="0"/>
          </a:p>
          <a:p>
            <a:pPr>
              <a:lnSpc>
                <a:spcPct val="150000"/>
              </a:lnSpc>
            </a:pPr>
            <a:endParaRPr lang="zh-CN" altLang="en-US" sz="1600" dirty="0"/>
          </a:p>
        </p:txBody>
      </p:sp>
      <p:sp>
        <p:nvSpPr>
          <p:cNvPr id="8" name="文本框 7"/>
          <p:cNvSpPr txBox="1"/>
          <p:nvPr/>
        </p:nvSpPr>
        <p:spPr>
          <a:xfrm>
            <a:off x="418465" y="2098782"/>
            <a:ext cx="2584450" cy="460375"/>
          </a:xfrm>
          <a:prstGeom prst="rect">
            <a:avLst/>
          </a:prstGeom>
          <a:noFill/>
        </p:spPr>
        <p:txBody>
          <a:bodyPr wrap="square" rtlCol="0">
            <a:spAutoFit/>
          </a:bodyPr>
          <a:p>
            <a:pPr>
              <a:lnSpc>
                <a:spcPct val="120000"/>
              </a:lnSpc>
              <a:buClrTx/>
              <a:buSzTx/>
              <a:buFontTx/>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K-distance计算策略：</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6" name="文本框 15"/>
          <p:cNvSpPr txBox="1"/>
          <p:nvPr/>
        </p:nvSpPr>
        <p:spPr>
          <a:xfrm>
            <a:off x="495300" y="2635357"/>
            <a:ext cx="3089910" cy="979601"/>
          </a:xfrm>
          <a:prstGeom prst="rect">
            <a:avLst/>
          </a:prstGeom>
          <a:noFill/>
        </p:spPr>
        <p:txBody>
          <a:bodyPr wrap="square" rtlCol="0">
            <a:noAutofit/>
          </a:bodyPr>
          <a:p>
            <a:pPr>
              <a:lnSpc>
                <a:spcPct val="120000"/>
              </a:lnSpc>
              <a:buClrTx/>
              <a:buSzTx/>
              <a:buFontTx/>
            </a:pPr>
            <a:r>
              <a:rPr lang="zh-CN" altLang="en-US" sz="1600" dirty="0"/>
              <a:t>• 访问次数&lt;K → distance=∞</a:t>
            </a:r>
            <a:endParaRPr lang="zh-CN" altLang="en-US" sz="1600" dirty="0"/>
          </a:p>
          <a:p>
            <a:pPr>
              <a:lnSpc>
                <a:spcPct val="120000"/>
              </a:lnSpc>
              <a:buClrTx/>
              <a:buSzTx/>
              <a:buFontTx/>
            </a:pPr>
            <a:r>
              <a:rPr lang="zh-CN" altLang="en-US" sz="1600" dirty="0"/>
              <a:t>• 访问次数≥K → distance=当前时间-第K次访问时间</a:t>
            </a:r>
            <a:endParaRPr lang="zh-CN" altLang="en-US" sz="1600" dirty="0"/>
          </a:p>
          <a:p>
            <a:pPr>
              <a:lnSpc>
                <a:spcPct val="120000"/>
              </a:lnSpc>
              <a:buClrTx/>
              <a:buSzTx/>
              <a:buFontTx/>
            </a:pPr>
            <a:endParaRPr lang="zh-CN" altLang="en-US" sz="1600" dirty="0"/>
          </a:p>
        </p:txBody>
      </p:sp>
      <p:graphicFrame>
        <p:nvGraphicFramePr>
          <p:cNvPr id="18" name="表格 17"/>
          <p:cNvGraphicFramePr/>
          <p:nvPr>
            <p:custDataLst>
              <p:tags r:id="rId2"/>
            </p:custDataLst>
          </p:nvPr>
        </p:nvGraphicFramePr>
        <p:xfrm>
          <a:off x="4985192" y="1492885"/>
          <a:ext cx="6602730" cy="2858770"/>
        </p:xfrm>
        <a:graphic>
          <a:graphicData uri="http://schemas.openxmlformats.org/drawingml/2006/table">
            <a:tbl>
              <a:tblPr firstRow="1" bandRow="1">
                <a:tableStyleId>{5C22544A-7EE6-4342-B048-85BDC9FD1C3A}</a:tableStyleId>
              </a:tblPr>
              <a:tblGrid>
                <a:gridCol w="2200910"/>
                <a:gridCol w="2200910"/>
                <a:gridCol w="2200910"/>
              </a:tblGrid>
              <a:tr h="297180">
                <a:tc>
                  <a:txBody>
                    <a:bodyPr/>
                    <a:p>
                      <a:pPr algn="ctr">
                        <a:lnSpc>
                          <a:spcPts val="1250"/>
                        </a:lnSpc>
                      </a:pPr>
                      <a:r>
                        <a:rPr lang="zh-CN" altLang="en-US" sz="1200" b="1" i="0">
                          <a:solidFill>
                            <a:schemeClr val="bg1"/>
                          </a:solidFill>
                          <a:latin typeface="quote-cjk-patch"/>
                          <a:ea typeface="quote-cjk-patch"/>
                        </a:rPr>
                        <a:t>数据成员</a:t>
                      </a:r>
                      <a:endParaRPr lang="zh-CN" altLang="en-US" sz="1200" b="1" i="0">
                        <a:solidFill>
                          <a:schemeClr val="bg1"/>
                        </a:solidFill>
                        <a:latin typeface="quote-cjk-patch"/>
                        <a:ea typeface="quote-cjk-patch"/>
                      </a:endParaRPr>
                    </a:p>
                  </a:txBody>
                  <a:tcPr marL="0" marR="101917" marT="63817" marB="63817" anchor="ctr" anchorCtr="0"/>
                </a:tc>
                <a:tc>
                  <a:txBody>
                    <a:bodyPr/>
                    <a:p>
                      <a:pPr algn="ctr">
                        <a:lnSpc>
                          <a:spcPts val="1250"/>
                        </a:lnSpc>
                      </a:pPr>
                      <a:r>
                        <a:rPr lang="zh-CN" altLang="en-US" sz="1200" b="1" i="0">
                          <a:solidFill>
                            <a:schemeClr val="bg1"/>
                          </a:solidFill>
                          <a:latin typeface="quote-cjk-patch"/>
                          <a:ea typeface="quote-cjk-patch"/>
                        </a:rPr>
                        <a:t>类型</a:t>
                      </a:r>
                      <a:endParaRPr lang="zh-CN" altLang="en-US" sz="1200" b="1" i="0">
                        <a:solidFill>
                          <a:schemeClr val="bg1"/>
                        </a:solidFill>
                        <a:latin typeface="quote-cjk-patch"/>
                        <a:ea typeface="quote-cjk-patch"/>
                      </a:endParaRPr>
                    </a:p>
                  </a:txBody>
                  <a:tcPr marL="101917" marR="101917" marT="63817" marB="63817" anchor="ctr" anchorCtr="0"/>
                </a:tc>
                <a:tc>
                  <a:txBody>
                    <a:bodyPr/>
                    <a:p>
                      <a:pPr algn="ctr">
                        <a:lnSpc>
                          <a:spcPts val="1250"/>
                        </a:lnSpc>
                      </a:pPr>
                      <a:r>
                        <a:rPr lang="zh-CN" altLang="en-US" sz="1200" b="1" i="0">
                          <a:solidFill>
                            <a:schemeClr val="bg1"/>
                          </a:solidFill>
                          <a:latin typeface="quote-cjk-patch"/>
                          <a:ea typeface="quote-cjk-patch"/>
                        </a:rPr>
                        <a:t>关键作用</a:t>
                      </a:r>
                      <a:endParaRPr lang="zh-CN" altLang="en-US" sz="1200" b="1" i="0">
                        <a:solidFill>
                          <a:schemeClr val="bg1"/>
                        </a:solidFill>
                        <a:latin typeface="quote-cjk-patch"/>
                        <a:ea typeface="quote-cjk-patch"/>
                      </a:endParaRPr>
                    </a:p>
                  </a:txBody>
                  <a:tcPr marL="101917" marR="101917" marT="63817" marB="63817" anchor="ctr" anchorCtr="0"/>
                </a:tc>
              </a:tr>
              <a:tr h="444500">
                <a:tc>
                  <a:txBody>
                    <a:bodyPr/>
                    <a:p>
                      <a:pPr algn="ctr">
                        <a:lnSpc>
                          <a:spcPts val="1100"/>
                        </a:lnSpc>
                      </a:pPr>
                      <a:r>
                        <a:rPr lang="zh-CN" altLang="en-US" sz="1600" b="0" i="0" dirty="0">
                          <a:solidFill>
                            <a:schemeClr val="tx1"/>
                          </a:solidFill>
                        </a:rPr>
                        <a:t>frame_table_</a:t>
                      </a:r>
                      <a:endParaRPr lang="zh-CN" altLang="en-US" sz="1600" b="0" i="0" dirty="0">
                        <a:solidFill>
                          <a:schemeClr val="tx1"/>
                        </a:solidFill>
                      </a:endParaRPr>
                    </a:p>
                  </a:txBody>
                  <a:tcPr marL="0" marR="101917" marT="63817" marB="63817" anchor="ctr" anchorCtr="0"/>
                </a:tc>
                <a:tc>
                  <a:txBody>
                    <a:bodyPr/>
                    <a:p>
                      <a:pPr algn="ctr">
                        <a:lnSpc>
                          <a:spcPts val="1100"/>
                        </a:lnSpc>
                      </a:pPr>
                      <a:r>
                        <a:rPr lang="zh-CN" altLang="en-US" sz="1600" b="0" i="0" dirty="0">
                          <a:solidFill>
                            <a:schemeClr val="tx1"/>
                          </a:solidFill>
                        </a:rPr>
                        <a:t>unordered_map&lt;frame_id_t, FrameInfo&gt;</a:t>
                      </a:r>
                      <a:endParaRPr lang="zh-CN" altLang="en-US" sz="1600" b="0" i="0" dirty="0">
                        <a:solidFill>
                          <a:schemeClr val="tx1"/>
                        </a:solidFill>
                      </a:endParaRPr>
                    </a:p>
                  </a:txBody>
                  <a:tcPr marL="101917" marR="101917" marT="63817" marB="63817" anchor="ctr" anchorCtr="0"/>
                </a:tc>
                <a:tc>
                  <a:txBody>
                    <a:bodyPr/>
                    <a:p>
                      <a:pPr algn="ctr">
                        <a:lnSpc>
                          <a:spcPts val="1250"/>
                        </a:lnSpc>
                        <a:buClrTx/>
                        <a:buSzTx/>
                        <a:buFontTx/>
                      </a:pPr>
                      <a:r>
                        <a:rPr lang="zh-CN" altLang="en-US" sz="1100" b="0" i="0">
                          <a:solidFill>
                            <a:srgbClr val="0F1115"/>
                          </a:solidFill>
                          <a:latin typeface="quote-cjk-patch"/>
                          <a:ea typeface="quote-cjk-patch"/>
                        </a:rPr>
                        <a:t>核心存储。将帧ID映射到其详细的访问历史和状态。</a:t>
                      </a:r>
                      <a:endParaRPr lang="zh-CN" altLang="en-US" sz="1100" b="0" i="0">
                        <a:solidFill>
                          <a:srgbClr val="0F1115"/>
                        </a:solidFill>
                        <a:latin typeface="quote-cjk-patch"/>
                        <a:ea typeface="quote-cjk-patch"/>
                      </a:endParaRPr>
                    </a:p>
                  </a:txBody>
                  <a:tcPr marL="101917" marR="0" marT="63817" marB="63817" anchor="ctr" anchorCtr="0"/>
                </a:tc>
              </a:tr>
              <a:tr h="444500">
                <a:tc>
                  <a:txBody>
                    <a:bodyPr/>
                    <a:p>
                      <a:pPr algn="ctr">
                        <a:lnSpc>
                          <a:spcPts val="1100"/>
                        </a:lnSpc>
                        <a:buNone/>
                      </a:pPr>
                      <a:r>
                        <a:rPr lang="en-US" altLang="zh-CN" sz="1600" b="0" i="0" dirty="0">
                          <a:solidFill>
                            <a:schemeClr val="tx1"/>
                          </a:solidFill>
                        </a:rPr>
                        <a:t>curr_size_</a:t>
                      </a:r>
                      <a:endParaRPr lang="en-US" altLang="zh-CN" sz="1600" b="0" i="0" dirty="0">
                        <a:solidFill>
                          <a:schemeClr val="tx1"/>
                        </a:solidFill>
                      </a:endParaRPr>
                    </a:p>
                  </a:txBody>
                  <a:tcPr marL="0" marR="101917" marT="63817" marB="63817" anchor="ctr" anchorCtr="0"/>
                </a:tc>
                <a:tc>
                  <a:txBody>
                    <a:bodyPr/>
                    <a:p>
                      <a:pPr algn="ctr">
                        <a:lnSpc>
                          <a:spcPts val="1100"/>
                        </a:lnSpc>
                        <a:buNone/>
                      </a:pPr>
                      <a:r>
                        <a:rPr lang="en-US" altLang="zh-CN" sz="1600" b="0" i="0" dirty="0">
                          <a:solidFill>
                            <a:schemeClr val="tx1"/>
                          </a:solidFill>
                        </a:rPr>
                        <a:t>size_t</a:t>
                      </a:r>
                      <a:endParaRPr lang="en-US" altLang="zh-CN" sz="1600" b="0" i="0" dirty="0">
                        <a:solidFill>
                          <a:schemeClr val="tx1"/>
                        </a:solidFill>
                      </a:endParaRPr>
                    </a:p>
                  </a:txBody>
                  <a:tcPr marL="101917" marR="101917" marT="63817" marB="63817" anchor="ctr" anchorCtr="0"/>
                </a:tc>
                <a:tc>
                  <a:txBody>
                    <a:bodyPr/>
                    <a:p>
                      <a:pPr algn="ctr">
                        <a:lnSpc>
                          <a:spcPts val="1250"/>
                        </a:lnSpc>
                        <a:buClrTx/>
                        <a:buSzTx/>
                        <a:buFontTx/>
                        <a:buNone/>
                      </a:pPr>
                      <a:r>
                        <a:rPr lang="zh-CN" altLang="en-US" sz="1100" b="0" i="0">
                          <a:solidFill>
                            <a:srgbClr val="0F1115"/>
                          </a:solidFill>
                          <a:latin typeface="quote-cjk-patch"/>
                          <a:ea typeface="quote-cjk-patch"/>
                        </a:rPr>
                        <a:t>当前可淘汰帧的数量（</a:t>
                      </a:r>
                      <a:r>
                        <a:rPr lang="en-US" altLang="zh-CN" sz="1100" b="0" i="0">
                          <a:solidFill>
                            <a:srgbClr val="0F1115"/>
                          </a:solidFill>
                          <a:latin typeface="quote-cjk-patch"/>
                          <a:ea typeface="quote-cjk-patch"/>
                        </a:rPr>
                        <a:t>evictable</a:t>
                      </a:r>
                      <a:r>
                        <a:rPr lang="zh-CN" altLang="en-US" sz="1100" b="0" i="0">
                          <a:solidFill>
                            <a:srgbClr val="0F1115"/>
                          </a:solidFill>
                          <a:latin typeface="quote-cjk-patch"/>
                          <a:ea typeface="quote-cjk-patch"/>
                        </a:rPr>
                        <a:t>帧数）</a:t>
                      </a:r>
                      <a:endParaRPr lang="zh-CN" altLang="en-US" sz="1100" b="0" i="0">
                        <a:solidFill>
                          <a:srgbClr val="0F1115"/>
                        </a:solidFill>
                        <a:latin typeface="quote-cjk-patch"/>
                        <a:ea typeface="quote-cjk-patch"/>
                      </a:endParaRPr>
                    </a:p>
                  </a:txBody>
                  <a:tcPr marL="101917" marR="0" marT="63817" marB="63817" anchor="ctr" anchorCtr="0"/>
                </a:tc>
              </a:tr>
              <a:tr h="497840">
                <a:tc>
                  <a:txBody>
                    <a:bodyPr/>
                    <a:p>
                      <a:pPr indent="0" algn="ctr">
                        <a:buNone/>
                      </a:pPr>
                      <a:r>
                        <a:rPr lang="en-US" sz="1600" b="0" dirty="0">
                          <a:solidFill>
                            <a:schemeClr val="tx1"/>
                          </a:solidFill>
                        </a:rPr>
                        <a:t>r</a:t>
                      </a:r>
                      <a:r>
                        <a:rPr lang="en-US" sz="1600" b="0" dirty="0">
                          <a:solidFill>
                            <a:schemeClr val="tx1"/>
                          </a:solidFill>
                        </a:rPr>
                        <a:t>eplacer_size_</a:t>
                      </a:r>
                      <a:endParaRPr lang="zh-CN" altLang="en-US" sz="1600" b="0" dirty="0">
                        <a:solidFill>
                          <a:schemeClr val="tx1"/>
                        </a:solidFill>
                      </a:endParaRPr>
                    </a:p>
                  </a:txBody>
                  <a:tcPr marL="0" marR="203200" marT="127000" marB="127000"/>
                </a:tc>
                <a:tc>
                  <a:txBody>
                    <a:bodyPr/>
                    <a:p>
                      <a:pPr algn="ctr">
                        <a:lnSpc>
                          <a:spcPts val="1100"/>
                        </a:lnSpc>
                      </a:pPr>
                      <a:r>
                        <a:rPr lang="en-US" altLang="zh-CN" sz="1600" b="0" i="0" dirty="0">
                          <a:solidFill>
                            <a:schemeClr val="tx1"/>
                          </a:solidFill>
                        </a:rPr>
                        <a:t>size_t</a:t>
                      </a:r>
                      <a:endParaRPr lang="en-US" altLang="zh-CN" sz="1600" b="0" i="0" dirty="0">
                        <a:solidFill>
                          <a:schemeClr val="tx1"/>
                        </a:solidFill>
                      </a:endParaRPr>
                    </a:p>
                  </a:txBody>
                  <a:tcPr marL="203200" marR="203200" marT="127000" marB="127000"/>
                </a:tc>
                <a:tc>
                  <a:txBody>
                    <a:bodyPr/>
                    <a:p>
                      <a:pPr algn="ctr">
                        <a:lnSpc>
                          <a:spcPts val="1250"/>
                        </a:lnSpc>
                        <a:buClrTx/>
                        <a:buSzTx/>
                        <a:buFontTx/>
                      </a:pPr>
                      <a:r>
                        <a:rPr lang="zh-CN" altLang="en-US" sz="1100" b="0" i="0">
                          <a:solidFill>
                            <a:srgbClr val="0F1115"/>
                          </a:solidFill>
                          <a:latin typeface="quote-cjk-patch"/>
                          <a:ea typeface="quote-cjk-patch"/>
                        </a:rPr>
                        <a:t>缓冲池总帧数（最大容量）</a:t>
                      </a:r>
                      <a:endParaRPr lang="zh-CN" altLang="en-US" sz="1100" b="0" i="0">
                        <a:solidFill>
                          <a:srgbClr val="0F1115"/>
                        </a:solidFill>
                        <a:latin typeface="quote-cjk-patch"/>
                        <a:ea typeface="quote-cjk-patch"/>
                      </a:endParaRPr>
                    </a:p>
                  </a:txBody>
                  <a:tcPr marL="101917" marR="0" marT="63817" marB="63817" anchor="ctr" anchorCtr="0"/>
                </a:tc>
              </a:tr>
              <a:tr h="444500">
                <a:tc>
                  <a:txBody>
                    <a:bodyPr/>
                    <a:p>
                      <a:pPr algn="ctr">
                        <a:lnSpc>
                          <a:spcPts val="1100"/>
                        </a:lnSpc>
                      </a:pPr>
                      <a:r>
                        <a:rPr lang="zh-CN" altLang="en-US" sz="1600" b="0" i="0" dirty="0">
                          <a:solidFill>
                            <a:schemeClr val="tx1"/>
                          </a:solidFill>
                        </a:rPr>
                        <a:t>current_timestamp_</a:t>
                      </a:r>
                      <a:endParaRPr lang="zh-CN" altLang="en-US" sz="1600" b="0" i="0" dirty="0">
                        <a:solidFill>
                          <a:schemeClr val="tx1"/>
                        </a:solidFill>
                      </a:endParaRPr>
                    </a:p>
                  </a:txBody>
                  <a:tcPr marL="0" marR="101917" marT="63817" marB="63817" anchor="ctr" anchorCtr="0"/>
                </a:tc>
                <a:tc>
                  <a:txBody>
                    <a:bodyPr/>
                    <a:p>
                      <a:pPr algn="ctr">
                        <a:lnSpc>
                          <a:spcPts val="1100"/>
                        </a:lnSpc>
                      </a:pPr>
                      <a:r>
                        <a:rPr lang="zh-CN" altLang="en-US" sz="1600" b="0" i="0" dirty="0">
                          <a:solidFill>
                            <a:schemeClr val="tx1"/>
                          </a:solidFill>
                        </a:rPr>
                        <a:t>size_t</a:t>
                      </a:r>
                      <a:endParaRPr lang="zh-CN" altLang="en-US" sz="1600" b="0" i="0" dirty="0">
                        <a:solidFill>
                          <a:schemeClr val="tx1"/>
                        </a:solidFill>
                      </a:endParaRPr>
                    </a:p>
                  </a:txBody>
                  <a:tcPr marL="101917" marR="101917" marT="63817" marB="63817" anchor="ctr" anchorCtr="0"/>
                </a:tc>
                <a:tc>
                  <a:txBody>
                    <a:bodyPr/>
                    <a:p>
                      <a:pPr algn="ctr">
                        <a:lnSpc>
                          <a:spcPts val="1250"/>
                        </a:lnSpc>
                        <a:buClrTx/>
                        <a:buSzTx/>
                        <a:buFontTx/>
                      </a:pPr>
                      <a:r>
                        <a:rPr lang="zh-CN" altLang="en-US" sz="1100" b="0" i="0">
                          <a:solidFill>
                            <a:srgbClr val="0F1115"/>
                          </a:solidFill>
                          <a:latin typeface="quote-cjk-patch"/>
                          <a:ea typeface="quote-cjk-patch"/>
                        </a:rPr>
                        <a:t>全局逻辑时钟。每次访问递增，用于生成时间戳，比较访问先后。</a:t>
                      </a:r>
                      <a:endParaRPr lang="zh-CN" altLang="en-US" sz="1100" b="0" i="0">
                        <a:solidFill>
                          <a:srgbClr val="0F1115"/>
                        </a:solidFill>
                        <a:latin typeface="quote-cjk-patch"/>
                        <a:ea typeface="quote-cjk-patch"/>
                      </a:endParaRPr>
                    </a:p>
                  </a:txBody>
                  <a:tcPr marL="101917" marR="0" marT="63817" marB="63817" anchor="ctr" anchorCtr="0"/>
                </a:tc>
              </a:tr>
              <a:tr h="444500">
                <a:tc>
                  <a:txBody>
                    <a:bodyPr/>
                    <a:p>
                      <a:pPr algn="ctr">
                        <a:lnSpc>
                          <a:spcPts val="1100"/>
                        </a:lnSpc>
                      </a:pPr>
                      <a:r>
                        <a:rPr lang="zh-CN" altLang="en-US" sz="1600" b="0" i="0" dirty="0">
                          <a:solidFill>
                            <a:schemeClr val="tx1"/>
                          </a:solidFill>
                        </a:rPr>
                        <a:t>k_</a:t>
                      </a:r>
                      <a:endParaRPr lang="zh-CN" altLang="en-US" sz="1600" b="0" i="0" dirty="0">
                        <a:solidFill>
                          <a:schemeClr val="tx1"/>
                        </a:solidFill>
                      </a:endParaRPr>
                    </a:p>
                  </a:txBody>
                  <a:tcPr marL="0" marR="101917" marT="63817" marB="63817" anchor="ctr" anchorCtr="0"/>
                </a:tc>
                <a:tc>
                  <a:txBody>
                    <a:bodyPr/>
                    <a:p>
                      <a:pPr algn="ctr">
                        <a:lnSpc>
                          <a:spcPts val="1100"/>
                        </a:lnSpc>
                      </a:pPr>
                      <a:r>
                        <a:rPr lang="zh-CN" altLang="en-US" sz="1600" b="0" i="0" dirty="0">
                          <a:solidFill>
                            <a:schemeClr val="tx1"/>
                          </a:solidFill>
                        </a:rPr>
                        <a:t>size_t</a:t>
                      </a:r>
                      <a:endParaRPr lang="zh-CN" altLang="en-US" sz="1600" b="0" i="0" dirty="0">
                        <a:solidFill>
                          <a:schemeClr val="tx1"/>
                        </a:solidFill>
                      </a:endParaRPr>
                    </a:p>
                  </a:txBody>
                  <a:tcPr marL="101917" marR="101917" marT="63817" marB="63817" anchor="ctr" anchorCtr="0"/>
                </a:tc>
                <a:tc>
                  <a:txBody>
                    <a:bodyPr/>
                    <a:p>
                      <a:pPr algn="ctr">
                        <a:lnSpc>
                          <a:spcPts val="1250"/>
                        </a:lnSpc>
                        <a:buClrTx/>
                        <a:buSzTx/>
                        <a:buFontTx/>
                      </a:pPr>
                      <a:r>
                        <a:rPr lang="zh-CN" altLang="en-US" sz="1100" b="0" i="0">
                          <a:solidFill>
                            <a:srgbClr val="0F1115"/>
                          </a:solidFill>
                          <a:latin typeface="quote-cjk-patch"/>
                          <a:ea typeface="quote-cjk-patch"/>
                        </a:rPr>
                        <a:t>历史深度参数。决定需要考察多少次历史访问。</a:t>
                      </a:r>
                      <a:endParaRPr lang="zh-CN" altLang="en-US" sz="1100" b="0" i="0">
                        <a:solidFill>
                          <a:srgbClr val="0F1115"/>
                        </a:solidFill>
                        <a:latin typeface="quote-cjk-patch"/>
                        <a:ea typeface="quote-cjk-patch"/>
                      </a:endParaRPr>
                    </a:p>
                  </a:txBody>
                  <a:tcPr marL="101917" marR="0" marT="63817" marB="63817" anchor="ctr" anchorCtr="0"/>
                </a:tc>
              </a:tr>
              <a:tr h="285750">
                <a:tc>
                  <a:txBody>
                    <a:bodyPr/>
                    <a:p>
                      <a:pPr algn="ctr">
                        <a:lnSpc>
                          <a:spcPts val="1100"/>
                        </a:lnSpc>
                        <a:buNone/>
                      </a:pPr>
                      <a:r>
                        <a:rPr lang="en-US" altLang="zh-CN" sz="1600" b="0" i="0" dirty="0">
                          <a:solidFill>
                            <a:schemeClr val="tx1"/>
                          </a:solidFill>
                        </a:rPr>
                        <a:t>latch_</a:t>
                      </a:r>
                      <a:endParaRPr lang="en-US" altLang="zh-CN" sz="1600" b="0" i="0" dirty="0">
                        <a:solidFill>
                          <a:schemeClr val="tx1"/>
                        </a:solidFill>
                      </a:endParaRPr>
                    </a:p>
                  </a:txBody>
                  <a:tcPr marL="0" marR="101917" marT="63817" marB="63817" anchor="ctr" anchorCtr="0"/>
                </a:tc>
                <a:tc>
                  <a:txBody>
                    <a:bodyPr/>
                    <a:p>
                      <a:pPr algn="ctr">
                        <a:lnSpc>
                          <a:spcPts val="1100"/>
                        </a:lnSpc>
                        <a:buNone/>
                      </a:pPr>
                      <a:r>
                        <a:rPr lang="en-US" altLang="zh-CN" sz="1600" b="0" i="0" dirty="0">
                          <a:solidFill>
                            <a:schemeClr val="tx1"/>
                          </a:solidFill>
                        </a:rPr>
                        <a:t>std::mutex</a:t>
                      </a:r>
                      <a:endParaRPr lang="en-US" altLang="zh-CN" sz="1600" b="0" i="0" dirty="0">
                        <a:solidFill>
                          <a:schemeClr val="tx1"/>
                        </a:solidFill>
                      </a:endParaRPr>
                    </a:p>
                  </a:txBody>
                  <a:tcPr marL="101917" marR="101917" marT="63817" marB="63817" anchor="ctr" anchorCtr="0"/>
                </a:tc>
                <a:tc>
                  <a:txBody>
                    <a:bodyPr/>
                    <a:p>
                      <a:pPr algn="ctr">
                        <a:lnSpc>
                          <a:spcPts val="1250"/>
                        </a:lnSpc>
                        <a:buClrTx/>
                        <a:buSzTx/>
                        <a:buFontTx/>
                        <a:buNone/>
                      </a:pPr>
                      <a:r>
                        <a:rPr lang="zh-CN" altLang="en-US" sz="1100" b="0" i="0">
                          <a:solidFill>
                            <a:srgbClr val="0F1115"/>
                          </a:solidFill>
                          <a:latin typeface="quote-cjk-patch"/>
                          <a:ea typeface="quote-cjk-patch"/>
                        </a:rPr>
                        <a:t>互斥锁，保证多线程访问安全</a:t>
                      </a:r>
                      <a:endParaRPr lang="zh-CN" altLang="en-US" sz="1100" b="0" i="0">
                        <a:solidFill>
                          <a:srgbClr val="0F1115"/>
                        </a:solidFill>
                        <a:latin typeface="quote-cjk-patch"/>
                        <a:ea typeface="quote-cjk-patch"/>
                      </a:endParaRPr>
                    </a:p>
                  </a:txBody>
                  <a:tcPr marL="101917" marR="0" marT="63817" marB="63817" anchor="ctr" anchorCtr="0"/>
                </a:tc>
              </a:tr>
            </a:tbl>
          </a:graphicData>
        </a:graphic>
      </p:graphicFrame>
      <p:graphicFrame>
        <p:nvGraphicFramePr>
          <p:cNvPr id="7" name="表格 6"/>
          <p:cNvGraphicFramePr/>
          <p:nvPr/>
        </p:nvGraphicFramePr>
        <p:xfrm>
          <a:off x="4985192" y="5069840"/>
          <a:ext cx="6602730" cy="1290320"/>
        </p:xfrm>
        <a:graphic>
          <a:graphicData uri="http://schemas.openxmlformats.org/drawingml/2006/table">
            <a:tbl>
              <a:tblPr firstRow="1" bandRow="1">
                <a:tableStyleId>{5940675A-B579-460E-94D1-54222C63F5DA}</a:tableStyleId>
              </a:tblPr>
              <a:tblGrid>
                <a:gridCol w="2200910"/>
                <a:gridCol w="2177415"/>
                <a:gridCol w="2224405"/>
              </a:tblGrid>
              <a:tr h="436880">
                <a:tc>
                  <a:txBody>
                    <a:bodyPr/>
                    <a:p>
                      <a:pPr marL="0" indent="0" algn="ctr" defTabSz="0" rtl="0" eaLnBrk="1" latinLnBrk="0" hangingPunct="1">
                        <a:lnSpc>
                          <a:spcPct val="100000"/>
                        </a:lnSpc>
                        <a:spcBef>
                          <a:spcPct val="0"/>
                        </a:spcBef>
                        <a:spcAft>
                          <a:spcPct val="0"/>
                        </a:spcAft>
                        <a:buNone/>
                      </a:pPr>
                      <a:r>
                        <a:rPr lang="zh-CN" sz="1200" b="1">
                          <a:solidFill>
                            <a:schemeClr val="bg1"/>
                          </a:solidFill>
                          <a:latin typeface="quote-cjk-patch" charset="0"/>
                          <a:ea typeface="quote-cjk-patch" charset="0"/>
                        </a:rPr>
                        <a:t>成员</a:t>
                      </a:r>
                      <a:endParaRPr lang="zh-CN" altLang="en-US" sz="1200" b="1">
                        <a:solidFill>
                          <a:schemeClr val="bg1"/>
                        </a:solidFill>
                        <a:latin typeface="quote-cjk-patch" charset="0"/>
                        <a:ea typeface="quote-cjk-patch" charset="0"/>
                      </a:endParaRPr>
                    </a:p>
                  </a:txBody>
                  <a:tcPr marL="0" marR="203200" marT="127000" marB="127000">
                    <a:lnL>
                      <a:noFill/>
                    </a:lnL>
                    <a:lnR>
                      <a:noFill/>
                    </a:lnR>
                    <a:lnT>
                      <a:noFill/>
                    </a:lnT>
                    <a:lnB w="28575" cmpd="sng">
                      <a:solidFill>
                        <a:schemeClr val="bg1">
                          <a:alpha val="100000"/>
                        </a:schemeClr>
                      </a:solidFill>
                      <a:prstDash val="solid"/>
                      <a:miter lim="800000"/>
                    </a:lnB>
                    <a:solidFill>
                      <a:schemeClr val="accent1">
                        <a:alpha val="100000"/>
                      </a:schemeClr>
                    </a:solidFill>
                  </a:tcPr>
                </a:tc>
                <a:tc>
                  <a:txBody>
                    <a:bodyPr/>
                    <a:p>
                      <a:pPr marL="0" indent="0" algn="ctr" defTabSz="0" rtl="0" eaLnBrk="1" latinLnBrk="0" hangingPunct="1">
                        <a:lnSpc>
                          <a:spcPct val="100000"/>
                        </a:lnSpc>
                        <a:spcBef>
                          <a:spcPct val="0"/>
                        </a:spcBef>
                        <a:spcAft>
                          <a:spcPct val="0"/>
                        </a:spcAft>
                        <a:buNone/>
                      </a:pPr>
                      <a:r>
                        <a:rPr lang="zh-CN" altLang="en-US" sz="1200" b="1">
                          <a:solidFill>
                            <a:schemeClr val="bg1"/>
                          </a:solidFill>
                          <a:latin typeface="quote-cjk-patch" charset="0"/>
                          <a:ea typeface="quote-cjk-patch" charset="0"/>
                        </a:rPr>
                        <a:t>类型</a:t>
                      </a:r>
                      <a:endParaRPr lang="zh-CN" altLang="en-US" sz="1200" b="1">
                        <a:solidFill>
                          <a:schemeClr val="bg1"/>
                        </a:solidFill>
                        <a:latin typeface="quote-cjk-patch" charset="0"/>
                        <a:ea typeface="quote-cjk-patch" charset="0"/>
                      </a:endParaRPr>
                    </a:p>
                  </a:txBody>
                  <a:tcPr anchor="ctr">
                    <a:lnL>
                      <a:noFill/>
                    </a:lnL>
                    <a:lnR>
                      <a:noFill/>
                    </a:lnR>
                    <a:lnT>
                      <a:noFill/>
                    </a:lnT>
                    <a:lnB w="28575" cmpd="sng">
                      <a:solidFill>
                        <a:schemeClr val="bg1">
                          <a:alpha val="100000"/>
                        </a:schemeClr>
                      </a:solidFill>
                      <a:prstDash val="solid"/>
                      <a:miter lim="800000"/>
                    </a:lnB>
                    <a:solidFill>
                      <a:schemeClr val="accent1">
                        <a:alpha val="100000"/>
                      </a:schemeClr>
                    </a:solidFill>
                  </a:tcPr>
                </a:tc>
                <a:tc>
                  <a:txBody>
                    <a:bodyPr/>
                    <a:p>
                      <a:pPr marL="0" indent="0" algn="ctr" defTabSz="0" rtl="0" eaLnBrk="1" latinLnBrk="0" hangingPunct="1">
                        <a:lnSpc>
                          <a:spcPct val="100000"/>
                        </a:lnSpc>
                        <a:spcBef>
                          <a:spcPct val="0"/>
                        </a:spcBef>
                        <a:spcAft>
                          <a:spcPct val="0"/>
                        </a:spcAft>
                        <a:buNone/>
                      </a:pPr>
                      <a:r>
                        <a:rPr lang="zh-CN" altLang="en-US" sz="1200" b="1">
                          <a:solidFill>
                            <a:schemeClr val="bg1"/>
                          </a:solidFill>
                          <a:latin typeface="quote-cjk-patch" charset="0"/>
                          <a:ea typeface="quote-cjk-patch" charset="0"/>
                        </a:rPr>
                        <a:t>关键作用</a:t>
                      </a:r>
                      <a:endParaRPr lang="zh-CN" altLang="en-US" sz="1200" b="1">
                        <a:solidFill>
                          <a:schemeClr val="bg1"/>
                        </a:solidFill>
                        <a:latin typeface="quote-cjk-patch" charset="0"/>
                        <a:ea typeface="quote-cjk-patch" charset="0"/>
                      </a:endParaRPr>
                    </a:p>
                  </a:txBody>
                  <a:tcPr anchor="ctr">
                    <a:lnL>
                      <a:noFill/>
                    </a:lnL>
                    <a:lnR>
                      <a:noFill/>
                    </a:lnR>
                    <a:lnT>
                      <a:noFill/>
                    </a:lnT>
                    <a:lnB w="28575" cmpd="sng">
                      <a:solidFill>
                        <a:schemeClr val="bg1">
                          <a:alpha val="100000"/>
                        </a:schemeClr>
                      </a:solidFill>
                      <a:prstDash val="solid"/>
                      <a:miter lim="800000"/>
                    </a:lnB>
                    <a:solidFill>
                      <a:schemeClr val="accent1">
                        <a:alpha val="100000"/>
                      </a:schemeClr>
                    </a:solidFill>
                  </a:tcPr>
                </a:tc>
              </a:tr>
              <a:tr h="426720">
                <a:tc>
                  <a:txBody>
                    <a:bodyPr/>
                    <a:p>
                      <a:pPr algn="ctr">
                        <a:buNone/>
                      </a:pPr>
                      <a:r>
                        <a:rPr lang="en-US" altLang="zh-CN" sz="1100" b="0">
                          <a:solidFill>
                            <a:srgbClr val="0F1115"/>
                          </a:solidFill>
                          <a:latin typeface="quote-cjk-patch" charset="0"/>
                          <a:ea typeface="quote-cjk-patch" charset="0"/>
                        </a:rPr>
                        <a:t>history_</a:t>
                      </a:r>
                      <a:endParaRPr lang="en-US" altLang="zh-CN"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28575" cmpd="sng">
                      <a:solidFill>
                        <a:schemeClr val="bg1">
                          <a:alpha val="100000"/>
                        </a:schemeClr>
                      </a:solidFill>
                      <a:prstDash val="solid"/>
                      <a:miter lim="800000"/>
                    </a:lnT>
                    <a:lnB w="12700" cmpd="sng">
                      <a:solidFill>
                        <a:schemeClr val="bg1">
                          <a:alpha val="100000"/>
                        </a:schemeClr>
                      </a:solidFill>
                      <a:prstDash val="solid"/>
                      <a:round/>
                    </a:lnB>
                    <a:solidFill>
                      <a:schemeClr val="accent1">
                        <a:lumMod val="20000"/>
                        <a:lumOff val="80000"/>
                        <a:alpha val="100000"/>
                      </a:schemeClr>
                    </a:solidFill>
                  </a:tcPr>
                </a:tc>
                <a:tc>
                  <a:txBody>
                    <a:bodyPr/>
                    <a:p>
                      <a:pPr algn="ctr">
                        <a:buNone/>
                      </a:pPr>
                      <a:r>
                        <a:rPr lang="en-US" altLang="zh-CN" sz="1100" b="0">
                          <a:solidFill>
                            <a:srgbClr val="0F1115"/>
                          </a:solidFill>
                          <a:latin typeface="quote-cjk-patch" charset="0"/>
                          <a:ea typeface="quote-cjk-patch" charset="0"/>
                        </a:rPr>
                        <a:t>std::list&lt;size_t&gt;</a:t>
                      </a:r>
                      <a:endParaRPr lang="en-US" altLang="zh-CN"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28575" cmpd="sng">
                      <a:solidFill>
                        <a:schemeClr val="bg1">
                          <a:alpha val="100000"/>
                        </a:schemeClr>
                      </a:solidFill>
                      <a:prstDash val="solid"/>
                      <a:miter lim="800000"/>
                    </a:lnT>
                    <a:lnB w="12700" cmpd="sng">
                      <a:solidFill>
                        <a:schemeClr val="bg1">
                          <a:alpha val="100000"/>
                        </a:schemeClr>
                      </a:solidFill>
                      <a:prstDash val="solid"/>
                      <a:round/>
                    </a:lnB>
                    <a:solidFill>
                      <a:schemeClr val="accent1">
                        <a:lumMod val="20000"/>
                        <a:lumOff val="80000"/>
                        <a:alpha val="100000"/>
                      </a:schemeClr>
                    </a:solidFill>
                  </a:tcPr>
                </a:tc>
                <a:tc>
                  <a:txBody>
                    <a:bodyPr/>
                    <a:p>
                      <a:pPr algn="ctr">
                        <a:buNone/>
                      </a:pPr>
                      <a:r>
                        <a:rPr lang="zh-CN" altLang="en-US" sz="1100" b="0">
                          <a:solidFill>
                            <a:srgbClr val="0F1115"/>
                          </a:solidFill>
                          <a:latin typeface="quote-cjk-patch" charset="0"/>
                          <a:ea typeface="quote-cjk-patch" charset="0"/>
                        </a:rPr>
                        <a:t>存储该帧的访问时间戳列表（按访问顺序）</a:t>
                      </a:r>
                      <a:endParaRPr lang="zh-CN" altLang="en-US"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28575" cmpd="sng">
                      <a:solidFill>
                        <a:schemeClr val="bg1">
                          <a:alpha val="100000"/>
                        </a:schemeClr>
                      </a:solidFill>
                      <a:prstDash val="solid"/>
                      <a:miter lim="800000"/>
                    </a:lnT>
                    <a:lnB w="12700" cmpd="sng">
                      <a:solidFill>
                        <a:schemeClr val="bg1">
                          <a:alpha val="100000"/>
                        </a:schemeClr>
                      </a:solidFill>
                      <a:prstDash val="solid"/>
                      <a:round/>
                    </a:lnB>
                    <a:solidFill>
                      <a:schemeClr val="accent1">
                        <a:lumMod val="20000"/>
                        <a:lumOff val="80000"/>
                        <a:alpha val="100000"/>
                      </a:schemeClr>
                    </a:solidFill>
                  </a:tcPr>
                </a:tc>
              </a:tr>
              <a:tr h="426720">
                <a:tc>
                  <a:txBody>
                    <a:bodyPr/>
                    <a:p>
                      <a:pPr algn="ctr">
                        <a:buNone/>
                      </a:pPr>
                      <a:r>
                        <a:rPr lang="en-US" altLang="zh-CN" sz="1100" b="0">
                          <a:solidFill>
                            <a:srgbClr val="0F1115"/>
                          </a:solidFill>
                          <a:latin typeface="quote-cjk-patch" charset="0"/>
                          <a:ea typeface="quote-cjk-patch" charset="0"/>
                        </a:rPr>
                        <a:t>is_evictable_</a:t>
                      </a:r>
                      <a:endParaRPr lang="en-US" altLang="zh-CN"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12700" cmpd="sng">
                      <a:solidFill>
                        <a:schemeClr val="bg1">
                          <a:alpha val="100000"/>
                        </a:schemeClr>
                      </a:solidFill>
                      <a:prstDash val="solid"/>
                      <a:round/>
                    </a:lnT>
                    <a:lnB w="12700" cmpd="sng">
                      <a:solidFill>
                        <a:schemeClr val="bg1">
                          <a:alpha val="100000"/>
                        </a:schemeClr>
                      </a:solidFill>
                      <a:prstDash val="solid"/>
                      <a:round/>
                    </a:lnB>
                    <a:solidFill>
                      <a:schemeClr val="accent1">
                        <a:lumMod val="40000"/>
                        <a:lumOff val="60000"/>
                        <a:alpha val="100000"/>
                      </a:schemeClr>
                    </a:solidFill>
                  </a:tcPr>
                </a:tc>
                <a:tc>
                  <a:txBody>
                    <a:bodyPr/>
                    <a:p>
                      <a:pPr algn="ctr">
                        <a:buNone/>
                      </a:pPr>
                      <a:r>
                        <a:rPr lang="en-US" altLang="zh-CN" sz="1100" b="0">
                          <a:solidFill>
                            <a:srgbClr val="0F1115"/>
                          </a:solidFill>
                          <a:latin typeface="quote-cjk-patch" charset="0"/>
                          <a:ea typeface="quote-cjk-patch" charset="0"/>
                        </a:rPr>
                        <a:t>bool</a:t>
                      </a:r>
                      <a:endParaRPr lang="en-US" altLang="zh-CN"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12700" cmpd="sng">
                      <a:solidFill>
                        <a:schemeClr val="bg1">
                          <a:alpha val="100000"/>
                        </a:schemeClr>
                      </a:solidFill>
                      <a:prstDash val="solid"/>
                      <a:round/>
                    </a:lnT>
                    <a:lnB w="12700" cmpd="sng">
                      <a:solidFill>
                        <a:schemeClr val="bg1">
                          <a:alpha val="100000"/>
                        </a:schemeClr>
                      </a:solidFill>
                      <a:prstDash val="solid"/>
                      <a:round/>
                    </a:lnB>
                    <a:solidFill>
                      <a:schemeClr val="accent1">
                        <a:lumMod val="40000"/>
                        <a:lumOff val="60000"/>
                        <a:alpha val="100000"/>
                      </a:schemeClr>
                    </a:solidFill>
                  </a:tcPr>
                </a:tc>
                <a:tc>
                  <a:txBody>
                    <a:bodyPr/>
                    <a:p>
                      <a:pPr algn="ctr">
                        <a:buNone/>
                      </a:pPr>
                      <a:r>
                        <a:rPr lang="zh-CN" altLang="en-US" sz="1100" b="0">
                          <a:solidFill>
                            <a:srgbClr val="0F1115"/>
                          </a:solidFill>
                          <a:latin typeface="quote-cjk-patch" charset="0"/>
                          <a:ea typeface="quote-cjk-patch" charset="0"/>
                        </a:rPr>
                        <a:t>标记该帧是否可被淘汰（</a:t>
                      </a:r>
                      <a:r>
                        <a:rPr lang="en-US" altLang="zh-CN" sz="1100" b="0">
                          <a:solidFill>
                            <a:srgbClr val="0F1115"/>
                          </a:solidFill>
                          <a:latin typeface="quote-cjk-patch" charset="0"/>
                          <a:ea typeface="quote-cjk-patch" charset="0"/>
                        </a:rPr>
                        <a:t>false</a:t>
                      </a:r>
                      <a:r>
                        <a:rPr lang="zh-CN" altLang="en-US" sz="1100" b="0">
                          <a:solidFill>
                            <a:srgbClr val="0F1115"/>
                          </a:solidFill>
                          <a:latin typeface="quote-cjk-patch" charset="0"/>
                          <a:ea typeface="quote-cjk-patch" charset="0"/>
                        </a:rPr>
                        <a:t>时受保护）</a:t>
                      </a:r>
                      <a:endParaRPr lang="zh-CN" altLang="en-US" sz="1100" b="0">
                        <a:solidFill>
                          <a:srgbClr val="0F1115"/>
                        </a:solidFill>
                        <a:latin typeface="quote-cjk-patch" charset="0"/>
                        <a:ea typeface="quote-cjk-patch" charset="0"/>
                      </a:endParaRPr>
                    </a:p>
                  </a:txBody>
                  <a:tcPr anchor="ctr">
                    <a:lnL w="12700" cmpd="sng">
                      <a:solidFill>
                        <a:schemeClr val="bg1">
                          <a:alpha val="100000"/>
                        </a:schemeClr>
                      </a:solidFill>
                      <a:prstDash val="solid"/>
                      <a:round/>
                    </a:lnL>
                    <a:lnR w="12700" cmpd="sng">
                      <a:solidFill>
                        <a:schemeClr val="bg1">
                          <a:alpha val="100000"/>
                        </a:schemeClr>
                      </a:solidFill>
                      <a:prstDash val="solid"/>
                      <a:round/>
                    </a:lnR>
                    <a:lnT w="12700" cmpd="sng">
                      <a:solidFill>
                        <a:schemeClr val="bg1">
                          <a:alpha val="100000"/>
                        </a:schemeClr>
                      </a:solidFill>
                      <a:prstDash val="solid"/>
                      <a:round/>
                    </a:lnT>
                    <a:lnB w="12700" cmpd="sng">
                      <a:solidFill>
                        <a:schemeClr val="bg1">
                          <a:alpha val="100000"/>
                        </a:schemeClr>
                      </a:solidFill>
                      <a:prstDash val="solid"/>
                      <a:round/>
                    </a:lnB>
                    <a:solidFill>
                      <a:schemeClr val="accent1">
                        <a:lumMod val="40000"/>
                        <a:lumOff val="60000"/>
                        <a:alpha val="100000"/>
                      </a:schemeClr>
                    </a:solidFill>
                  </a:tcPr>
                </a:tc>
              </a:tr>
            </a:tbl>
          </a:graphicData>
        </a:graphic>
      </p:graphicFrame>
      <p:sp>
        <p:nvSpPr>
          <p:cNvPr id="12" name="文本框 11"/>
          <p:cNvSpPr txBox="1"/>
          <p:nvPr userDrawn="1"/>
        </p:nvSpPr>
        <p:spPr>
          <a:xfrm>
            <a:off x="495385" y="3868735"/>
            <a:ext cx="3378846" cy="3692525"/>
          </a:xfrm>
          <a:prstGeom prst="rect">
            <a:avLst/>
          </a:prstGeom>
        </p:spPr>
        <p:txBody>
          <a:bodyPr wrap="square" rtlCol="0">
            <a:noAutofit/>
          </a:bodyPr>
          <a:p>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关键设计特点：</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a:p>
            <a:pPr indent="0">
              <a:buNone/>
            </a:pPr>
            <a:r>
              <a:rPr lang="en-US" altLang="zh-CN" sz="1600" dirty="0">
                <a:solidFill>
                  <a:schemeClr val="tx1"/>
                </a:solidFill>
              </a:rPr>
              <a:t>•</a:t>
            </a:r>
            <a:r>
              <a:rPr lang="zh-CN" altLang="en-US" sz="1600" dirty="0">
                <a:solidFill>
                  <a:schemeClr val="tx1"/>
                </a:solidFill>
              </a:rPr>
              <a:t>隐式队列：在淘汰时动态计算</a:t>
            </a:r>
            <a:r>
              <a:rPr lang="en-US" altLang="zh-CN" sz="1600" dirty="0">
                <a:solidFill>
                  <a:schemeClr val="tx1"/>
                </a:solidFill>
              </a:rPr>
              <a:t>k</a:t>
            </a:r>
            <a:r>
              <a:rPr lang="zh-CN" altLang="en-US" sz="1600" dirty="0">
                <a:solidFill>
                  <a:schemeClr val="tx1"/>
                </a:solidFill>
              </a:rPr>
              <a:t>距离，而非维护两个物理队列</a:t>
            </a:r>
            <a:endParaRPr lang="zh-CN" altLang="en-US" sz="1600" dirty="0">
              <a:solidFill>
                <a:schemeClr val="tx1"/>
              </a:solidFill>
            </a:endParaRPr>
          </a:p>
          <a:p>
            <a:pPr indent="0">
              <a:buNone/>
            </a:pPr>
            <a:endParaRPr lang="zh-CN" altLang="en-US" sz="1600" dirty="0">
              <a:solidFill>
                <a:schemeClr val="tx1"/>
              </a:solidFill>
            </a:endParaRPr>
          </a:p>
        </p:txBody>
      </p:sp>
      <p:sp>
        <p:nvSpPr>
          <p:cNvPr id="13" name="Text 7"/>
          <p:cNvSpPr/>
          <p:nvPr/>
        </p:nvSpPr>
        <p:spPr>
          <a:xfrm>
            <a:off x="4487333" y="452501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FrameInfo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rPr>
              <a:t>结构体内部成员：</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LRU-K替换算法深度解析</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4787265"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驱逐策略核心逻辑</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5516245" y="914400"/>
            <a:ext cx="5846445"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5901690" y="1259205"/>
            <a:ext cx="5049520" cy="4075430"/>
          </a:xfrm>
          <a:prstGeom prst="rect">
            <a:avLst/>
          </a:prstGeom>
          <a:noFill/>
        </p:spPr>
        <p:txBody>
          <a:bodyPr wrap="square" lIns="0" tIns="0" rIns="0" bIns="0" rtlCol="0" anchor="ctr"/>
          <a:lstStyle/>
          <a:p>
            <a:pPr algn="l">
              <a:lnSpc>
                <a:spcPct val="150000"/>
              </a:lnSpc>
              <a:buClrTx/>
              <a:buSzTx/>
              <a:buFontTx/>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2. “两个队列”的实质</a:t>
            </a: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50000"/>
              </a:lnSpc>
            </a:pPr>
            <a:r>
              <a:rPr lang="zh-CN" altLang="en-US" sz="1600" dirty="0">
                <a:sym typeface="+mn-ea"/>
              </a:rPr>
              <a:t>实际代码并没有两个物理队列，但通过 history_.size() &lt; k_ 这个条件，在逻辑上划分了传统LRU-K描述中的两个队列：</a:t>
            </a:r>
            <a:endParaRPr lang="zh-CN" altLang="en-US" sz="1600" dirty="0"/>
          </a:p>
          <a:p>
            <a:pPr>
              <a:lnSpc>
                <a:spcPct val="150000"/>
              </a:lnSpc>
            </a:pPr>
            <a:endParaRPr lang="zh-CN" altLang="en-US" sz="1600" dirty="0"/>
          </a:p>
          <a:p>
            <a:pPr>
              <a:lnSpc>
                <a:spcPct val="15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历史队列 (History List)：</a:t>
            </a:r>
            <a:r>
              <a:rPr lang="zh-CN" altLang="en-US" sz="1600" dirty="0">
                <a:sym typeface="+mn-ea"/>
              </a:rPr>
              <a:t>由 history_.size() &lt; k_ 的帧构成。它们因访问次数不足，暂时不被视为“熟客”，优先被淘汰。</a:t>
            </a:r>
            <a:endParaRPr lang="zh-CN" altLang="en-US" sz="1600" dirty="0"/>
          </a:p>
          <a:p>
            <a:pPr>
              <a:lnSpc>
                <a:spcPct val="150000"/>
              </a:lnSpc>
            </a:pPr>
            <a:endParaRPr lang="zh-CN" altLang="en-US" sz="1600" dirty="0"/>
          </a:p>
          <a:p>
            <a:pPr>
              <a:lnSpc>
                <a:spcPct val="15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缓存队列 (Cache List)：</a:t>
            </a:r>
            <a:r>
              <a:rPr lang="zh-CN" altLang="en-US" sz="1600" dirty="0">
                <a:sym typeface="+mn-ea"/>
              </a:rPr>
              <a:t>由 history_.size() == k_ 的帧构成。它们有完整的K次记录，根据实际的“后退K距离”参与淘汰竞争。</a:t>
            </a:r>
            <a:endParaRPr lang="zh-CN" altLang="en-US" sz="1600" dirty="0">
              <a:sym typeface="+mn-ea"/>
            </a:endParaRPr>
          </a:p>
        </p:txBody>
      </p:sp>
      <p:sp>
        <p:nvSpPr>
          <p:cNvPr id="15" name="文本框 14"/>
          <p:cNvSpPr txBox="1"/>
          <p:nvPr userDrawn="1"/>
        </p:nvSpPr>
        <p:spPr>
          <a:xfrm>
            <a:off x="459740" y="1733550"/>
            <a:ext cx="4554855" cy="4870450"/>
          </a:xfrm>
          <a:prstGeom prst="rect">
            <a:avLst/>
          </a:prstGeom>
        </p:spPr>
        <p:txBody>
          <a:bodyPr wrap="square" rtlCol="0">
            <a:noAutofit/>
          </a:bodyPr>
          <a:p>
            <a:pPr>
              <a:lnSpc>
                <a:spcPct val="150000"/>
              </a:lnSpc>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1. 两级比较，优先级明确</a:t>
            </a: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50000"/>
              </a:lnSpc>
            </a:pPr>
            <a:endParaRPr lang="zh-CN" altLang="en-US" sz="1600" dirty="0"/>
          </a:p>
          <a:p>
            <a:pPr>
              <a:lnSpc>
                <a:spcPct val="15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第一级（类型优先）：</a:t>
            </a:r>
            <a:r>
              <a:rPr lang="zh-CN" altLang="en-US" sz="1600" dirty="0"/>
              <a:t>将所有</a:t>
            </a:r>
            <a:r>
              <a:rPr lang="en-US" altLang="zh-CN" sz="1600" dirty="0"/>
              <a:t>“</a:t>
            </a:r>
            <a:r>
              <a:rPr lang="zh-CN" altLang="en-US" sz="1600" dirty="0"/>
              <a:t>访问不足</a:t>
            </a:r>
            <a:r>
              <a:rPr lang="en-US" altLang="zh-CN" sz="1600" dirty="0"/>
              <a:t>K</a:t>
            </a:r>
            <a:r>
              <a:rPr lang="zh-CN" altLang="en-US" sz="1600" dirty="0"/>
              <a:t>次</a:t>
            </a:r>
            <a:r>
              <a:rPr lang="en-US" altLang="zh-CN" sz="1600" dirty="0"/>
              <a:t>”</a:t>
            </a:r>
            <a:r>
              <a:rPr lang="zh-CN" altLang="en-US" sz="1600" dirty="0"/>
              <a:t>（距离为</a:t>
            </a:r>
            <a:r>
              <a:rPr lang="en-US" altLang="zh-CN" sz="1600" dirty="0"/>
              <a:t>+∞</a:t>
            </a:r>
            <a:r>
              <a:rPr lang="zh-CN" altLang="en-US" sz="1600" dirty="0"/>
              <a:t>）的帧，视为比任何</a:t>
            </a:r>
            <a:r>
              <a:rPr lang="en-US" altLang="zh-CN" sz="1600" dirty="0"/>
              <a:t>“</a:t>
            </a:r>
            <a:r>
              <a:rPr lang="zh-CN" altLang="en-US" sz="1600" dirty="0"/>
              <a:t>访问达</a:t>
            </a:r>
            <a:r>
              <a:rPr lang="en-US" altLang="zh-CN" sz="1600" dirty="0"/>
              <a:t>K</a:t>
            </a:r>
            <a:r>
              <a:rPr lang="zh-CN" altLang="en-US" sz="1600" dirty="0"/>
              <a:t>次</a:t>
            </a:r>
            <a:r>
              <a:rPr lang="en-US" altLang="zh-CN" sz="1600" dirty="0"/>
              <a:t>”</a:t>
            </a:r>
            <a:r>
              <a:rPr lang="zh-CN" altLang="en-US" sz="1600" dirty="0"/>
              <a:t>（有具体距离）的帧更优先淘汰。</a:t>
            </a:r>
            <a:endParaRPr lang="zh-CN" altLang="en-US" sz="1600" dirty="0"/>
          </a:p>
          <a:p>
            <a:pPr>
              <a:lnSpc>
                <a:spcPct val="150000"/>
              </a:lnSpc>
            </a:pPr>
            <a:endParaRPr lang="en-US" altLang="zh-CN" sz="1600" dirty="0"/>
          </a:p>
          <a:p>
            <a:pPr>
              <a:lnSpc>
                <a:spcPct val="150000"/>
              </a:lnSpc>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第二级（时间优先）：</a:t>
            </a:r>
            <a:r>
              <a:rPr lang="zh-CN" altLang="en-US" sz="1600" dirty="0"/>
              <a:t>在第一级分类内部，淘汰该类别里最早被访问的帧。对于</a:t>
            </a:r>
            <a:r>
              <a:rPr lang="en-US" altLang="zh-CN" sz="1600" dirty="0"/>
              <a:t>“</a:t>
            </a:r>
            <a:r>
              <a:rPr lang="zh-CN" altLang="en-US" sz="1600" dirty="0"/>
              <a:t>访问不足</a:t>
            </a:r>
            <a:r>
              <a:rPr lang="en-US" altLang="zh-CN" sz="1600" dirty="0"/>
              <a:t>K</a:t>
            </a:r>
            <a:r>
              <a:rPr lang="zh-CN" altLang="en-US" sz="1600" dirty="0"/>
              <a:t>次</a:t>
            </a:r>
            <a:r>
              <a:rPr lang="en-US" altLang="zh-CN" sz="1600" dirty="0"/>
              <a:t>”</a:t>
            </a:r>
            <a:r>
              <a:rPr lang="zh-CN" altLang="en-US" sz="1600" dirty="0"/>
              <a:t>的帧，比较的是第一次访问时间；对于</a:t>
            </a:r>
            <a:r>
              <a:rPr lang="en-US" altLang="zh-CN" sz="1600" dirty="0"/>
              <a:t>“</a:t>
            </a:r>
            <a:r>
              <a:rPr lang="zh-CN" altLang="en-US" sz="1600" dirty="0"/>
              <a:t>访问达</a:t>
            </a:r>
            <a:r>
              <a:rPr lang="en-US" altLang="zh-CN" sz="1600" dirty="0"/>
              <a:t>K</a:t>
            </a:r>
            <a:r>
              <a:rPr lang="zh-CN" altLang="en-US" sz="1600" dirty="0"/>
              <a:t>次</a:t>
            </a:r>
            <a:r>
              <a:rPr lang="en-US" altLang="zh-CN" sz="1600" dirty="0"/>
              <a:t>”</a:t>
            </a:r>
            <a:r>
              <a:rPr lang="zh-CN" altLang="en-US" sz="1600" dirty="0"/>
              <a:t>的帧，比较的是第</a:t>
            </a:r>
            <a:r>
              <a:rPr lang="en-US" altLang="zh-CN" sz="1600" dirty="0"/>
              <a:t>K</a:t>
            </a:r>
            <a:r>
              <a:rPr lang="zh-CN" altLang="en-US" sz="1600" dirty="0"/>
              <a:t>次访问时间。</a:t>
            </a:r>
            <a:endParaRPr lang="zh-CN" altLang="en-US" sz="1600" dirty="0"/>
          </a:p>
          <a:p>
            <a:pPr>
              <a:lnSpc>
                <a:spcPct val="150000"/>
              </a:lnSpc>
            </a:pPr>
            <a:endParaRPr lang="en-US" altLang="zh-CN" sz="1600" dirty="0"/>
          </a:p>
          <a:p>
            <a:pPr>
              <a:lnSpc>
                <a:spcPct val="150000"/>
              </a:lnSpc>
            </a:pP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LRU-K替换算法深度解析</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685165"/>
            <a:ext cx="11495405" cy="615315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关键实现代码片段</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5" name="文本框 14"/>
          <p:cNvSpPr txBox="1"/>
          <p:nvPr userDrawn="1"/>
        </p:nvSpPr>
        <p:spPr>
          <a:xfrm>
            <a:off x="457200" y="1486535"/>
            <a:ext cx="7112000" cy="5117465"/>
          </a:xfrm>
          <a:prstGeom prst="rect">
            <a:avLst/>
          </a:prstGeom>
        </p:spPr>
        <p:txBody>
          <a:bodyPr wrap="square" rtlCol="0">
            <a:noAutofit/>
          </a:bodyPr>
          <a:p>
            <a:pPr>
              <a:lnSpc>
                <a:spcPct val="150000"/>
              </a:lnSpc>
            </a:pPr>
            <a:r>
              <a:rPr lang="en-US" altLang="zh-CN" sz="1600" dirty="0"/>
              <a:t>// </a:t>
            </a:r>
            <a:r>
              <a:rPr lang="zh-CN" altLang="en-US" sz="1600" dirty="0"/>
              <a:t>核心决策循环</a:t>
            </a:r>
            <a:endParaRPr lang="zh-CN" altLang="en-US" sz="1600" dirty="0"/>
          </a:p>
          <a:p>
            <a:pPr>
              <a:lnSpc>
                <a:spcPct val="150000"/>
              </a:lnSpc>
            </a:pPr>
            <a:r>
              <a:rPr lang="en-US" altLang="zh-CN" sz="1600" dirty="0"/>
              <a:t>for (const auto &amp;[fid, frame_info] : frame_table_) {</a:t>
            </a:r>
            <a:endParaRPr lang="en-US" altLang="zh-CN" sz="1600" dirty="0"/>
          </a:p>
          <a:p>
            <a:pPr>
              <a:lnSpc>
                <a:spcPct val="150000"/>
              </a:lnSpc>
            </a:pPr>
            <a:r>
              <a:rPr lang="en-US" altLang="zh-CN" sz="1600" dirty="0"/>
              <a:t>  if (!frame_info.is_evictable_) continue; // </a:t>
            </a:r>
            <a:r>
              <a:rPr lang="zh-CN" altLang="en-US" sz="1600" dirty="0"/>
              <a:t>忽略不可驱逐帧</a:t>
            </a:r>
            <a:endParaRPr lang="zh-CN" altLang="en-US" sz="1600" dirty="0"/>
          </a:p>
          <a:p>
            <a:pPr>
              <a:lnSpc>
                <a:spcPct val="150000"/>
              </a:lnSpc>
            </a:pPr>
            <a:r>
              <a:rPr lang="en-US" altLang="zh-CN" sz="1600" dirty="0"/>
              <a:t>  size_t k_distance;</a:t>
            </a:r>
            <a:endParaRPr lang="en-US" altLang="zh-CN" sz="1600" dirty="0"/>
          </a:p>
          <a:p>
            <a:pPr>
              <a:lnSpc>
                <a:spcPct val="150000"/>
              </a:lnSpc>
            </a:pPr>
            <a:r>
              <a:rPr lang="en-US" altLang="zh-CN" sz="1600" dirty="0"/>
              <a:t>  size_t frame_earliest;</a:t>
            </a:r>
            <a:endParaRPr lang="en-US" altLang="zh-CN" sz="1600" dirty="0"/>
          </a:p>
          <a:p>
            <a:pPr>
              <a:lnSpc>
                <a:spcPct val="150000"/>
              </a:lnSpc>
            </a:pPr>
            <a:endParaRPr lang="en-US" altLang="zh-CN" sz="1600" dirty="0"/>
          </a:p>
          <a:p>
            <a:pPr>
              <a:lnSpc>
                <a:spcPct val="150000"/>
              </a:lnSpc>
            </a:pPr>
            <a:r>
              <a:rPr lang="en-US" altLang="zh-CN" sz="1600" dirty="0"/>
              <a:t>  // </a:t>
            </a:r>
            <a:r>
              <a:rPr lang="zh-CN" altLang="en-US" sz="1600" dirty="0"/>
              <a:t>逻辑分叉点：判断属于哪个</a:t>
            </a:r>
            <a:r>
              <a:rPr lang="en-US" altLang="zh-CN" sz="1600" dirty="0"/>
              <a:t>“</a:t>
            </a:r>
            <a:r>
              <a:rPr lang="zh-CN" altLang="en-US" sz="1600" dirty="0"/>
              <a:t>队列</a:t>
            </a:r>
            <a:r>
              <a:rPr lang="en-US" altLang="zh-CN" sz="1600" dirty="0"/>
              <a:t>”</a:t>
            </a:r>
            <a:endParaRPr lang="en-US" altLang="zh-CN" sz="1600" dirty="0"/>
          </a:p>
          <a:p>
            <a:pPr>
              <a:lnSpc>
                <a:spcPct val="150000"/>
              </a:lnSpc>
            </a:pPr>
            <a:r>
              <a:rPr lang="en-US" altLang="zh-CN" sz="1600" dirty="0"/>
              <a:t>  if (frame_info.history_.size() &lt; k_) { // </a:t>
            </a:r>
            <a:r>
              <a:rPr lang="zh-CN" altLang="en-US" sz="1600" dirty="0"/>
              <a:t>属于</a:t>
            </a:r>
            <a:r>
              <a:rPr lang="en-US" altLang="zh-CN" sz="1600" dirty="0"/>
              <a:t>“</a:t>
            </a:r>
            <a:r>
              <a:rPr lang="zh-CN" altLang="en-US" sz="1600" dirty="0"/>
              <a:t>历史队列</a:t>
            </a:r>
            <a:r>
              <a:rPr lang="en-US" altLang="zh-CN" sz="1600" dirty="0"/>
              <a:t>”</a:t>
            </a:r>
            <a:endParaRPr lang="en-US" altLang="zh-CN" sz="1600" dirty="0"/>
          </a:p>
          <a:p>
            <a:pPr>
              <a:lnSpc>
                <a:spcPct val="150000"/>
              </a:lnSpc>
            </a:pPr>
            <a:r>
              <a:rPr lang="en-US" altLang="zh-CN" sz="1600" dirty="0"/>
              <a:t>    k_distance = std::numeric_limits&lt;size_t&gt;::max(); // +∞</a:t>
            </a:r>
            <a:endParaRPr lang="en-US" altLang="zh-CN" sz="1600" dirty="0"/>
          </a:p>
          <a:p>
            <a:pPr>
              <a:lnSpc>
                <a:spcPct val="150000"/>
              </a:lnSpc>
            </a:pPr>
            <a:r>
              <a:rPr lang="en-US" altLang="zh-CN" sz="1600" dirty="0"/>
              <a:t>    frame_earliest = frame_info.history_.front(); // </a:t>
            </a:r>
            <a:r>
              <a:rPr lang="zh-CN" altLang="en-US" sz="1600" dirty="0"/>
              <a:t>比较第一次访问</a:t>
            </a:r>
            <a:endParaRPr lang="zh-CN" altLang="en-US" sz="1600" dirty="0"/>
          </a:p>
          <a:p>
            <a:pPr>
              <a:lnSpc>
                <a:spcPct val="150000"/>
              </a:lnSpc>
            </a:pPr>
            <a:r>
              <a:rPr lang="en-US" altLang="zh-CN" sz="1600" dirty="0"/>
              <a:t>  } else { // </a:t>
            </a:r>
            <a:r>
              <a:rPr lang="zh-CN" altLang="en-US" sz="1600" dirty="0"/>
              <a:t>属于</a:t>
            </a:r>
            <a:r>
              <a:rPr lang="en-US" altLang="zh-CN" sz="1600" dirty="0"/>
              <a:t>“</a:t>
            </a:r>
            <a:r>
              <a:rPr lang="zh-CN" altLang="en-US" sz="1600" dirty="0"/>
              <a:t>缓存队列</a:t>
            </a:r>
            <a:r>
              <a:rPr lang="en-US" altLang="zh-CN" sz="1600" dirty="0"/>
              <a:t>”</a:t>
            </a:r>
            <a:endParaRPr lang="en-US" altLang="zh-CN" sz="1600" dirty="0"/>
          </a:p>
          <a:p>
            <a:pPr>
              <a:lnSpc>
                <a:spcPct val="150000"/>
              </a:lnSpc>
            </a:pPr>
            <a:r>
              <a:rPr lang="en-US" altLang="zh-CN" sz="1600" dirty="0"/>
              <a:t>    k_distance = current_timestamp_ - frame_info.history_.front(); // </a:t>
            </a:r>
            <a:r>
              <a:rPr lang="zh-CN" altLang="en-US" sz="1600" dirty="0"/>
              <a:t>计算</a:t>
            </a:r>
            <a:r>
              <a:rPr lang="en-US" altLang="zh-CN" sz="1600" dirty="0"/>
              <a:t>“</a:t>
            </a:r>
            <a:r>
              <a:rPr lang="zh-CN" altLang="en-US" sz="1600" dirty="0"/>
              <a:t>后退</a:t>
            </a:r>
            <a:r>
              <a:rPr lang="en-US" altLang="zh-CN" sz="1600" dirty="0"/>
              <a:t>K</a:t>
            </a:r>
            <a:r>
              <a:rPr lang="zh-CN" altLang="en-US" sz="1600" dirty="0"/>
              <a:t>距离</a:t>
            </a:r>
            <a:r>
              <a:rPr lang="en-US" altLang="zh-CN" sz="1600" dirty="0"/>
              <a:t>”</a:t>
            </a:r>
            <a:endParaRPr lang="zh-CN" altLang="en-US" sz="1600" dirty="0"/>
          </a:p>
          <a:p>
            <a:pPr>
              <a:lnSpc>
                <a:spcPct val="150000"/>
              </a:lnSpc>
            </a:pPr>
            <a:r>
              <a:rPr lang="en-US" altLang="zh-CN" sz="1600" dirty="0"/>
              <a:t>   </a:t>
            </a:r>
            <a:endParaRPr lang="zh-CN" altLang="en-US" sz="1600" dirty="0"/>
          </a:p>
        </p:txBody>
      </p:sp>
      <p:sp>
        <p:nvSpPr>
          <p:cNvPr id="6" name="文本框 5"/>
          <p:cNvSpPr txBox="1"/>
          <p:nvPr/>
        </p:nvSpPr>
        <p:spPr>
          <a:xfrm>
            <a:off x="7440930" y="1117600"/>
            <a:ext cx="4064000" cy="5584825"/>
          </a:xfrm>
          <a:prstGeom prst="rect">
            <a:avLst/>
          </a:prstGeom>
          <a:noFill/>
        </p:spPr>
        <p:txBody>
          <a:bodyPr wrap="square" rtlCol="0">
            <a:spAutoFit/>
          </a:bodyPr>
          <a:p>
            <a:pPr>
              <a:lnSpc>
                <a:spcPct val="150000"/>
              </a:lnSpc>
            </a:pPr>
            <a:r>
              <a:rPr lang="en-US" altLang="zh-CN" sz="1600" dirty="0">
                <a:sym typeface="+mn-ea"/>
              </a:rPr>
              <a:t> frame_earliest = frame_info.history_.front(); // </a:t>
            </a:r>
            <a:r>
              <a:rPr lang="zh-CN" altLang="en-US" sz="1600" dirty="0">
                <a:sym typeface="+mn-ea"/>
              </a:rPr>
              <a:t>比较第</a:t>
            </a:r>
            <a:r>
              <a:rPr lang="en-US" altLang="zh-CN" sz="1600" dirty="0">
                <a:sym typeface="+mn-ea"/>
              </a:rPr>
              <a:t>K</a:t>
            </a:r>
            <a:r>
              <a:rPr lang="zh-CN" altLang="en-US" sz="1600" dirty="0">
                <a:sym typeface="+mn-ea"/>
              </a:rPr>
              <a:t>次访问，现在时间</a:t>
            </a:r>
            <a:r>
              <a:rPr lang="en-US" altLang="zh-CN" sz="1600" dirty="0">
                <a:sym typeface="+mn-ea"/>
              </a:rPr>
              <a:t> - </a:t>
            </a:r>
            <a:r>
              <a:rPr lang="zh-CN" altLang="en-US" sz="1600" dirty="0">
                <a:sym typeface="+mn-ea"/>
              </a:rPr>
              <a:t>倒数第</a:t>
            </a:r>
            <a:r>
              <a:rPr lang="en-US" altLang="zh-CN" sz="1600" dirty="0">
                <a:sym typeface="+mn-ea"/>
              </a:rPr>
              <a:t>K</a:t>
            </a:r>
            <a:r>
              <a:rPr lang="zh-CN" altLang="en-US" sz="1600" dirty="0">
                <a:sym typeface="+mn-ea"/>
              </a:rPr>
              <a:t>次来的时间</a:t>
            </a:r>
            <a:endParaRPr lang="zh-CN" altLang="en-US" sz="1600" dirty="0"/>
          </a:p>
          <a:p>
            <a:pPr>
              <a:lnSpc>
                <a:spcPct val="150000"/>
              </a:lnSpc>
            </a:pPr>
            <a:r>
              <a:rPr lang="en-US" altLang="zh-CN" sz="1600" dirty="0">
                <a:sym typeface="+mn-ea"/>
              </a:rPr>
              <a:t>  }</a:t>
            </a:r>
            <a:endParaRPr lang="en-US" altLang="zh-CN" sz="1600" dirty="0"/>
          </a:p>
          <a:p>
            <a:pPr>
              <a:lnSpc>
                <a:spcPct val="150000"/>
              </a:lnSpc>
            </a:pPr>
            <a:r>
              <a:rPr lang="en-US" altLang="zh-CN" sz="1600" dirty="0">
                <a:sym typeface="+mn-ea"/>
              </a:rPr>
              <a:t>  </a:t>
            </a:r>
            <a:endParaRPr lang="en-US" altLang="zh-CN" sz="1600" dirty="0">
              <a:sym typeface="+mn-ea"/>
            </a:endParaRPr>
          </a:p>
          <a:p>
            <a:pPr>
              <a:lnSpc>
                <a:spcPct val="150000"/>
              </a:lnSpc>
            </a:pPr>
            <a:r>
              <a:rPr lang="en-US" altLang="zh-CN" sz="1600" dirty="0">
                <a:sym typeface="+mn-ea"/>
              </a:rPr>
              <a:t>// 两级比较（优先比距离，再比时间）</a:t>
            </a:r>
            <a:endParaRPr lang="en-US" altLang="zh-CN" sz="1600" dirty="0"/>
          </a:p>
          <a:p>
            <a:pPr>
              <a:lnSpc>
                <a:spcPct val="150000"/>
              </a:lnSpc>
            </a:pPr>
            <a:r>
              <a:rPr lang="en-US" altLang="zh-CN" sz="1600" dirty="0">
                <a:sym typeface="+mn-ea"/>
              </a:rPr>
              <a:t>  if (k_distance &gt; max_k_distance || </a:t>
            </a:r>
            <a:endParaRPr lang="en-US" altLang="zh-CN" sz="1600" dirty="0"/>
          </a:p>
          <a:p>
            <a:pPr>
              <a:lnSpc>
                <a:spcPct val="150000"/>
              </a:lnSpc>
            </a:pPr>
            <a:r>
              <a:rPr lang="en-US" altLang="zh-CN" sz="1600" dirty="0">
                <a:sym typeface="+mn-ea"/>
              </a:rPr>
              <a:t>      (k_distance == max_k_distance &amp;&amp; frame_earliest &lt; earliest_timestamp)) {</a:t>
            </a:r>
            <a:endParaRPr lang="en-US" altLang="zh-CN" sz="1600" dirty="0"/>
          </a:p>
          <a:p>
            <a:pPr>
              <a:lnSpc>
                <a:spcPct val="150000"/>
              </a:lnSpc>
            </a:pPr>
            <a:r>
              <a:rPr lang="en-US" altLang="zh-CN" sz="1600" dirty="0">
                <a:sym typeface="+mn-ea"/>
              </a:rPr>
              <a:t>    candidate = fid;</a:t>
            </a:r>
            <a:endParaRPr lang="en-US" altLang="zh-CN" sz="1600" dirty="0"/>
          </a:p>
          <a:p>
            <a:pPr>
              <a:lnSpc>
                <a:spcPct val="150000"/>
              </a:lnSpc>
            </a:pPr>
            <a:r>
              <a:rPr lang="en-US" altLang="zh-CN" sz="1600" dirty="0">
                <a:sym typeface="+mn-ea"/>
              </a:rPr>
              <a:t>    max_k_distance = k_distance;</a:t>
            </a:r>
            <a:endParaRPr lang="en-US" altLang="zh-CN" sz="1600" dirty="0"/>
          </a:p>
          <a:p>
            <a:pPr>
              <a:lnSpc>
                <a:spcPct val="150000"/>
              </a:lnSpc>
            </a:pPr>
            <a:r>
              <a:rPr lang="en-US" altLang="zh-CN" sz="1600" dirty="0">
                <a:sym typeface="+mn-ea"/>
              </a:rPr>
              <a:t>    earliest_timestamp = frame_earliest;</a:t>
            </a:r>
            <a:endParaRPr lang="en-US" altLang="zh-CN" sz="1600" dirty="0"/>
          </a:p>
          <a:p>
            <a:pPr>
              <a:lnSpc>
                <a:spcPct val="150000"/>
              </a:lnSpc>
            </a:pPr>
            <a:r>
              <a:rPr lang="en-US" altLang="zh-CN" sz="1600" dirty="0">
                <a:sym typeface="+mn-ea"/>
              </a:rPr>
              <a:t>  }</a:t>
            </a:r>
            <a:endParaRPr lang="en-US" altLang="zh-CN" sz="1600" dirty="0"/>
          </a:p>
          <a:p>
            <a:pPr>
              <a:lnSpc>
                <a:spcPct val="150000"/>
              </a:lnSpc>
            </a:pPr>
            <a:r>
              <a:rPr lang="en-US" altLang="zh-CN" dirty="0">
                <a:sym typeface="+mn-ea"/>
              </a:rPr>
              <a:t>}</a:t>
            </a:r>
            <a:endParaRPr lang="en-US" altLang="zh-CN" dirty="0"/>
          </a:p>
          <a:p>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LRU-K替换算法深度解析</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4787265"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记录访问</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 RecordAccess</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5516245" y="914400"/>
            <a:ext cx="5846445"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5901690" y="1259205"/>
            <a:ext cx="5049520" cy="4075430"/>
          </a:xfrm>
          <a:prstGeom prst="rect">
            <a:avLst/>
          </a:prstGeom>
          <a:noFill/>
        </p:spPr>
        <p:txBody>
          <a:bodyPr wrap="square" lIns="0" tIns="0" rIns="0" bIns="0" rtlCol="0" anchor="ctr"/>
          <a:lstStyle/>
          <a:p>
            <a:pPr algn="l">
              <a:lnSpc>
                <a:spcPct val="150000"/>
              </a:lnSpc>
              <a:buClrTx/>
              <a:buSzTx/>
              <a:buFontTx/>
            </a:pPr>
            <a:r>
              <a:rPr lang="en-US" altLang="zh-CN" sz="1600" dirty="0">
                <a:sym typeface="+mn-ea"/>
              </a:rPr>
              <a:t>·</a:t>
            </a:r>
            <a:r>
              <a:rPr lang="zh-CN" altLang="en-US" sz="1600" dirty="0">
                <a:sym typeface="+mn-ea"/>
              </a:rPr>
              <a:t>每当一个页面被访问，我们就在它的历史队列末尾追加当前时间戳，并确保队列长度不超过</a:t>
            </a:r>
            <a:r>
              <a:rPr lang="en-US" altLang="zh-CN" sz="1600" dirty="0">
                <a:sym typeface="+mn-ea"/>
              </a:rPr>
              <a:t>K</a:t>
            </a:r>
            <a:r>
              <a:rPr lang="zh-CN" altLang="en-US" sz="1600" dirty="0">
                <a:sym typeface="+mn-ea"/>
              </a:rPr>
              <a:t>。这保证了队列头部永远是倒数第</a:t>
            </a:r>
            <a:r>
              <a:rPr lang="en-US" altLang="zh-CN" sz="1600" dirty="0">
                <a:sym typeface="+mn-ea"/>
              </a:rPr>
              <a:t>K</a:t>
            </a:r>
            <a:r>
              <a:rPr lang="zh-CN" altLang="en-US" sz="1600" dirty="0">
                <a:sym typeface="+mn-ea"/>
              </a:rPr>
              <a:t>次访问的时间（如果访问次数达到</a:t>
            </a:r>
            <a:r>
              <a:rPr lang="en-US" altLang="zh-CN" sz="1600" dirty="0">
                <a:sym typeface="+mn-ea"/>
              </a:rPr>
              <a:t>K</a:t>
            </a:r>
            <a:r>
              <a:rPr lang="zh-CN" altLang="en-US" sz="1600" dirty="0">
                <a:sym typeface="+mn-ea"/>
              </a:rPr>
              <a:t>次的话）。</a:t>
            </a:r>
            <a:endParaRPr lang="zh-CN" altLang="en-US" sz="1600" dirty="0">
              <a:sym typeface="+mn-ea"/>
            </a:endParaRPr>
          </a:p>
        </p:txBody>
      </p:sp>
      <p:sp>
        <p:nvSpPr>
          <p:cNvPr id="15" name="文本框 14"/>
          <p:cNvSpPr txBox="1"/>
          <p:nvPr userDrawn="1"/>
        </p:nvSpPr>
        <p:spPr>
          <a:xfrm>
            <a:off x="459740" y="1733550"/>
            <a:ext cx="4554855" cy="4870450"/>
          </a:xfrm>
          <a:prstGeom prst="rect">
            <a:avLst/>
          </a:prstGeom>
        </p:spPr>
        <p:txBody>
          <a:bodyPr wrap="square" rtlCol="0">
            <a:noAutofit/>
          </a:bodyPr>
          <a:p>
            <a:pPr>
              <a:lnSpc>
                <a:spcPct val="150000"/>
              </a:lnSpc>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核心任务：有客人来了，更新他的登记本</a:t>
            </a: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50000"/>
              </a:lnSpc>
            </a:pPr>
            <a:r>
              <a:rPr lang="en-US" altLang="zh-CN" sz="1600" dirty="0"/>
              <a:t>current_timestamp_++; // </a:t>
            </a:r>
            <a:r>
              <a:rPr lang="zh-CN" altLang="en-US" sz="1600" dirty="0"/>
              <a:t>全局时间往前走一步</a:t>
            </a:r>
            <a:endParaRPr lang="zh-CN" altLang="en-US" sz="1600" dirty="0"/>
          </a:p>
          <a:p>
            <a:pPr>
              <a:lnSpc>
                <a:spcPct val="150000"/>
              </a:lnSpc>
            </a:pPr>
            <a:r>
              <a:rPr lang="en-US" altLang="zh-CN" sz="1600" dirty="0"/>
              <a:t>auto &amp;frame_info = frame_table_[frame_id];</a:t>
            </a:r>
            <a:endParaRPr lang="en-US" altLang="zh-CN" sz="1600" dirty="0"/>
          </a:p>
          <a:p>
            <a:pPr>
              <a:lnSpc>
                <a:spcPct val="150000"/>
              </a:lnSpc>
            </a:pPr>
            <a:r>
              <a:rPr lang="en-US" altLang="zh-CN" sz="1600" dirty="0"/>
              <a:t>frame_info.history_.push_back(current_timestamp_); // </a:t>
            </a:r>
            <a:r>
              <a:rPr lang="zh-CN" altLang="en-US" sz="1600" dirty="0"/>
              <a:t>记下当前时间</a:t>
            </a:r>
            <a:endParaRPr lang="zh-CN" altLang="en-US" sz="1600" dirty="0"/>
          </a:p>
          <a:p>
            <a:pPr>
              <a:lnSpc>
                <a:spcPct val="150000"/>
              </a:lnSpc>
            </a:pPr>
            <a:r>
              <a:rPr lang="en-US" altLang="zh-CN" sz="1600" dirty="0"/>
              <a:t>if (frame_info.history_.size() &gt; k_) {</a:t>
            </a:r>
            <a:endParaRPr lang="en-US" altLang="zh-CN" sz="1600" dirty="0"/>
          </a:p>
          <a:p>
            <a:pPr>
              <a:lnSpc>
                <a:spcPct val="150000"/>
              </a:lnSpc>
            </a:pPr>
            <a:r>
              <a:rPr lang="en-US" altLang="zh-CN" sz="1600" dirty="0"/>
              <a:t>    frame_info.history_.pop_front(); // </a:t>
            </a:r>
            <a:r>
              <a:rPr lang="zh-CN" altLang="en-US" sz="1600" dirty="0"/>
              <a:t>只保留最近</a:t>
            </a:r>
            <a:r>
              <a:rPr lang="en-US" altLang="zh-CN" sz="1600" dirty="0"/>
              <a:t>K</a:t>
            </a:r>
            <a:r>
              <a:rPr lang="zh-CN" altLang="en-US" sz="1600" dirty="0"/>
              <a:t>次记录</a:t>
            </a:r>
            <a:endParaRPr lang="zh-CN" altLang="en-US" sz="1600" dirty="0"/>
          </a:p>
          <a:p>
            <a:pPr>
              <a:lnSpc>
                <a:spcPct val="150000"/>
              </a:lnSpc>
            </a:pPr>
            <a:r>
              <a:rPr lang="en-US" altLang="zh-CN" sz="1600" dirty="0"/>
              <a:t>}</a:t>
            </a:r>
            <a:endParaRPr lang="en-US" altLang="zh-CN" sz="1600" dirty="0"/>
          </a:p>
          <a:p>
            <a:pPr>
              <a:lnSpc>
                <a:spcPct val="150000"/>
              </a:lnSpc>
            </a:pP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LRU-K替换算法深度解析</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4787265"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设置可驱逐状态</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 SetEvictable</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5516245" y="914400"/>
            <a:ext cx="5846445"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5901690" y="1259205"/>
            <a:ext cx="5049520" cy="4075430"/>
          </a:xfrm>
          <a:prstGeom prst="rect">
            <a:avLst/>
          </a:prstGeom>
          <a:noFill/>
        </p:spPr>
        <p:txBody>
          <a:bodyPr wrap="square" lIns="0" tIns="0" rIns="0" bIns="0" rtlCol="0" anchor="ctr"/>
          <a:lstStyle/>
          <a:p>
            <a:pPr algn="l">
              <a:lnSpc>
                <a:spcPct val="150000"/>
              </a:lnSpc>
              <a:buClrTx/>
              <a:buSzTx/>
              <a:buFontTx/>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与缓冲池的联动：</a:t>
            </a:r>
            <a:r>
              <a:rPr lang="zh-CN" altLang="en-US" sz="1600" dirty="0">
                <a:sym typeface="+mn-ea"/>
              </a:rPr>
              <a:t>当缓冲池中页面的</a:t>
            </a:r>
            <a:r>
              <a:rPr lang="en-US" altLang="zh-CN" sz="1600" dirty="0">
                <a:sym typeface="+mn-ea"/>
              </a:rPr>
              <a:t>pin_count</a:t>
            </a:r>
            <a:r>
              <a:rPr lang="zh-CN" altLang="en-US" sz="1600" dirty="0">
                <a:sym typeface="+mn-ea"/>
              </a:rPr>
              <a:t>（被线程使用的次数）变为</a:t>
            </a:r>
            <a:r>
              <a:rPr lang="en-US" altLang="zh-CN" sz="1600" dirty="0">
                <a:sym typeface="+mn-ea"/>
              </a:rPr>
              <a:t>0</a:t>
            </a:r>
            <a:r>
              <a:rPr lang="zh-CN" altLang="en-US" sz="1600" dirty="0">
                <a:sym typeface="+mn-ea"/>
              </a:rPr>
              <a:t>时，会调用</a:t>
            </a:r>
            <a:r>
              <a:rPr lang="en-US" altLang="zh-CN" sz="1600" dirty="0">
                <a:sym typeface="+mn-ea"/>
              </a:rPr>
              <a:t>SetEvictable(frame_id, true)</a:t>
            </a:r>
            <a:r>
              <a:rPr lang="zh-CN" altLang="en-US" sz="1600" dirty="0">
                <a:sym typeface="+mn-ea"/>
              </a:rPr>
              <a:t>，将这个</a:t>
            </a:r>
            <a:r>
              <a:rPr lang="en-US" altLang="zh-CN" sz="1600" dirty="0">
                <a:sym typeface="+mn-ea"/>
              </a:rPr>
              <a:t>frame</a:t>
            </a:r>
            <a:r>
              <a:rPr lang="zh-CN" altLang="en-US" sz="1600" dirty="0">
                <a:sym typeface="+mn-ea"/>
              </a:rPr>
              <a:t>标记为可驱逐，</a:t>
            </a:r>
            <a:r>
              <a:rPr lang="en-US" altLang="zh-CN" sz="1600" dirty="0">
                <a:sym typeface="+mn-ea"/>
              </a:rPr>
              <a:t>curr_size_</a:t>
            </a:r>
            <a:r>
              <a:rPr lang="zh-CN" altLang="en-US" sz="1600" dirty="0">
                <a:sym typeface="+mn-ea"/>
              </a:rPr>
              <a:t>增加。</a:t>
            </a:r>
            <a:endParaRPr lang="zh-CN" altLang="en-US" sz="1600" dirty="0">
              <a:sym typeface="+mn-ea"/>
            </a:endParaRPr>
          </a:p>
        </p:txBody>
      </p:sp>
      <p:sp>
        <p:nvSpPr>
          <p:cNvPr id="15" name="文本框 14"/>
          <p:cNvSpPr txBox="1"/>
          <p:nvPr userDrawn="1"/>
        </p:nvSpPr>
        <p:spPr>
          <a:xfrm>
            <a:off x="459740" y="1733550"/>
            <a:ext cx="4554855" cy="4870450"/>
          </a:xfrm>
          <a:prstGeom prst="rect">
            <a:avLst/>
          </a:prstGeom>
        </p:spPr>
        <p:txBody>
          <a:bodyPr wrap="square" rtlCol="0">
            <a:noAutofit/>
          </a:bodyPr>
          <a:p>
            <a:pPr>
              <a:lnSpc>
                <a:spcPct val="150000"/>
              </a:lnSpc>
            </a:pPr>
            <a:r>
              <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核心任务：设置客人是否可被驱逐，并更新计数</a:t>
            </a:r>
            <a:endParaRPr lang="en-US" sz="18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50000"/>
              </a:lnSpc>
            </a:pPr>
            <a:r>
              <a:rPr lang="en-US" altLang="zh-CN" sz="1600" dirty="0"/>
              <a:t>if (frame_info.is_evictable_ &amp;&amp; !set_evictable) {</a:t>
            </a:r>
            <a:endParaRPr lang="en-US" altLang="zh-CN" sz="1600" dirty="0"/>
          </a:p>
          <a:p>
            <a:pPr>
              <a:lnSpc>
                <a:spcPct val="150000"/>
              </a:lnSpc>
            </a:pPr>
            <a:r>
              <a:rPr lang="en-US" altLang="zh-CN" sz="1600" dirty="0"/>
              <a:t>    curr_size_--; // </a:t>
            </a:r>
            <a:r>
              <a:rPr lang="zh-CN" altLang="en-US" sz="1600" dirty="0"/>
              <a:t>从</a:t>
            </a:r>
            <a:r>
              <a:rPr lang="en-US" altLang="zh-CN" sz="1600" dirty="0"/>
              <a:t>“</a:t>
            </a:r>
            <a:r>
              <a:rPr lang="zh-CN" altLang="en-US" sz="1600" dirty="0"/>
              <a:t>可驱逐</a:t>
            </a:r>
            <a:r>
              <a:rPr lang="en-US" altLang="zh-CN" sz="1600" dirty="0"/>
              <a:t>”</a:t>
            </a:r>
            <a:r>
              <a:rPr lang="zh-CN" altLang="en-US" sz="1600" dirty="0"/>
              <a:t>变为</a:t>
            </a:r>
            <a:r>
              <a:rPr lang="en-US" altLang="zh-CN" sz="1600" dirty="0"/>
              <a:t>“</a:t>
            </a:r>
            <a:r>
              <a:rPr lang="zh-CN" altLang="en-US" sz="1600" dirty="0"/>
              <a:t>不可驱逐</a:t>
            </a:r>
            <a:r>
              <a:rPr lang="en-US" altLang="zh-CN" sz="1600" dirty="0"/>
              <a:t>”</a:t>
            </a:r>
            <a:endParaRPr lang="en-US" altLang="zh-CN" sz="1600" dirty="0"/>
          </a:p>
          <a:p>
            <a:pPr>
              <a:lnSpc>
                <a:spcPct val="150000"/>
              </a:lnSpc>
            </a:pPr>
            <a:r>
              <a:rPr lang="en-US" altLang="zh-CN" sz="1600" dirty="0"/>
              <a:t>} else if (!frame_info.is_evictable_ &amp;&amp; set_evictable) {</a:t>
            </a:r>
            <a:endParaRPr lang="en-US" altLang="zh-CN" sz="1600" dirty="0"/>
          </a:p>
          <a:p>
            <a:pPr>
              <a:lnSpc>
                <a:spcPct val="150000"/>
              </a:lnSpc>
            </a:pPr>
            <a:r>
              <a:rPr lang="en-US" altLang="zh-CN" sz="1600" dirty="0"/>
              <a:t>    curr_size_++; // </a:t>
            </a:r>
            <a:r>
              <a:rPr lang="zh-CN" altLang="en-US" sz="1600" dirty="0"/>
              <a:t>从</a:t>
            </a:r>
            <a:r>
              <a:rPr lang="en-US" altLang="zh-CN" sz="1600" dirty="0"/>
              <a:t>“</a:t>
            </a:r>
            <a:r>
              <a:rPr lang="zh-CN" altLang="en-US" sz="1600" dirty="0"/>
              <a:t>不可驱逐</a:t>
            </a:r>
            <a:r>
              <a:rPr lang="en-US" altLang="zh-CN" sz="1600" dirty="0"/>
              <a:t>”</a:t>
            </a:r>
            <a:r>
              <a:rPr lang="zh-CN" altLang="en-US" sz="1600" dirty="0"/>
              <a:t>变为</a:t>
            </a:r>
            <a:r>
              <a:rPr lang="en-US" altLang="zh-CN" sz="1600" dirty="0"/>
              <a:t>“</a:t>
            </a:r>
            <a:r>
              <a:rPr lang="zh-CN" altLang="en-US" sz="1600" dirty="0"/>
              <a:t>可驱逐</a:t>
            </a:r>
            <a:r>
              <a:rPr lang="en-US" altLang="zh-CN" sz="1600" dirty="0"/>
              <a:t>”</a:t>
            </a:r>
            <a:endParaRPr lang="en-US" altLang="zh-CN" sz="1600" dirty="0"/>
          </a:p>
          <a:p>
            <a:pPr>
              <a:lnSpc>
                <a:spcPct val="150000"/>
              </a:lnSpc>
            </a:pPr>
            <a:r>
              <a:rPr lang="en-US" altLang="zh-CN" sz="1600" dirty="0"/>
              <a:t>}</a:t>
            </a:r>
            <a:endParaRPr lang="en-US" altLang="zh-CN" sz="1600" dirty="0"/>
          </a:p>
          <a:p>
            <a:pPr>
              <a:lnSpc>
                <a:spcPct val="150000"/>
              </a:lnSpc>
            </a:pPr>
            <a:r>
              <a:rPr lang="en-US" altLang="zh-CN" sz="1600" dirty="0"/>
              <a:t>frame_info.is_evictable_ = set_evictable;</a:t>
            </a:r>
            <a:endParaRPr lang="en-US" altLang="zh-CN"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Buffer Pool Manager</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完整实现</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5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页面生命周期管理：</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345" y="914400"/>
            <a:ext cx="7658100" cy="5689638"/>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5" name="文本框 14"/>
          <p:cNvSpPr txBox="1"/>
          <p:nvPr userDrawn="1"/>
        </p:nvSpPr>
        <p:spPr>
          <a:xfrm>
            <a:off x="459740" y="1492885"/>
            <a:ext cx="3414395" cy="508000"/>
          </a:xfrm>
          <a:prstGeom prst="rect">
            <a:avLst/>
          </a:prstGeom>
        </p:spPr>
        <p:txBody>
          <a:bodyPr wrap="square" rtlCol="0">
            <a:noAutofit/>
          </a:bodyPr>
          <a:p>
            <a:pPr>
              <a:lnSpc>
                <a:spcPct val="150000"/>
              </a:lnSpc>
            </a:pPr>
            <a:r>
              <a:rPr lang="zh-CN" altLang="en-US" sz="1600" dirty="0"/>
              <a:t>新建</a:t>
            </a:r>
            <a:r>
              <a:rPr lang="en-US" altLang="en-US" sz="1600" dirty="0"/>
              <a:t>→</a:t>
            </a:r>
            <a:r>
              <a:rPr lang="en-US" altLang="zh-CN" sz="1600" dirty="0"/>
              <a:t>Pin</a:t>
            </a:r>
            <a:r>
              <a:rPr lang="en-US" altLang="en-US" sz="1600" dirty="0"/>
              <a:t>→</a:t>
            </a:r>
            <a:r>
              <a:rPr lang="zh-CN" altLang="en-US" sz="1600" dirty="0"/>
              <a:t>使用</a:t>
            </a:r>
            <a:r>
              <a:rPr lang="en-US" altLang="en-US" sz="1600" dirty="0"/>
              <a:t>→</a:t>
            </a:r>
            <a:r>
              <a:rPr lang="en-US" altLang="zh-CN" sz="1600" dirty="0"/>
              <a:t>Unpin</a:t>
            </a:r>
            <a:r>
              <a:rPr lang="en-US" altLang="en-US" sz="1600" dirty="0"/>
              <a:t>→</a:t>
            </a:r>
            <a:r>
              <a:rPr lang="en-US" altLang="zh-CN" sz="1600" dirty="0"/>
              <a:t>Evict/Flush</a:t>
            </a:r>
            <a:endParaRPr lang="en-US" altLang="zh-CN" sz="1600" dirty="0"/>
          </a:p>
          <a:p>
            <a:pPr>
              <a:lnSpc>
                <a:spcPct val="150000"/>
              </a:lnSpc>
            </a:pPr>
            <a:endParaRPr lang="zh-CN" altLang="en-US" sz="1600" dirty="0"/>
          </a:p>
        </p:txBody>
      </p:sp>
      <p:sp>
        <p:nvSpPr>
          <p:cNvPr id="8" name="文本框 7"/>
          <p:cNvSpPr txBox="1"/>
          <p:nvPr/>
        </p:nvSpPr>
        <p:spPr>
          <a:xfrm>
            <a:off x="459740" y="2522962"/>
            <a:ext cx="2584450" cy="460375"/>
          </a:xfrm>
          <a:prstGeom prst="rect">
            <a:avLst/>
          </a:prstGeom>
          <a:noFill/>
        </p:spPr>
        <p:txBody>
          <a:bodyPr wrap="square" rtlCol="0">
            <a:spAutoFit/>
          </a:bodyPr>
          <a:p>
            <a:pPr>
              <a:lnSpc>
                <a:spcPct val="120000"/>
              </a:lnSpc>
              <a:buClrTx/>
              <a:buSzTx/>
              <a:buFontTx/>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核心操作实现：</a:t>
            </a:r>
            <a:endPar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6" name="文本框 15"/>
          <p:cNvSpPr txBox="1"/>
          <p:nvPr/>
        </p:nvSpPr>
        <p:spPr>
          <a:xfrm>
            <a:off x="495300" y="2966720"/>
            <a:ext cx="3378835" cy="1174115"/>
          </a:xfrm>
          <a:prstGeom prst="rect">
            <a:avLst/>
          </a:prstGeom>
          <a:noFill/>
        </p:spPr>
        <p:txBody>
          <a:bodyPr wrap="square" rtlCol="0">
            <a:noAutofit/>
          </a:bodyPr>
          <a:p>
            <a:pPr>
              <a:lnSpc>
                <a:spcPct val="120000"/>
              </a:lnSpc>
              <a:buClrTx/>
              <a:buSzTx/>
              <a:buFontTx/>
            </a:pPr>
            <a:r>
              <a:rPr lang="en-US" altLang="zh-CN" sz="1600" dirty="0"/>
              <a:t>1. 页面获取（NewPage &amp; FetchPage）</a:t>
            </a:r>
            <a:endParaRPr lang="en-US" altLang="zh-CN" sz="1600" dirty="0"/>
          </a:p>
          <a:p>
            <a:pPr>
              <a:lnSpc>
                <a:spcPct val="120000"/>
              </a:lnSpc>
              <a:buClrTx/>
              <a:buSzTx/>
              <a:buFontTx/>
            </a:pPr>
            <a:r>
              <a:rPr lang="en-US" altLang="zh-CN" sz="1600" dirty="0"/>
              <a:t>2. 页面归还与驱逐（UnpinPage）</a:t>
            </a:r>
            <a:endParaRPr lang="en-US" altLang="zh-CN" sz="1600" dirty="0"/>
          </a:p>
        </p:txBody>
      </p:sp>
      <p:sp>
        <p:nvSpPr>
          <p:cNvPr id="14" name="文本框 13"/>
          <p:cNvSpPr txBox="1"/>
          <p:nvPr/>
        </p:nvSpPr>
        <p:spPr>
          <a:xfrm>
            <a:off x="4652010" y="1117600"/>
            <a:ext cx="6814820" cy="5229860"/>
          </a:xfrm>
          <a:prstGeom prst="rect">
            <a:avLst/>
          </a:prstGeom>
          <a:noFill/>
        </p:spPr>
        <p:txBody>
          <a:bodyPr wrap="square" rtlCol="0">
            <a:noAutofit/>
          </a:bodyPr>
          <a:p>
            <a:pPr>
              <a:lnSpc>
                <a:spcPct val="120000"/>
              </a:lnSpc>
              <a:buClrTx/>
              <a:buSzTx/>
              <a:buFontTx/>
            </a:pP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核心流程</a:t>
            </a:r>
            <a:r>
              <a:rPr lang="en-US" altLang="zh-CN"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 (I)</a:t>
            </a: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：页面获取（</a:t>
            </a:r>
            <a:r>
              <a:rPr lang="en-US" altLang="zh-CN"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NewPage &amp; FetchPage</a:t>
            </a: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en-US" altLang="zh-CN" sz="1600" dirty="0"/>
              <a:t>流程共性：获取可用帧</a:t>
            </a:r>
            <a:endParaRPr lang="en-US" altLang="zh-CN" sz="1600" dirty="0"/>
          </a:p>
          <a:p>
            <a:pPr>
              <a:lnSpc>
                <a:spcPct val="120000"/>
              </a:lnSpc>
              <a:buClrTx/>
              <a:buSzTx/>
              <a:buFontTx/>
            </a:pPr>
            <a:r>
              <a:rPr lang="zh-CN" altLang="en-US" sz="1600" dirty="0"/>
              <a:t>缓冲池的动作：</a:t>
            </a:r>
            <a:endParaRPr lang="en-US" altLang="zh-CN" sz="1600" dirty="0"/>
          </a:p>
          <a:p>
            <a:pPr>
              <a:lnSpc>
                <a:spcPct val="120000"/>
              </a:lnSpc>
              <a:buClrTx/>
              <a:buSzTx/>
              <a:buFontTx/>
            </a:pPr>
            <a:r>
              <a:rPr lang="zh-CN" altLang="en-US" sz="1600" dirty="0"/>
              <a:t>从</a:t>
            </a:r>
            <a:r>
              <a:rPr lang="en-US" altLang="zh-CN" sz="1600" dirty="0"/>
              <a:t> free_list </a:t>
            </a:r>
            <a:r>
              <a:rPr lang="zh-CN" altLang="en-US" sz="1600" dirty="0"/>
              <a:t>找空闲帧，或调用</a:t>
            </a:r>
            <a:r>
              <a:rPr lang="en-US" altLang="zh-CN" sz="1600" dirty="0"/>
              <a:t> replacer_-&gt;Evict() </a:t>
            </a:r>
            <a:r>
              <a:rPr lang="zh-CN" altLang="en-US" sz="1600" dirty="0"/>
              <a:t>驱逐一页来腾出空位，若驱逐页</a:t>
            </a:r>
            <a:r>
              <a:rPr lang="en-US" altLang="zh-CN" sz="1600" dirty="0"/>
              <a:t>dirty</a:t>
            </a:r>
            <a:r>
              <a:rPr lang="zh-CN" altLang="en-US" sz="1600" dirty="0"/>
              <a:t>，写回磁盘</a:t>
            </a:r>
            <a:r>
              <a:rPr lang="zh-CN" altLang="en-US" sz="1600" dirty="0"/>
              <a:t>。</a:t>
            </a:r>
            <a:endParaRPr lang="en-US" altLang="zh-CN" sz="1600" dirty="0"/>
          </a:p>
          <a:p>
            <a:pPr>
              <a:lnSpc>
                <a:spcPct val="120000"/>
              </a:lnSpc>
              <a:buClrTx/>
              <a:buSzTx/>
              <a:buFontTx/>
            </a:pPr>
            <a:r>
              <a:rPr lang="zh-CN" altLang="en-US" sz="1600" dirty="0"/>
              <a:t>为新页分配</a:t>
            </a:r>
            <a:r>
              <a:rPr lang="en-US" altLang="zh-CN" sz="1600" dirty="0"/>
              <a:t> page_id</a:t>
            </a:r>
            <a:r>
              <a:rPr lang="zh-CN" altLang="en-US" sz="1600" dirty="0"/>
              <a:t>，插入</a:t>
            </a:r>
            <a:r>
              <a:rPr lang="en-US" altLang="zh-CN" sz="1600" dirty="0"/>
              <a:t>page_table</a:t>
            </a:r>
            <a:r>
              <a:rPr lang="zh-CN" altLang="en-US" sz="1600" dirty="0"/>
              <a:t>或从磁盘读取数据。</a:t>
            </a:r>
            <a:endParaRPr lang="en-US" altLang="zh-CN" sz="1600" dirty="0"/>
          </a:p>
          <a:p>
            <a:pPr>
              <a:lnSpc>
                <a:spcPct val="120000"/>
              </a:lnSpc>
              <a:buClrTx/>
              <a:buSzTx/>
              <a:buFontTx/>
            </a:pPr>
            <a:r>
              <a:rPr lang="zh-CN" altLang="en-US" sz="1600" dirty="0"/>
              <a:t>在</a:t>
            </a:r>
            <a:r>
              <a:rPr lang="en-US" altLang="zh-CN" sz="1600" dirty="0"/>
              <a:t> page_table </a:t>
            </a:r>
            <a:r>
              <a:rPr lang="zh-CN" altLang="en-US" sz="1600" dirty="0"/>
              <a:t>中建立</a:t>
            </a:r>
            <a:r>
              <a:rPr lang="en-US" altLang="zh-CN" sz="1600" dirty="0"/>
              <a:t> page_id -&gt; frame_id </a:t>
            </a:r>
            <a:r>
              <a:rPr lang="zh-CN" altLang="en-US" sz="1600" dirty="0"/>
              <a:t>的映射。</a:t>
            </a:r>
            <a:endParaRPr lang="zh-CN" altLang="en-US" sz="1600" dirty="0"/>
          </a:p>
          <a:p>
            <a:pPr>
              <a:lnSpc>
                <a:spcPct val="120000"/>
              </a:lnSpc>
              <a:buClrTx/>
              <a:buSzTx/>
              <a:buFontTx/>
            </a:pPr>
            <a:endParaRPr lang="zh-CN" altLang="en-US" sz="1600" dirty="0"/>
          </a:p>
          <a:p>
            <a:pPr>
              <a:lnSpc>
                <a:spcPct val="120000"/>
              </a:lnSpc>
              <a:buClrTx/>
              <a:buSzTx/>
              <a:buFontTx/>
            </a:pPr>
            <a:r>
              <a:rPr lang="zh-CN" altLang="en-US" sz="1600" dirty="0"/>
              <a:t>流程差异</a:t>
            </a:r>
            <a:endParaRPr lang="zh-CN" altLang="en-US" sz="1600" dirty="0"/>
          </a:p>
          <a:p>
            <a:pPr>
              <a:lnSpc>
                <a:spcPct val="120000"/>
              </a:lnSpc>
              <a:buClrTx/>
              <a:buSzTx/>
              <a:buFontTx/>
            </a:pPr>
            <a:r>
              <a:rPr lang="en-US" altLang="zh-CN" sz="1600" dirty="0"/>
              <a:t>NewPage (NewPgImp)</a:t>
            </a:r>
            <a:r>
              <a:rPr lang="zh-CN" altLang="en-US" sz="1600" dirty="0"/>
              <a:t>：</a:t>
            </a:r>
            <a:endParaRPr lang="en-US" altLang="zh-CN" sz="1600" dirty="0"/>
          </a:p>
          <a:p>
            <a:pPr>
              <a:lnSpc>
                <a:spcPct val="120000"/>
              </a:lnSpc>
              <a:buClrTx/>
              <a:buSzTx/>
              <a:buFontTx/>
            </a:pPr>
            <a:r>
              <a:rPr lang="zh-CN" altLang="en-US" sz="1600" dirty="0"/>
              <a:t>数据来源：调用</a:t>
            </a:r>
            <a:r>
              <a:rPr lang="en-US" altLang="zh-CN" sz="1600" dirty="0"/>
              <a:t> AllocatePage() </a:t>
            </a:r>
            <a:r>
              <a:rPr lang="zh-CN" altLang="en-US" sz="1600" dirty="0"/>
              <a:t>分配新</a:t>
            </a:r>
            <a:r>
              <a:rPr lang="en-US" altLang="zh-CN" sz="1600" dirty="0"/>
              <a:t> page_id</a:t>
            </a:r>
            <a:r>
              <a:rPr lang="zh-CN" altLang="en-US" sz="1600" dirty="0"/>
              <a:t>，页面内容为空。</a:t>
            </a:r>
            <a:endParaRPr lang="en-US" altLang="zh-CN" sz="1600" dirty="0"/>
          </a:p>
          <a:p>
            <a:pPr>
              <a:lnSpc>
                <a:spcPct val="120000"/>
              </a:lnSpc>
              <a:buClrTx/>
              <a:buSzTx/>
              <a:buFontTx/>
            </a:pPr>
            <a:r>
              <a:rPr lang="zh-CN" altLang="en-US" sz="1600" dirty="0"/>
              <a:t>目的：为插入新数据提供空间。</a:t>
            </a:r>
            <a:endParaRPr lang="en-US" altLang="zh-CN" sz="1600" dirty="0"/>
          </a:p>
          <a:p>
            <a:pPr>
              <a:lnSpc>
                <a:spcPct val="120000"/>
              </a:lnSpc>
              <a:buClrTx/>
              <a:buSzTx/>
              <a:buFontTx/>
            </a:pPr>
            <a:r>
              <a:rPr lang="en-US" altLang="zh-CN" sz="1600" dirty="0"/>
              <a:t>FetchPage (FetchPgImp)</a:t>
            </a:r>
            <a:r>
              <a:rPr lang="zh-CN" altLang="en-US" sz="1600" dirty="0"/>
              <a:t>：</a:t>
            </a:r>
            <a:endParaRPr lang="en-US" altLang="zh-CN" sz="1600" dirty="0"/>
          </a:p>
          <a:p>
            <a:pPr>
              <a:lnSpc>
                <a:spcPct val="120000"/>
              </a:lnSpc>
              <a:buClrTx/>
              <a:buSzTx/>
              <a:buFontTx/>
            </a:pPr>
            <a:r>
              <a:rPr lang="zh-CN" altLang="en-US" sz="1600" dirty="0"/>
              <a:t>快速路径：首先通过</a:t>
            </a:r>
            <a:r>
              <a:rPr lang="en-US" altLang="zh-CN" sz="1600" dirty="0"/>
              <a:t> page_table_-&gt;Find </a:t>
            </a:r>
            <a:r>
              <a:rPr lang="zh-CN" altLang="en-US" sz="1600" dirty="0"/>
              <a:t>检查缓存是否命中，命中</a:t>
            </a:r>
            <a:r>
              <a:rPr lang="en-US" altLang="en-US" sz="1600" dirty="0"/>
              <a:t>→</a:t>
            </a:r>
            <a:r>
              <a:rPr lang="en-US" altLang="zh-CN" sz="1600" dirty="0"/>
              <a:t>pin_count++</a:t>
            </a:r>
            <a:r>
              <a:rPr lang="zh-CN" altLang="en-US" sz="1600" dirty="0"/>
              <a:t>，记录访问。未命中</a:t>
            </a:r>
            <a:r>
              <a:rPr lang="en-US" altLang="en-US" sz="1600" dirty="0"/>
              <a:t>→</a:t>
            </a:r>
            <a:r>
              <a:rPr lang="zh-CN" altLang="en-US" sz="1600" dirty="0"/>
              <a:t>同</a:t>
            </a:r>
            <a:r>
              <a:rPr lang="en-US" altLang="zh-CN" sz="1600" dirty="0"/>
              <a:t>NewPage</a:t>
            </a:r>
            <a:r>
              <a:rPr lang="zh-CN" altLang="en-US" sz="1600" dirty="0"/>
              <a:t>取帧。</a:t>
            </a:r>
            <a:endParaRPr lang="zh-CN" altLang="en-US" sz="1600" dirty="0"/>
          </a:p>
          <a:p>
            <a:pPr>
              <a:lnSpc>
                <a:spcPct val="120000"/>
              </a:lnSpc>
              <a:buClrTx/>
              <a:buSzTx/>
              <a:buFontTx/>
            </a:pPr>
            <a:r>
              <a:rPr lang="zh-CN" altLang="en-US" sz="1600" dirty="0"/>
              <a:t>数据来源：缓存未命中时，调用</a:t>
            </a:r>
            <a:r>
              <a:rPr lang="en-US" altLang="zh-CN" sz="1600" dirty="0"/>
              <a:t> disk_manager_-&gt;ReadPage </a:t>
            </a:r>
            <a:r>
              <a:rPr lang="zh-CN" altLang="en-US" sz="1600" dirty="0"/>
              <a:t>从磁盘加载数据。</a:t>
            </a:r>
            <a:endParaRPr lang="en-US" altLang="zh-CN" sz="1600" dirty="0"/>
          </a:p>
          <a:p>
            <a:pPr>
              <a:lnSpc>
                <a:spcPct val="120000"/>
              </a:lnSpc>
              <a:buClrTx/>
              <a:buSzTx/>
              <a:buFontTx/>
            </a:pPr>
            <a:r>
              <a:rPr lang="zh-CN" altLang="en-US" sz="1600" dirty="0"/>
              <a:t>目的：访问已存在的页面。</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Buffer Pool Manager</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完整实现</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9" name="Shape 6"/>
          <p:cNvSpPr/>
          <p:nvPr/>
        </p:nvSpPr>
        <p:spPr>
          <a:xfrm>
            <a:off x="589280" y="914400"/>
            <a:ext cx="1154684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4" name="文本框 13"/>
          <p:cNvSpPr txBox="1"/>
          <p:nvPr/>
        </p:nvSpPr>
        <p:spPr>
          <a:xfrm>
            <a:off x="893445" y="1117600"/>
            <a:ext cx="4726940" cy="5229860"/>
          </a:xfrm>
          <a:prstGeom prst="rect">
            <a:avLst/>
          </a:prstGeom>
          <a:noFill/>
        </p:spPr>
        <p:txBody>
          <a:bodyPr wrap="square" rtlCol="0">
            <a:noAutofit/>
          </a:bodyPr>
          <a:p>
            <a:pPr>
              <a:lnSpc>
                <a:spcPct val="120000"/>
              </a:lnSpc>
              <a:buClrTx/>
              <a:buSzTx/>
              <a:buFontTx/>
            </a:pPr>
            <a:r>
              <a:rPr lang="en-US" altLang="zh-CN"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核心流程 (II)：页面归还与驱逐（UnpinPage）流程共性：获取可用帧</a:t>
            </a:r>
            <a:endParaRPr lang="en-US" altLang="zh-CN"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zh-CN" altLang="en-US" sz="1600" dirty="0"/>
              <a:t>调用时机：上层模块完成对页面的读写操作后调用。</a:t>
            </a:r>
            <a:endParaRPr lang="en-US" altLang="zh-CN" sz="1600" dirty="0"/>
          </a:p>
          <a:p>
            <a:pPr>
              <a:lnSpc>
                <a:spcPct val="120000"/>
              </a:lnSpc>
              <a:buClrTx/>
              <a:buSzTx/>
              <a:buFontTx/>
            </a:pPr>
            <a:r>
              <a:rPr lang="zh-CN" altLang="en-US" sz="1600" dirty="0"/>
              <a:t>核心三步：</a:t>
            </a:r>
            <a:endParaRPr lang="en-US" altLang="zh-CN" sz="1600" dirty="0"/>
          </a:p>
          <a:p>
            <a:pPr>
              <a:lnSpc>
                <a:spcPct val="120000"/>
              </a:lnSpc>
              <a:buClrTx/>
              <a:buSzTx/>
              <a:buFontTx/>
            </a:pPr>
            <a:r>
              <a:rPr lang="en-US" altLang="zh-CN" sz="1600" dirty="0"/>
              <a:t>· </a:t>
            </a:r>
            <a:r>
              <a:rPr lang="zh-CN" altLang="en-US" sz="1600" dirty="0"/>
              <a:t>减少引用计数：</a:t>
            </a:r>
            <a:r>
              <a:rPr lang="en-US" altLang="zh-CN" sz="1600" dirty="0"/>
              <a:t>pin_count_--</a:t>
            </a:r>
            <a:r>
              <a:rPr lang="zh-CN" altLang="en-US" sz="1600" dirty="0"/>
              <a:t>。</a:t>
            </a:r>
            <a:endParaRPr lang="en-US" altLang="zh-CN" sz="1600" dirty="0"/>
          </a:p>
          <a:p>
            <a:pPr>
              <a:lnSpc>
                <a:spcPct val="120000"/>
              </a:lnSpc>
              <a:buClrTx/>
              <a:buSzTx/>
              <a:buFontTx/>
            </a:pPr>
            <a:r>
              <a:rPr lang="en-US" altLang="zh-CN" sz="1600" dirty="0"/>
              <a:t>· </a:t>
            </a:r>
            <a:r>
              <a:rPr lang="zh-CN" altLang="en-US" sz="1600" dirty="0"/>
              <a:t>更新脏标志：根据参数</a:t>
            </a:r>
            <a:r>
              <a:rPr lang="en-US" altLang="zh-CN" sz="1600" dirty="0"/>
              <a:t> is_dirty </a:t>
            </a:r>
            <a:r>
              <a:rPr lang="zh-CN" altLang="en-US" sz="1600" dirty="0"/>
              <a:t>单向设置（</a:t>
            </a:r>
            <a:r>
              <a:rPr lang="en-US" altLang="zh-CN" sz="1600" dirty="0"/>
              <a:t>false </a:t>
            </a:r>
            <a:r>
              <a:rPr lang="en-US" altLang="en-US" sz="1600" dirty="0"/>
              <a:t>→</a:t>
            </a:r>
            <a:r>
              <a:rPr lang="en-US" altLang="zh-CN" sz="1600" dirty="0"/>
              <a:t> true</a:t>
            </a:r>
            <a:r>
              <a:rPr lang="zh-CN" altLang="en-US" sz="1600" dirty="0"/>
              <a:t>），确保修改不丢失。</a:t>
            </a:r>
            <a:endParaRPr lang="en-US" altLang="zh-CN" sz="1600" dirty="0"/>
          </a:p>
          <a:p>
            <a:pPr>
              <a:lnSpc>
                <a:spcPct val="120000"/>
              </a:lnSpc>
              <a:buClrTx/>
              <a:buSzTx/>
              <a:buFontTx/>
            </a:pPr>
            <a:r>
              <a:rPr lang="en-US" altLang="zh-CN" sz="1600" dirty="0"/>
              <a:t>· </a:t>
            </a:r>
            <a:r>
              <a:rPr lang="zh-CN" altLang="en-US" sz="1600" dirty="0"/>
              <a:t>标记可驱逐：仅当</a:t>
            </a:r>
            <a:r>
              <a:rPr lang="en-US" altLang="zh-CN" sz="1600" dirty="0"/>
              <a:t> pin_count_ </a:t>
            </a:r>
            <a:r>
              <a:rPr lang="zh-CN" altLang="en-US" sz="1600" dirty="0"/>
              <a:t>减至</a:t>
            </a:r>
            <a:r>
              <a:rPr lang="en-US" altLang="zh-CN" sz="1600" dirty="0"/>
              <a:t>0</a:t>
            </a:r>
            <a:r>
              <a:rPr lang="zh-CN" altLang="en-US" sz="1600" dirty="0"/>
              <a:t>时，调用</a:t>
            </a:r>
            <a:r>
              <a:rPr lang="en-US" altLang="zh-CN" sz="1600" dirty="0"/>
              <a:t> replacer_-&gt;SetEvictable(frame_id, true)</a:t>
            </a:r>
            <a:r>
              <a:rPr lang="zh-CN" altLang="en-US" sz="1600" dirty="0"/>
              <a:t>，将该帧交还给替换器管理。</a:t>
            </a:r>
            <a:endParaRPr lang="zh-CN" altLang="en-US" sz="1600" dirty="0"/>
          </a:p>
          <a:p>
            <a:pPr>
              <a:lnSpc>
                <a:spcPct val="120000"/>
              </a:lnSpc>
              <a:buClrTx/>
              <a:buSzTx/>
              <a:buFontTx/>
            </a:pPr>
            <a:r>
              <a:rPr lang="en-US" altLang="zh-CN" sz="1600" dirty="0"/>
              <a:t>pin_count_ </a:t>
            </a:r>
            <a:r>
              <a:rPr lang="zh-CN" altLang="en-US" sz="1600" dirty="0"/>
              <a:t>是内部资源锁，</a:t>
            </a:r>
            <a:r>
              <a:rPr lang="en-US" altLang="zh-CN" sz="1600" dirty="0"/>
              <a:t>is_evictable_ </a:t>
            </a:r>
            <a:r>
              <a:rPr lang="zh-CN" altLang="en-US" sz="1600" dirty="0"/>
              <a:t>是外部安全契约。两者结合，完美平衡了页面持有的灵活性与缓存管理的安全性</a:t>
            </a:r>
            <a:r>
              <a:rPr lang="en-US" altLang="zh-CN" sz="1600" dirty="0"/>
              <a:t>:</a:t>
            </a:r>
            <a:endParaRPr lang="en-US" altLang="zh-CN" sz="1600" dirty="0"/>
          </a:p>
          <a:p>
            <a:pPr>
              <a:lnSpc>
                <a:spcPct val="120000"/>
              </a:lnSpc>
              <a:buClrTx/>
              <a:buSzTx/>
              <a:buFontTx/>
            </a:pPr>
            <a:r>
              <a:rPr lang="zh-CN" altLang="en-US" sz="1600" dirty="0">
                <a:sym typeface="+mn-ea"/>
              </a:rPr>
              <a:t>auto BufferPoolManagerInstance::UnpinPgImp(page_id_t page_id, bool is_dirty) -&gt; bool {</a:t>
            </a:r>
            <a:endParaRPr lang="zh-CN" altLang="en-US" sz="1600" dirty="0"/>
          </a:p>
          <a:p>
            <a:pPr>
              <a:lnSpc>
                <a:spcPct val="120000"/>
              </a:lnSpc>
              <a:buClrTx/>
              <a:buSzTx/>
              <a:buFontTx/>
            </a:pPr>
            <a:r>
              <a:rPr lang="zh-CN" altLang="en-US" sz="1600" dirty="0">
                <a:sym typeface="+mn-ea"/>
              </a:rPr>
              <a:t>  // 1. 线程安全：使用scoped_lock保护整个函数</a:t>
            </a:r>
            <a:endParaRPr lang="zh-CN" altLang="en-US" sz="1600" dirty="0"/>
          </a:p>
          <a:p>
            <a:pPr>
              <a:lnSpc>
                <a:spcPct val="120000"/>
              </a:lnSpc>
              <a:buClrTx/>
              <a:buSzTx/>
              <a:buFontTx/>
            </a:pPr>
            <a:r>
              <a:rPr lang="zh-CN" altLang="en-US" sz="1600" dirty="0">
                <a:sym typeface="+mn-ea"/>
              </a:rPr>
              <a:t>  std::scoped_lock lock(latch_);</a:t>
            </a:r>
            <a:endParaRPr lang="zh-CN" altLang="en-US" sz="1600" dirty="0"/>
          </a:p>
          <a:p>
            <a:pPr>
              <a:lnSpc>
                <a:spcPct val="120000"/>
              </a:lnSpc>
              <a:buClrTx/>
              <a:buSzTx/>
              <a:buFontTx/>
            </a:pPr>
            <a:endParaRPr lang="en-US" altLang="zh-CN" sz="1600" dirty="0"/>
          </a:p>
        </p:txBody>
      </p:sp>
      <p:sp>
        <p:nvSpPr>
          <p:cNvPr id="10" name="文本框 9"/>
          <p:cNvSpPr txBox="1"/>
          <p:nvPr/>
        </p:nvSpPr>
        <p:spPr>
          <a:xfrm>
            <a:off x="5680710" y="1002030"/>
            <a:ext cx="6423660" cy="12602210"/>
          </a:xfrm>
          <a:prstGeom prst="rect">
            <a:avLst/>
          </a:prstGeom>
          <a:noFill/>
        </p:spPr>
        <p:txBody>
          <a:bodyPr wrap="square" rtlCol="0">
            <a:noAutofit/>
          </a:bodyPr>
          <a:p>
            <a:r>
              <a:rPr lang="zh-CN" altLang="en-US" sz="1600" dirty="0"/>
              <a:t> </a:t>
            </a:r>
            <a:r>
              <a:rPr lang="zh-CN" altLang="en-US" sz="1600" dirty="0">
                <a:sym typeface="+mn-ea"/>
              </a:rPr>
              <a:t>frame_id_t frame_id;</a:t>
            </a:r>
            <a:endParaRPr lang="en-US" altLang="zh-CN" sz="1600" dirty="0"/>
          </a:p>
          <a:p>
            <a:r>
              <a:rPr lang="zh-CN" altLang="en-US" sz="1600" dirty="0"/>
              <a:t> // 2. 查找页面：通过page_table确认页面是否在缓冲池中</a:t>
            </a:r>
            <a:endParaRPr lang="zh-CN" altLang="en-US" sz="1600" dirty="0"/>
          </a:p>
          <a:p>
            <a:r>
              <a:rPr lang="zh-CN" altLang="en-US" sz="1600" dirty="0"/>
              <a:t>  if (!page_table_-&gt;Find(page_id, frame_id)) {</a:t>
            </a:r>
            <a:endParaRPr lang="zh-CN" altLang="en-US" sz="1600" dirty="0"/>
          </a:p>
          <a:p>
            <a:r>
              <a:rPr lang="zh-CN" altLang="en-US" sz="1600" dirty="0"/>
              <a:t>    return false; // 页面不存在于缓冲池</a:t>
            </a:r>
            <a:endParaRPr lang="zh-CN" altLang="en-US" sz="1600" dirty="0"/>
          </a:p>
          <a:p>
            <a:r>
              <a:rPr lang="zh-CN" altLang="en-US" sz="1600" dirty="0"/>
              <a:t>  }</a:t>
            </a:r>
            <a:endParaRPr lang="zh-CN" altLang="en-US" sz="1600" dirty="0"/>
          </a:p>
          <a:p>
            <a:r>
              <a:rPr lang="zh-CN" altLang="en-US" sz="1600" dirty="0"/>
              <a:t>  // 3. 安全校验：确保pin_count不会变为负数</a:t>
            </a:r>
            <a:endParaRPr lang="zh-CN" altLang="en-US" sz="1600" dirty="0"/>
          </a:p>
          <a:p>
            <a:r>
              <a:rPr lang="zh-CN" altLang="en-US" sz="1600" dirty="0"/>
              <a:t>  if (pages_[frame_id].GetPinCount() &lt;= 0) {</a:t>
            </a:r>
            <a:endParaRPr lang="zh-CN" altLang="en-US" sz="1600" dirty="0"/>
          </a:p>
          <a:p>
            <a:r>
              <a:rPr lang="zh-CN" altLang="en-US" sz="1600" dirty="0"/>
              <a:t>    return false; // pin_count已为0或负数，状态异常</a:t>
            </a:r>
            <a:endParaRPr lang="zh-CN" altLang="en-US" sz="1600" dirty="0"/>
          </a:p>
          <a:p>
            <a:r>
              <a:rPr lang="zh-CN" altLang="en-US" sz="1600" dirty="0"/>
              <a:t>  }</a:t>
            </a:r>
            <a:endParaRPr lang="zh-CN" altLang="en-US" sz="1600" dirty="0"/>
          </a:p>
          <a:p>
            <a:r>
              <a:rPr lang="zh-CN" altLang="en-US" sz="1600" dirty="0"/>
              <a:t>  // 4. 核心操作：减少页面的引用计数</a:t>
            </a:r>
            <a:endParaRPr lang="zh-CN" altLang="en-US" sz="1600" dirty="0"/>
          </a:p>
          <a:p>
            <a:r>
              <a:rPr lang="zh-CN" altLang="en-US" sz="1600" dirty="0"/>
              <a:t>  pages_[frame_id].pin_count_--;</a:t>
            </a:r>
            <a:endParaRPr lang="zh-CN" altLang="en-US" sz="1600" dirty="0"/>
          </a:p>
          <a:p>
            <a:r>
              <a:rPr lang="zh-CN" altLang="en-US" sz="1600" dirty="0"/>
              <a:t>  // 5. 更新脏页标志（单向：只能设为true，不能清除）</a:t>
            </a:r>
            <a:endParaRPr lang="zh-CN" altLang="en-US" sz="1600" dirty="0"/>
          </a:p>
          <a:p>
            <a:r>
              <a:rPr lang="zh-CN" altLang="en-US" sz="1600" dirty="0"/>
              <a:t>  if (is_dirty) {</a:t>
            </a:r>
            <a:r>
              <a:rPr lang="en-US" altLang="zh-CN" sz="1600" dirty="0"/>
              <a:t>	</a:t>
            </a:r>
            <a:endParaRPr lang="zh-CN" altLang="en-US" sz="1600" dirty="0"/>
          </a:p>
          <a:p>
            <a:r>
              <a:rPr lang="zh-CN" altLang="en-US" sz="1600" dirty="0"/>
              <a:t>    pages_[frame_id].is_dirty_ = true;</a:t>
            </a:r>
            <a:endParaRPr lang="zh-CN" altLang="en-US" sz="1600" dirty="0"/>
          </a:p>
          <a:p>
            <a:r>
              <a:rPr lang="zh-CN" altLang="en-US" sz="1600" dirty="0"/>
              <a:t>  }</a:t>
            </a:r>
            <a:endParaRPr lang="zh-CN" altLang="en-US" sz="1600" dirty="0"/>
          </a:p>
          <a:p>
            <a:r>
              <a:rPr lang="zh-CN" altLang="en-US" sz="1600" dirty="0"/>
              <a:t>  // &gt;&gt;&gt;&gt;&gt; 【关键逻辑】判断pin_count是否归零 &lt;&lt;&lt;&lt;&lt;</a:t>
            </a:r>
            <a:endParaRPr lang="zh-CN" altLang="en-US" sz="1600" dirty="0"/>
          </a:p>
          <a:p>
            <a:r>
              <a:rPr lang="zh-CN" altLang="en-US" sz="1600" dirty="0"/>
              <a:t>  if (pages_[frame_id].GetPinCount() == 0) {</a:t>
            </a:r>
            <a:endParaRPr lang="zh-CN" altLang="en-US" sz="1600" dirty="0"/>
          </a:p>
          <a:p>
            <a:r>
              <a:rPr lang="zh-CN" altLang="en-US" sz="1600" dirty="0"/>
              <a:t>    // 6. 状态转换：页面不再被使用，标记为“可驱逐”</a:t>
            </a:r>
            <a:endParaRPr lang="zh-CN" altLang="en-US" sz="1600" dirty="0"/>
          </a:p>
          <a:p>
            <a:r>
              <a:rPr lang="zh-CN" altLang="en-US" sz="1600" dirty="0"/>
              <a:t>    replacer_-&gt;SetEvictable(frame_id, true);</a:t>
            </a:r>
            <a:endParaRPr lang="zh-CN" altLang="en-US" sz="1600" dirty="0"/>
          </a:p>
          <a:p>
            <a:r>
              <a:rPr lang="zh-CN" altLang="en-US" sz="1600" dirty="0"/>
              <a:t>  }</a:t>
            </a:r>
            <a:endParaRPr lang="zh-CN" altLang="en-US" sz="1600" dirty="0"/>
          </a:p>
          <a:p>
            <a:r>
              <a:rPr lang="zh-CN" altLang="en-US" sz="1600" dirty="0"/>
              <a:t>  return true;</a:t>
            </a:r>
            <a:endParaRPr lang="zh-CN" altLang="en-US" sz="1600" dirty="0"/>
          </a:p>
          <a:p>
            <a:r>
              <a:rPr lang="zh-CN" altLang="en-US" sz="1600" dirty="0"/>
              <a:t>}</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635"/>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Buffer Pool Manager</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完整实现</a:t>
            </a:r>
            <a:endPar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endParaRPr>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5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关键机制与设计权衡</a:t>
            </a:r>
            <a:endPar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345" y="914400"/>
            <a:ext cx="7658100" cy="5689638"/>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6" name="文本框 15"/>
          <p:cNvSpPr txBox="1"/>
          <p:nvPr/>
        </p:nvSpPr>
        <p:spPr>
          <a:xfrm>
            <a:off x="312420" y="2190115"/>
            <a:ext cx="3763010" cy="4364355"/>
          </a:xfrm>
          <a:prstGeom prst="rect">
            <a:avLst/>
          </a:prstGeom>
          <a:noFill/>
        </p:spPr>
        <p:txBody>
          <a:bodyPr wrap="square" rtlCol="0">
            <a:noAutofit/>
          </a:bodyPr>
          <a:p>
            <a:pPr>
              <a:lnSpc>
                <a:spcPct val="120000"/>
              </a:lnSpc>
              <a:buClrTx/>
              <a:buSzTx/>
              <a:buFontTx/>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1.</a:t>
            </a: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脏页处理策略</a:t>
            </a: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gn="l">
              <a:lnSpc>
                <a:spcPct val="120000"/>
              </a:lnSpc>
              <a:buClrTx/>
              <a:buSzTx/>
              <a:buFontTx/>
              <a:buNone/>
            </a:pPr>
            <a:r>
              <a:rPr lang="zh-CN" altLang="en-US" sz="1600" dirty="0"/>
              <a:t>延迟写入：页面修改仅在内存中标脏 (is_dirty_ = true)，不立即写盘。</a:t>
            </a:r>
            <a:endParaRPr lang="zh-CN" altLang="en-US" sz="1600" dirty="0"/>
          </a:p>
          <a:p>
            <a:pPr algn="l">
              <a:lnSpc>
                <a:spcPct val="120000"/>
              </a:lnSpc>
              <a:buClrTx/>
              <a:buSzTx/>
              <a:buFontTx/>
              <a:buNone/>
            </a:pPr>
            <a:r>
              <a:rPr lang="zh-CN" altLang="en-US" sz="1600" dirty="0"/>
              <a:t>写回时机：</a:t>
            </a:r>
            <a:endParaRPr lang="zh-CN" altLang="en-US" sz="1600" dirty="0"/>
          </a:p>
          <a:p>
            <a:pPr algn="l">
              <a:lnSpc>
                <a:spcPct val="120000"/>
              </a:lnSpc>
              <a:buClrTx/>
              <a:buSzTx/>
              <a:buFontTx/>
              <a:buNone/>
            </a:pPr>
            <a:r>
              <a:rPr lang="zh-CN" altLang="en-US" sz="1600" dirty="0"/>
              <a:t>显式刷盘：调用 Flush(PgImp) 或 FlushAllPgsImp。</a:t>
            </a:r>
            <a:endParaRPr lang="zh-CN" altLang="en-US" sz="1600" dirty="0"/>
          </a:p>
          <a:p>
            <a:pPr algn="l">
              <a:lnSpc>
                <a:spcPct val="120000"/>
              </a:lnSpc>
              <a:buClrTx/>
              <a:buSzTx/>
              <a:buFontTx/>
              <a:buNone/>
            </a:pPr>
            <a:r>
              <a:rPr lang="zh-CN" altLang="en-US" sz="1600" dirty="0"/>
              <a:t>隐式刷盘：页面被驱逐前，若为脏页，则必须写回磁盘。</a:t>
            </a:r>
            <a:endParaRPr lang="zh-CN" altLang="en-US" sz="1600" dirty="0"/>
          </a:p>
          <a:p>
            <a:pPr algn="l">
              <a:lnSpc>
                <a:spcPct val="120000"/>
              </a:lnSpc>
              <a:buClrTx/>
              <a:buSzTx/>
              <a:buFontTx/>
              <a:buNone/>
            </a:pPr>
            <a:r>
              <a:rPr lang="zh-CN" altLang="en-US" sz="1600" dirty="0"/>
              <a:t>优势：合并多次修改，减少不必要的磁盘I/O，大幅提升性能。</a:t>
            </a:r>
            <a:endParaRPr lang="zh-CN" altLang="en-US" sz="1600" dirty="0"/>
          </a:p>
          <a:p>
            <a:pPr>
              <a:lnSpc>
                <a:spcPct val="120000"/>
              </a:lnSpc>
              <a:buClrTx/>
              <a:buSzTx/>
              <a:buFontTx/>
            </a:pPr>
            <a:r>
              <a:rPr lang="zh-CN" altLang="en-US" sz="1600" dirty="0"/>
              <a:t>。</a:t>
            </a:r>
            <a:endParaRPr lang="zh-CN" altLang="en-US" sz="1600" dirty="0"/>
          </a:p>
        </p:txBody>
      </p:sp>
      <p:sp>
        <p:nvSpPr>
          <p:cNvPr id="14" name="文本框 13"/>
          <p:cNvSpPr txBox="1"/>
          <p:nvPr/>
        </p:nvSpPr>
        <p:spPr>
          <a:xfrm>
            <a:off x="4652010" y="1117600"/>
            <a:ext cx="6814820" cy="5229860"/>
          </a:xfrm>
          <a:prstGeom prst="rect">
            <a:avLst/>
          </a:prstGeom>
          <a:noFill/>
        </p:spPr>
        <p:txBody>
          <a:bodyPr wrap="square" rtlCol="0">
            <a:noAutofit/>
          </a:bodyPr>
          <a:p>
            <a:pPr>
              <a:lnSpc>
                <a:spcPct val="120000"/>
              </a:lnSpc>
              <a:buClrTx/>
              <a:buSzTx/>
              <a:buFontTx/>
            </a:pP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2. </a:t>
            </a: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sym typeface="+mn-ea"/>
              </a:rPr>
              <a:t>并发安全设计</a:t>
            </a: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zh-CN" altLang="en-US" sz="1600" dirty="0">
                <a:sym typeface="+mn-ea"/>
              </a:rPr>
              <a:t>全局锁策略：每个公开方法（NewPgImp, FetchPgImp, UnpinPgImp等）均使用 std::scoped_lock lock(latch_) 保护。</a:t>
            </a:r>
            <a:endParaRPr lang="zh-CN" altLang="en-US" sz="1600" dirty="0"/>
          </a:p>
          <a:p>
            <a:pPr>
              <a:lnSpc>
                <a:spcPct val="120000"/>
              </a:lnSpc>
              <a:buClrTx/>
              <a:buSzTx/>
              <a:buFontTx/>
            </a:pPr>
            <a:r>
              <a:rPr lang="zh-CN" altLang="en-US" sz="1600" dirty="0">
                <a:sym typeface="+mn-ea"/>
              </a:rPr>
              <a:t>权衡：实现简单、避免死锁，但可能成为高并发场景下的性能瓶颈。此为课程项目的合理设计</a:t>
            </a: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3. 页面删除 (DeletePageImp) 的特殊性流程共性：获取可用帧</a:t>
            </a:r>
            <a:endParaRPr lang="zh-CN" altLang="en-US" sz="16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buClrTx/>
              <a:buSzTx/>
              <a:buFontTx/>
            </a:pPr>
            <a:r>
              <a:rPr lang="zh-CN" altLang="en-US" sz="1600" dirty="0"/>
              <a:t>前置检查：必须确保页面</a:t>
            </a:r>
            <a:r>
              <a:rPr lang="en-US" altLang="zh-CN" sz="1600" dirty="0"/>
              <a:t> pin_count_ == 0</a:t>
            </a:r>
            <a:r>
              <a:rPr lang="zh-CN" altLang="en-US" sz="1600" dirty="0"/>
              <a:t>（未被使用）。</a:t>
            </a:r>
            <a:endParaRPr lang="en-US" altLang="zh-CN" sz="1600" dirty="0"/>
          </a:p>
          <a:p>
            <a:pPr>
              <a:lnSpc>
                <a:spcPct val="120000"/>
              </a:lnSpc>
              <a:buClrTx/>
              <a:buSzTx/>
              <a:buFontTx/>
            </a:pPr>
            <a:r>
              <a:rPr lang="zh-CN" altLang="en-US" sz="1600" dirty="0"/>
              <a:t>彻底清理：不仅从</a:t>
            </a:r>
            <a:r>
              <a:rPr lang="en-US" altLang="zh-CN" sz="1600" dirty="0"/>
              <a:t> page_table_ </a:t>
            </a:r>
            <a:r>
              <a:rPr lang="zh-CN" altLang="en-US" sz="1600" dirty="0"/>
              <a:t>和</a:t>
            </a:r>
            <a:r>
              <a:rPr lang="en-US" altLang="zh-CN" sz="1600" dirty="0"/>
              <a:t> replacer_ </a:t>
            </a:r>
            <a:r>
              <a:rPr lang="zh-CN" altLang="en-US" sz="1600" dirty="0"/>
              <a:t>中移除，还需调用</a:t>
            </a:r>
            <a:r>
              <a:rPr lang="en-US" altLang="zh-CN" sz="1600" dirty="0"/>
              <a:t> buffer_pool_manager_-&gt;DeletePage </a:t>
            </a:r>
            <a:r>
              <a:rPr lang="zh-CN" altLang="en-US" sz="1600" dirty="0"/>
              <a:t>将帧返还给</a:t>
            </a:r>
            <a:r>
              <a:rPr lang="en-US" altLang="zh-CN" sz="1600" dirty="0"/>
              <a:t> free_list_</a:t>
            </a:r>
            <a:r>
              <a:rPr lang="zh-CN" altLang="en-US" sz="1600" dirty="0"/>
              <a:t>，并可能触发磁盘空间的回收。</a:t>
            </a:r>
            <a:endParaRPr lang="en-US" altLang="zh-CN" sz="1600" dirty="0"/>
          </a:p>
          <a:p>
            <a:pPr>
              <a:lnSpc>
                <a:spcPct val="120000"/>
              </a:lnSpc>
              <a:buClrTx/>
              <a:buSzTx/>
              <a:buFontTx/>
            </a:pPr>
            <a:r>
              <a:rPr lang="zh-CN" altLang="en-US" sz="1600" dirty="0"/>
              <a:t>与驱逐的区别：驱逐是临时的缓存移除，删除是永久的数据销毁。</a:t>
            </a:r>
            <a:endParaRPr lang="zh-CN" alt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sp>
        <p:nvSpPr>
          <p:cNvPr id="3" name="Text 0"/>
          <p:cNvSpPr/>
          <p:nvPr/>
        </p:nvSpPr>
        <p:spPr>
          <a:xfrm>
            <a:off x="1358900" y="3599180"/>
            <a:ext cx="9475470" cy="688340"/>
          </a:xfrm>
          <a:prstGeom prst="rect">
            <a:avLst/>
          </a:prstGeom>
          <a:noFill/>
        </p:spPr>
        <p:txBody>
          <a:bodyPr wrap="square" lIns="91440" tIns="45720" rIns="91440" bIns="45720" rtlCol="0" anchor="t"/>
          <a:lstStyle/>
          <a:p>
            <a:pPr algn="ctr">
              <a:lnSpc>
                <a:spcPct val="110000"/>
              </a:lnSpc>
            </a:pPr>
            <a:r>
              <a:rPr lang="en-US" sz="3200" dirty="0">
                <a:solidFill>
                  <a:srgbClr val="000000"/>
                </a:solidFill>
                <a:latin typeface="MiSans" panose="00000500000000000000" pitchFamily="34" charset="-122"/>
                <a:ea typeface="MiSans" panose="00000500000000000000" pitchFamily="34" charset="-122"/>
                <a:cs typeface="MiSans" panose="00000500000000000000" pitchFamily="34" charset="-120"/>
              </a:rPr>
              <a:t>B+树</a:t>
            </a:r>
            <a:r>
              <a:rPr lang="zh-CN" altLang="en-US" sz="3200" dirty="0">
                <a:solidFill>
                  <a:srgbClr val="000000"/>
                </a:solidFill>
                <a:latin typeface="MiSans" panose="00000500000000000000" pitchFamily="34" charset="-122"/>
                <a:ea typeface="MiSans" panose="00000500000000000000" pitchFamily="34" charset="-122"/>
                <a:cs typeface="MiSans" panose="00000500000000000000" pitchFamily="34" charset="-120"/>
              </a:rPr>
              <a:t>实现细节</a:t>
            </a:r>
            <a:endParaRPr lang="en-US" sz="1600" dirty="0"/>
          </a:p>
        </p:txBody>
      </p:sp>
      <p:sp>
        <p:nvSpPr>
          <p:cNvPr id="4" name="Text 1"/>
          <p:cNvSpPr/>
          <p:nvPr/>
        </p:nvSpPr>
        <p:spPr>
          <a:xfrm>
            <a:off x="4684395" y="216535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2142EF"/>
                </a:solidFill>
                <a:latin typeface="MiSans" panose="00000500000000000000" pitchFamily="34" charset="-122"/>
                <a:ea typeface="MiSans" panose="00000500000000000000" pitchFamily="34" charset="-122"/>
                <a:cs typeface="MiSans" panose="00000500000000000000" pitchFamily="34" charset="-120"/>
              </a:rPr>
              <a:t>03</a:t>
            </a:r>
            <a:endParaRPr lang="en-US" sz="1600" dirty="0"/>
          </a:p>
        </p:txBody>
      </p:sp>
      <p:sp>
        <p:nvSpPr>
          <p:cNvPr id="5" name="Shape 2"/>
          <p:cNvSpPr/>
          <p:nvPr/>
        </p:nvSpPr>
        <p:spPr>
          <a:xfrm>
            <a:off x="3863975"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6" name="Text 3"/>
          <p:cNvSpPr/>
          <p:nvPr/>
        </p:nvSpPr>
        <p:spPr>
          <a:xfrm>
            <a:off x="3863975"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flipH="1">
            <a:off x="6957060"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8" name="Text 5"/>
          <p:cNvSpPr/>
          <p:nvPr/>
        </p:nvSpPr>
        <p:spPr>
          <a:xfrm>
            <a:off x="6957060"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690545" y="208276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0" name="Text 7"/>
          <p:cNvSpPr/>
          <p:nvPr/>
        </p:nvSpPr>
        <p:spPr>
          <a:xfrm>
            <a:off x="690545" y="208276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10703860" y="391664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9"/>
          <p:cNvSpPr/>
          <p:nvPr/>
        </p:nvSpPr>
        <p:spPr>
          <a:xfrm>
            <a:off x="10703860" y="391664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3" name="Image 1" descr="https://kimi-img.moonshot.cn/pub/slides/slides_tmpl/image/25-10-11-20:17:34-d3l4lngs8jdo4os5envg.png"/>
          <p:cNvPicPr>
            <a:picLocks noChangeAspect="1"/>
          </p:cNvPicPr>
          <p:nvPr/>
        </p:nvPicPr>
        <p:blipFill>
          <a:blip r:embed="rId3"/>
          <a:stretch>
            <a:fillRect/>
          </a:stretch>
        </p:blipFill>
        <p:spPr>
          <a:xfrm>
            <a:off x="6602095" y="4456430"/>
            <a:ext cx="5589905" cy="2401570"/>
          </a:xfrm>
          <a:prstGeom prst="rect">
            <a:avLst/>
          </a:prstGeom>
        </p:spPr>
      </p:pic>
      <p:pic>
        <p:nvPicPr>
          <p:cNvPr id="14" name="Image 2" descr="https://kimi-img.moonshot.cn/pub/slides/slides_tmpl/image/25-10-11-20:17:34-d3l4lngs8jdo4os5envg.png"/>
          <p:cNvPicPr>
            <a:picLocks noChangeAspect="1"/>
          </p:cNvPicPr>
          <p:nvPr/>
        </p:nvPicPr>
        <p:blipFill>
          <a:blip r:embed="rId3"/>
          <a:stretch>
            <a:fillRect/>
          </a:stretch>
        </p:blipFill>
        <p:spPr>
          <a:xfrm>
            <a:off x="0" y="-40005"/>
            <a:ext cx="558990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算法概念</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B+ Tree</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的特性</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27432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+树在数据库的扮演的角色</a:t>
            </a:r>
            <a:endParaRPr lang="en-US" sz="1600" dirty="0"/>
          </a:p>
        </p:txBody>
      </p:sp>
      <p:sp>
        <p:nvSpPr>
          <p:cNvPr id="11" name="Text 8"/>
          <p:cNvSpPr/>
          <p:nvPr/>
        </p:nvSpPr>
        <p:spPr>
          <a:xfrm>
            <a:off x="4487333" y="1574800"/>
            <a:ext cx="7340600" cy="1181100"/>
          </a:xfrm>
          <a:prstGeom prst="rect">
            <a:avLst/>
          </a:prstGeom>
          <a:noFill/>
        </p:spPr>
        <p:txBody>
          <a:bodyPr wrap="square" lIns="0" tIns="0" rIns="0" bIns="0" rtlCol="0" anchor="ctr"/>
          <a:lstStyle/>
          <a:p>
            <a:pPr indent="0">
              <a:lnSpc>
                <a:spcPct val="120000"/>
              </a:lnSpc>
              <a:spcBef>
                <a:spcPts val="10"/>
              </a:spcBef>
              <a:buSzPct val="100000"/>
              <a:buNone/>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+树在数据库存储引擎中作为索引层，</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indent="0">
              <a:lnSpc>
                <a:spcPct val="120000"/>
              </a:lnSpc>
              <a:spcBef>
                <a:spcPts val="10"/>
              </a:spcBef>
              <a:buSzPct val="100000"/>
              <a:buNone/>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向下</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使用缓冲池</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管理磁盘页面，向上为查询执行层</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提供高效的数据检索接口</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indent="0">
              <a:lnSpc>
                <a:spcPct val="120000"/>
              </a:lnSpc>
              <a:spcBef>
                <a:spcPts val="10"/>
              </a:spcBef>
              <a:buSzPct val="100000"/>
              <a:buNone/>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是连接数据存储与查询处理的关键桥梁。</a:t>
            </a:r>
            <a:endParaRPr lang="en-US" sz="1600" dirty="0"/>
          </a:p>
        </p:txBody>
      </p:sp>
      <p:sp>
        <p:nvSpPr>
          <p:cNvPr id="12" name="Shape 9"/>
          <p:cNvSpPr/>
          <p:nvPr/>
        </p:nvSpPr>
        <p:spPr>
          <a:xfrm>
            <a:off x="4284133" y="3860800"/>
            <a:ext cx="7658100" cy="27432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3" name="Text 10"/>
          <p:cNvSpPr/>
          <p:nvPr/>
        </p:nvSpPr>
        <p:spPr>
          <a:xfrm>
            <a:off x="4487333" y="4064000"/>
            <a:ext cx="73787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都可以实现索引，为什么选择</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rPr>
              <a:t>树？</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4" name="Text 11"/>
          <p:cNvSpPr/>
          <p:nvPr/>
        </p:nvSpPr>
        <p:spPr>
          <a:xfrm>
            <a:off x="4465208" y="4521200"/>
            <a:ext cx="7340600" cy="1283983"/>
          </a:xfrm>
          <a:prstGeom prst="rect">
            <a:avLst/>
          </a:prstGeom>
          <a:noFill/>
        </p:spPr>
        <p:txBody>
          <a:bodyPr wrap="square" lIns="0" tIns="0" rIns="0" bIns="0" rtlCol="0" anchor="ctr"/>
          <a:lstStyle/>
          <a:p>
            <a:pPr marL="254000" indent="-254000">
              <a:lnSpc>
                <a:spcPct val="120000"/>
              </a:lnSpc>
              <a:spcBef>
                <a:spcPts val="10"/>
              </a:spcBef>
              <a:buSzPct val="100000"/>
              <a:buFont typeface="+mj-lt"/>
              <a:buAutoNum type="arabicPeriod"/>
            </a:pPr>
            <a:r>
              <a:rPr lang="zh-CN" altLang="en-US" sz="1600" dirty="0"/>
              <a:t>节点大小匹配磁盘页，大幅减少</a:t>
            </a:r>
            <a:r>
              <a:rPr lang="en-US" altLang="zh-CN" sz="1600" dirty="0"/>
              <a:t>I/O</a:t>
            </a:r>
            <a:r>
              <a:rPr lang="zh-CN" altLang="en-US" sz="1600" dirty="0"/>
              <a:t>次数，优化了</a:t>
            </a:r>
            <a:r>
              <a:rPr lang="zh-CN" altLang="en-US" sz="1600" b="1" dirty="0"/>
              <a:t>磁盘访问</a:t>
            </a:r>
            <a:endParaRPr lang="zh-CN" altLang="en-US" sz="1600" b="1" dirty="0"/>
          </a:p>
          <a:p>
            <a:pPr marL="254000" indent="-254000">
              <a:lnSpc>
                <a:spcPct val="120000"/>
              </a:lnSpc>
              <a:spcBef>
                <a:spcPts val="10"/>
              </a:spcBef>
              <a:buSzPct val="100000"/>
              <a:buFont typeface="+mj-lt"/>
              <a:buAutoNum type="arabicPeriod"/>
            </a:pPr>
            <a:r>
              <a:rPr lang="zh-CN" altLang="en-US" sz="1600" dirty="0"/>
              <a:t>叶子节点链表支持高效的</a:t>
            </a:r>
            <a:r>
              <a:rPr lang="zh-CN" altLang="en-US" sz="1600" b="1" dirty="0"/>
              <a:t>范围查询</a:t>
            </a:r>
            <a:r>
              <a:rPr lang="zh-CN" altLang="en-US" sz="1600" dirty="0"/>
              <a:t>；有序存储</a:t>
            </a:r>
            <a:r>
              <a:rPr lang="zh-CN" altLang="en-US" sz="1600" b="1" dirty="0"/>
              <a:t>避免额外排序开销</a:t>
            </a:r>
            <a:r>
              <a:rPr lang="zh-CN" altLang="en-US" sz="1600" dirty="0"/>
              <a:t>。</a:t>
            </a:r>
            <a:endParaRPr lang="zh-CN" altLang="en-US" sz="1600" dirty="0"/>
          </a:p>
          <a:p>
            <a:pPr marL="254000" indent="-254000">
              <a:lnSpc>
                <a:spcPct val="120000"/>
              </a:lnSpc>
              <a:spcBef>
                <a:spcPts val="10"/>
              </a:spcBef>
              <a:buSzPct val="100000"/>
              <a:buFont typeface="+mj-lt"/>
              <a:buAutoNum type="arabicPeriod"/>
            </a:pPr>
            <a:r>
              <a:rPr lang="zh-CN" altLang="en-US" sz="1600" dirty="0"/>
              <a:t>作为数据库查询的加速引擎，</a:t>
            </a:r>
            <a:r>
              <a:rPr lang="en-US" altLang="zh-CN" sz="1600" dirty="0"/>
              <a:t>B+</a:t>
            </a:r>
            <a:r>
              <a:rPr lang="zh-CN" altLang="en-US" sz="1600" dirty="0"/>
              <a:t>树在点查询、范围扫描和排序操作上实现了最佳平衡，成为关系型数据库索引的事实标准。</a:t>
            </a:r>
            <a:endParaRPr lang="en-US" sz="1600" dirty="0"/>
          </a:p>
        </p:txBody>
      </p:sp>
      <p:sp>
        <p:nvSpPr>
          <p:cNvPr id="15" name="文本框 14"/>
          <p:cNvSpPr txBox="1"/>
          <p:nvPr userDrawn="1"/>
        </p:nvSpPr>
        <p:spPr>
          <a:xfrm>
            <a:off x="459740" y="1492885"/>
            <a:ext cx="3414395" cy="3322955"/>
          </a:xfrm>
          <a:prstGeom prst="rect">
            <a:avLst/>
          </a:prstGeom>
        </p:spPr>
        <p:txBody>
          <a:bodyPr wrap="square" rtlCol="0">
            <a:noAutofit/>
          </a:bodyPr>
          <a:p>
            <a:pPr>
              <a:lnSpc>
                <a:spcPct val="150000"/>
              </a:lnSpc>
            </a:pPr>
            <a:r>
              <a:rPr lang="en-US" altLang="zh-CN" sz="1400"/>
              <a:t>1.</a:t>
            </a:r>
            <a:r>
              <a:rPr lang="zh-CN" altLang="en-US" sz="1400"/>
              <a:t>完美平衡树</a:t>
            </a:r>
            <a:endParaRPr lang="zh-CN" altLang="en-US" sz="1400"/>
          </a:p>
          <a:p>
            <a:pPr>
              <a:lnSpc>
                <a:spcPct val="150000"/>
              </a:lnSpc>
            </a:pPr>
            <a:r>
              <a:rPr lang="en-US" altLang="zh-CN" sz="1400"/>
              <a:t>2. </a:t>
            </a:r>
            <a:r>
              <a:rPr lang="zh-CN" altLang="en-US" sz="1400"/>
              <a:t>根结点</a:t>
            </a:r>
            <a:r>
              <a:rPr lang="en-US" altLang="en-US" sz="1400"/>
              <a:t>⾄</a:t>
            </a:r>
            <a:r>
              <a:rPr lang="zh-CN" altLang="en-US" sz="1400"/>
              <a:t>少有两个</a:t>
            </a:r>
            <a:r>
              <a:rPr lang="en-US" altLang="en-US" sz="1400"/>
              <a:t>⼦⼥</a:t>
            </a:r>
            <a:endParaRPr lang="en-US" altLang="en-US" sz="1400"/>
          </a:p>
          <a:p>
            <a:pPr>
              <a:lnSpc>
                <a:spcPct val="150000"/>
              </a:lnSpc>
            </a:pPr>
            <a:r>
              <a:rPr lang="en-US" altLang="zh-CN" sz="1400"/>
              <a:t>3. </a:t>
            </a:r>
            <a:r>
              <a:rPr lang="zh-CN" altLang="en-US" sz="1400"/>
              <a:t>除了根结点以外的其他结点的关键字个数</a:t>
            </a:r>
            <a:r>
              <a:rPr lang="en-US" altLang="zh-CN"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 m/2≤keys≤m−1</a:t>
            </a:r>
            <a:endParaRPr lang="zh-CN" altLang="en-US" sz="1400" b="1">
              <a:highlight>
                <a:srgbClr val="FFFF00"/>
              </a:highlight>
            </a:endParaRPr>
          </a:p>
          <a:p>
            <a:pPr>
              <a:lnSpc>
                <a:spcPct val="150000"/>
              </a:lnSpc>
            </a:pPr>
            <a:r>
              <a:rPr lang="en-US" altLang="zh-CN" sz="1400"/>
              <a:t>4. </a:t>
            </a:r>
            <a:r>
              <a:rPr lang="zh-CN" altLang="en-US" sz="1400"/>
              <a:t>内部结点有</a:t>
            </a:r>
            <a:r>
              <a:rPr lang="en-US" altLang="zh-CN" sz="1400"/>
              <a:t>k</a:t>
            </a:r>
            <a:r>
              <a:rPr lang="zh-CN" altLang="en-US" sz="1400"/>
              <a:t>个关键字就会有</a:t>
            </a:r>
            <a:r>
              <a:rPr lang="en-US" altLang="zh-CN" sz="1400"/>
              <a:t>k+1</a:t>
            </a:r>
            <a:r>
              <a:rPr lang="zh-CN" altLang="en-US" sz="1400"/>
              <a:t>个孩</a:t>
            </a:r>
            <a:r>
              <a:rPr lang="en-US" altLang="en-US" sz="1400"/>
              <a:t>⼦</a:t>
            </a:r>
            <a:endParaRPr lang="en-US" altLang="en-US" sz="1400"/>
          </a:p>
          <a:p>
            <a:pPr>
              <a:lnSpc>
                <a:spcPct val="150000"/>
              </a:lnSpc>
            </a:pPr>
            <a:r>
              <a:rPr lang="en-US" altLang="zh-CN" sz="1400"/>
              <a:t>5. </a:t>
            </a:r>
            <a:r>
              <a:rPr lang="zh-CN" altLang="en-US" sz="1400"/>
              <a:t>叶结点会</a:t>
            </a:r>
            <a:r>
              <a:rPr lang="en-US" altLang="en-US" sz="1400"/>
              <a:t>⽤</a:t>
            </a:r>
            <a:r>
              <a:rPr lang="zh-CN" altLang="en-US" sz="1400"/>
              <a:t>双向链表连接起来。因为所有的</a:t>
            </a:r>
            <a:r>
              <a:rPr lang="en-US" altLang="zh-CN" sz="1400"/>
              <a:t>value</a:t>
            </a:r>
            <a:r>
              <a:rPr lang="zh-CN" altLang="en-US" sz="1400"/>
              <a:t>都保存在叶</a:t>
            </a:r>
            <a:r>
              <a:rPr lang="en-US" altLang="en-US" sz="1400"/>
              <a:t>⼦</a:t>
            </a:r>
            <a:r>
              <a:rPr lang="zh-CN" altLang="en-US" sz="1400"/>
              <a:t>结点。其他结点只保存索引，这样可以</a:t>
            </a:r>
            <a:r>
              <a:rPr lang="en-US" altLang="en-US" sz="1400"/>
              <a:t>⽀</a:t>
            </a:r>
            <a:r>
              <a:rPr lang="zh-CN" altLang="en-US" sz="1400"/>
              <a:t>持顺序索引和随机索引</a:t>
            </a:r>
            <a:endParaRPr lang="zh-CN" altLang="en-US" sz="1400"/>
          </a:p>
        </p:txBody>
      </p:sp>
      <p:pic>
        <p:nvPicPr>
          <p:cNvPr id="16" name="图片 15" descr="post_object_image_2848231086"/>
          <p:cNvPicPr>
            <a:picLocks noChangeAspect="1"/>
          </p:cNvPicPr>
          <p:nvPr/>
        </p:nvPicPr>
        <p:blipFill>
          <a:blip r:embed="rId2"/>
          <a:stretch>
            <a:fillRect/>
          </a:stretch>
        </p:blipFill>
        <p:spPr>
          <a:xfrm>
            <a:off x="4487260" y="2755944"/>
            <a:ext cx="5862972" cy="713241"/>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实现细节--页面结构</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页面结构</a:t>
            </a:r>
            <a:endParaRPr lang="en-US" sz="1600" dirty="0"/>
          </a:p>
        </p:txBody>
      </p:sp>
      <p:sp>
        <p:nvSpPr>
          <p:cNvPr id="6" name="Text 3"/>
          <p:cNvSpPr/>
          <p:nvPr/>
        </p:nvSpPr>
        <p:spPr>
          <a:xfrm>
            <a:off x="457200" y="1574800"/>
            <a:ext cx="3505200" cy="508000"/>
          </a:xfrm>
          <a:prstGeom prst="rect">
            <a:avLst/>
          </a:prstGeom>
          <a:noFill/>
        </p:spPr>
        <p:txBody>
          <a:bodyPr wrap="square" lIns="0" tIns="0" rIns="0" bIns="0" rtlCol="0" anchor="ctr"/>
          <a:lstStyle/>
          <a:p>
            <a:pPr>
              <a:lnSpc>
                <a:spcPct val="120000"/>
              </a:lnSpc>
            </a:pP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BPlusTreePage:</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包含两个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类共享的信息</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339278"/>
            <a:ext cx="3505200" cy="5080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BPlusTreeInternalPage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内部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是存储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m+1</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指针</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192258"/>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BPlusTreeLeafPage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叶</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个值条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page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的内存布局</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pic>
        <p:nvPicPr>
          <p:cNvPr id="12" name="图片 11" descr="post_object_image_485715266"/>
          <p:cNvPicPr>
            <a:picLocks noChangeAspect="1"/>
          </p:cNvPicPr>
          <p:nvPr/>
        </p:nvPicPr>
        <p:blipFill>
          <a:blip r:embed="rId2"/>
          <a:stretch>
            <a:fillRect/>
          </a:stretch>
        </p:blipFill>
        <p:spPr>
          <a:xfrm>
            <a:off x="6303335" y="1574800"/>
            <a:ext cx="3746802" cy="4550333"/>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实现细节--页面结构</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页面结构</a:t>
            </a:r>
            <a:endParaRPr lang="en-US" sz="1600" dirty="0"/>
          </a:p>
        </p:txBody>
      </p:sp>
      <p:sp>
        <p:nvSpPr>
          <p:cNvPr id="6" name="Text 3"/>
          <p:cNvSpPr/>
          <p:nvPr/>
        </p:nvSpPr>
        <p:spPr>
          <a:xfrm>
            <a:off x="457200" y="1574800"/>
            <a:ext cx="3505200" cy="508000"/>
          </a:xfrm>
          <a:prstGeom prst="rect">
            <a:avLst/>
          </a:prstGeom>
          <a:noFill/>
        </p:spPr>
        <p:txBody>
          <a:bodyPr wrap="square" lIns="0" tIns="0" rIns="0" bIns="0" rtlCol="0" anchor="ctr"/>
          <a:lstStyle/>
          <a:p>
            <a:pPr>
              <a:lnSpc>
                <a:spcPct val="120000"/>
              </a:lnSpc>
            </a:pPr>
            <a:r>
              <a:rPr lang="en-US"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BPlusTreePage:</a:t>
            </a:r>
            <a:endParaRPr lang="en-US"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包含两个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类共享的信息</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339278"/>
            <a:ext cx="3505200" cy="5080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BPlusTreeInternalPage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内部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是存储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m+1</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指针</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192258"/>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BPlusTreeLeafPage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叶</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个值条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page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的内存布局</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pic>
        <p:nvPicPr>
          <p:cNvPr id="12" name="图片 11" descr="post_object_image_485715266"/>
          <p:cNvPicPr>
            <a:picLocks noChangeAspect="1"/>
          </p:cNvPicPr>
          <p:nvPr/>
        </p:nvPicPr>
        <p:blipFill>
          <a:blip r:embed="rId2"/>
          <a:stretch>
            <a:fillRect/>
          </a:stretch>
        </p:blipFill>
        <p:spPr>
          <a:xfrm>
            <a:off x="4620585" y="1574800"/>
            <a:ext cx="3746802" cy="4550333"/>
          </a:xfrm>
          <a:prstGeom prst="rect">
            <a:avLst/>
          </a:prstGeom>
        </p:spPr>
      </p:pic>
      <p:sp>
        <p:nvSpPr>
          <p:cNvPr id="11" name="矩形 10"/>
          <p:cNvSpPr/>
          <p:nvPr userDrawn="1"/>
        </p:nvSpPr>
        <p:spPr>
          <a:xfrm>
            <a:off x="4954111" y="2130425"/>
            <a:ext cx="3079750" cy="668655"/>
          </a:xfrm>
          <a:prstGeom prst="rect">
            <a:avLst/>
          </a:prstGeom>
          <a:solidFill>
            <a:schemeClr val="accent6">
              <a:alpha val="29000"/>
            </a:schemeClr>
          </a:solidFill>
          <a:ln w="12700" cmpd="sng">
            <a:solidFill>
              <a:schemeClr val="accent4">
                <a:lumMod val="50000"/>
                <a:alpha val="100000"/>
              </a:scheme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a:solidFill>
                  <a:srgbClr val="000000"/>
                </a:solidFill>
                <a:latin typeface="Comic Sans MS" panose="030F0702030302020204" charset="0"/>
                <a:ea typeface="Comic Sans MS" panose="030F0702030302020204" charset="0"/>
                <a:cs typeface="Comic Sans MS" panose="030F0702030302020204" charset="0"/>
              </a:rPr>
              <a:t>Hearder</a:t>
            </a:r>
            <a:r>
              <a:rPr lang="zh-CN" altLang="en-US">
                <a:solidFill>
                  <a:srgbClr val="000000"/>
                </a:solidFill>
                <a:latin typeface="Comic Sans MS" panose="030F0702030302020204" charset="0"/>
                <a:ea typeface="Comic Sans MS" panose="030F0702030302020204" charset="0"/>
                <a:cs typeface="Comic Sans MS" panose="030F0702030302020204" charset="0"/>
              </a:rPr>
              <a:t>（</a:t>
            </a:r>
            <a:r>
              <a:rPr lang="en-US" altLang="zh-CN">
                <a:solidFill>
                  <a:srgbClr val="000000"/>
                </a:solidFill>
                <a:latin typeface="Comic Sans MS" panose="030F0702030302020204" charset="0"/>
                <a:ea typeface="Comic Sans MS" panose="030F0702030302020204" charset="0"/>
                <a:cs typeface="Comic Sans MS" panose="030F0702030302020204" charset="0"/>
              </a:rPr>
              <a:t>24B/28B</a:t>
            </a:r>
            <a:r>
              <a:rPr lang="zh-CN" altLang="en-US">
                <a:solidFill>
                  <a:srgbClr val="000000"/>
                </a:solidFill>
                <a:latin typeface="Comic Sans MS" panose="030F0702030302020204" charset="0"/>
                <a:ea typeface="Comic Sans MS" panose="030F0702030302020204" charset="0"/>
                <a:cs typeface="Comic Sans MS" panose="030F0702030302020204" charset="0"/>
              </a:rPr>
              <a:t>）</a:t>
            </a:r>
            <a:endParaRPr lang="zh-CN" altLang="en-US">
              <a:solidFill>
                <a:srgbClr val="000000"/>
              </a:solidFill>
              <a:latin typeface="Comic Sans MS" panose="030F0702030302020204" charset="0"/>
              <a:ea typeface="Comic Sans MS" panose="030F0702030302020204" charset="0"/>
              <a:cs typeface="Comic Sans MS" panose="030F0702030302020204" charset="0"/>
            </a:endParaRPr>
          </a:p>
        </p:txBody>
      </p:sp>
      <p:sp>
        <p:nvSpPr>
          <p:cNvPr id="13" name="矩形 12"/>
          <p:cNvSpPr/>
          <p:nvPr userDrawn="1"/>
        </p:nvSpPr>
        <p:spPr>
          <a:xfrm>
            <a:off x="4954111" y="2847340"/>
            <a:ext cx="3079750" cy="2496185"/>
          </a:xfrm>
          <a:prstGeom prst="rect">
            <a:avLst/>
          </a:prstGeom>
          <a:solidFill>
            <a:schemeClr val="phClr">
              <a:alpha val="25000"/>
            </a:schemeClr>
          </a:solidFill>
          <a:ln>
            <a:solidFill>
              <a:schemeClr val="accent4">
                <a:lumMod val="50000"/>
                <a:alpha val="10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r>
              <a:rPr lang="en-US" altLang="zh-CN">
                <a:solidFill>
                  <a:srgbClr val="000000"/>
                </a:solidFill>
                <a:latin typeface="Comic Sans MS" panose="030F0702030302020204" charset="0"/>
                <a:ea typeface="Comic Sans MS" panose="030F0702030302020204" charset="0"/>
                <a:cs typeface="Comic Sans MS" panose="030F0702030302020204" charset="0"/>
              </a:rPr>
              <a:t>array</a:t>
            </a:r>
            <a:endParaRPr lang="zh-CN" altLang="en-US">
              <a:solidFill>
                <a:srgbClr val="000000"/>
              </a:solidFill>
              <a:latin typeface="Comic Sans MS" panose="030F0702030302020204" charset="0"/>
              <a:ea typeface="Comic Sans MS" panose="030F0702030302020204" charset="0"/>
              <a:cs typeface="Comic Sans MS" panose="030F0702030302020204" charset="0"/>
            </a:endParaRPr>
          </a:p>
        </p:txBody>
      </p:sp>
      <p:cxnSp>
        <p:nvCxnSpPr>
          <p:cNvPr id="14" name="直接箭头连接符 13"/>
          <p:cNvCxnSpPr/>
          <p:nvPr userDrawn="1"/>
        </p:nvCxnSpPr>
        <p:spPr>
          <a:xfrm flipH="1">
            <a:off x="7691120" y="4367531"/>
            <a:ext cx="1397000" cy="0"/>
          </a:xfrm>
          <a:prstGeom prst="straightConnector1">
            <a:avLst/>
          </a:prstGeom>
          <a:ln w="19050">
            <a:solidFill>
              <a:srgbClr val="000000">
                <a:alpha val="100000"/>
              </a:srgbClr>
            </a:solidFill>
            <a:tailEnd type="triangle"/>
          </a:ln>
        </p:spPr>
        <p:style>
          <a:lnRef idx="2">
            <a:schemeClr val="accent1"/>
          </a:lnRef>
          <a:fillRef idx="0">
            <a:srgbClr val="FFFFFF"/>
          </a:fillRef>
          <a:effectRef idx="0">
            <a:srgbClr val="FFFFFF"/>
          </a:effectRef>
          <a:fontRef idx="minor">
            <a:schemeClr val="tx1"/>
          </a:fontRef>
        </p:style>
      </p:cxnSp>
      <p:cxnSp>
        <p:nvCxnSpPr>
          <p:cNvPr id="15" name="直接箭头连接符 14"/>
          <p:cNvCxnSpPr/>
          <p:nvPr userDrawn="1"/>
        </p:nvCxnSpPr>
        <p:spPr>
          <a:xfrm flipH="1">
            <a:off x="8103870" y="2383155"/>
            <a:ext cx="936625" cy="0"/>
          </a:xfrm>
          <a:prstGeom prst="straightConnector1">
            <a:avLst/>
          </a:prstGeom>
          <a:ln w="19050">
            <a:solidFill>
              <a:srgbClr val="000000">
                <a:alpha val="100000"/>
              </a:srgbClr>
            </a:solidFill>
            <a:tailEnd type="triangle"/>
          </a:ln>
        </p:spPr>
        <p:style>
          <a:lnRef idx="2">
            <a:schemeClr val="accent1"/>
          </a:lnRef>
          <a:fillRef idx="0">
            <a:srgbClr val="FFFFFF"/>
          </a:fillRef>
          <a:effectRef idx="0">
            <a:srgbClr val="FFFFFF"/>
          </a:effectRef>
          <a:fontRef idx="minor">
            <a:schemeClr val="tx1"/>
          </a:fontRef>
        </p:style>
      </p:cxnSp>
      <p:sp>
        <p:nvSpPr>
          <p:cNvPr id="16" name="文本框 15"/>
          <p:cNvSpPr txBox="1"/>
          <p:nvPr userDrawn="1"/>
        </p:nvSpPr>
        <p:spPr>
          <a:xfrm>
            <a:off x="9363075" y="4211955"/>
            <a:ext cx="2000250" cy="275590"/>
          </a:xfrm>
          <a:prstGeom prst="rect">
            <a:avLst/>
          </a:prstGeom>
        </p:spPr>
        <p:txBody>
          <a:bodyPr wrap="square" rtlCol="0">
            <a:spAutoFit/>
          </a:bodyPr>
          <a:p>
            <a:r>
              <a:rPr lang="zh-CN" altLang="en-US" sz="1200"/>
              <a:t>采用</a:t>
            </a:r>
            <a:r>
              <a:rPr lang="en-US" altLang="zh-CN" sz="1200"/>
              <a:t>flexible array</a:t>
            </a:r>
            <a:endParaRPr lang="zh-CN" altLang="en-US" sz="1200"/>
          </a:p>
        </p:txBody>
      </p:sp>
      <p:sp>
        <p:nvSpPr>
          <p:cNvPr id="18" name="文本框 17"/>
          <p:cNvSpPr txBox="1"/>
          <p:nvPr userDrawn="1"/>
        </p:nvSpPr>
        <p:spPr>
          <a:xfrm>
            <a:off x="9088120" y="1971675"/>
            <a:ext cx="3040420" cy="2300605"/>
          </a:xfrm>
          <a:prstGeom prst="rect">
            <a:avLst/>
          </a:prstGeom>
        </p:spPr>
        <p:txBody>
          <a:bodyPr wrap="square" rtlCol="0">
            <a:noAutofit/>
          </a:bodyPr>
          <a:p>
            <a:r>
              <a:rPr lang="en-US" altLang="zh-CN" sz="1200"/>
              <a:t>page_type_</a:t>
            </a:r>
            <a:r>
              <a:rPr lang="en-US" altLang="en-US" sz="1200"/>
              <a:t>⻚⾯</a:t>
            </a:r>
            <a:r>
              <a:rPr lang="zh-CN" altLang="en-US" sz="1200"/>
              <a:t>类型（内部或叶</a:t>
            </a:r>
            <a:r>
              <a:rPr lang="en-US" altLang="en-US" sz="1200"/>
              <a:t>⼦</a:t>
            </a:r>
            <a:r>
              <a:rPr lang="zh-CN" altLang="en-US" sz="1200"/>
              <a:t>）</a:t>
            </a:r>
            <a:endParaRPr lang="zh-CN" altLang="en-US" sz="1200"/>
          </a:p>
          <a:p>
            <a:r>
              <a:rPr lang="en-US" altLang="zh-CN" sz="1200"/>
              <a:t>lsn_</a:t>
            </a:r>
            <a:r>
              <a:rPr lang="en-US" altLang="en-US" sz="1200"/>
              <a:t>⽇</a:t>
            </a:r>
            <a:r>
              <a:rPr lang="zh-CN" altLang="en-US" sz="1200"/>
              <a:t>志序列号（</a:t>
            </a:r>
            <a:r>
              <a:rPr lang="en-US" altLang="en-US" sz="1200"/>
              <a:t>⽤</a:t>
            </a:r>
            <a:r>
              <a:rPr lang="zh-CN" altLang="en-US" sz="1200"/>
              <a:t>于第</a:t>
            </a:r>
            <a:r>
              <a:rPr lang="en-US" altLang="zh-CN" sz="1200"/>
              <a:t>4</a:t>
            </a:r>
            <a:r>
              <a:rPr lang="zh-CN" altLang="en-US" sz="1200"/>
              <a:t>项</a:t>
            </a:r>
            <a:r>
              <a:rPr lang="en-US" altLang="en-US" sz="1200"/>
              <a:t>⽬</a:t>
            </a:r>
            <a:r>
              <a:rPr lang="zh-CN" altLang="en-US" sz="1200"/>
              <a:t>）</a:t>
            </a:r>
            <a:endParaRPr lang="zh-CN" altLang="en-US" sz="1200"/>
          </a:p>
          <a:p>
            <a:r>
              <a:rPr lang="en-US" altLang="zh-CN" sz="1200"/>
              <a:t>size_</a:t>
            </a:r>
            <a:r>
              <a:rPr lang="en-US" altLang="en-US" sz="1200"/>
              <a:t>⻚⾯</a:t>
            </a:r>
            <a:r>
              <a:rPr lang="zh-CN" altLang="en-US" sz="1200"/>
              <a:t>中键和值对的数量</a:t>
            </a:r>
            <a:endParaRPr lang="zh-CN" altLang="en-US" sz="1200"/>
          </a:p>
          <a:p>
            <a:r>
              <a:rPr lang="en-US" altLang="zh-CN" sz="1200"/>
              <a:t>max_size_</a:t>
            </a:r>
            <a:r>
              <a:rPr lang="en-US" altLang="en-US" sz="1200"/>
              <a:t>⻚⾯</a:t>
            </a:r>
            <a:r>
              <a:rPr lang="zh-CN" altLang="en-US" sz="1200"/>
              <a:t>中键和值对的最</a:t>
            </a:r>
            <a:r>
              <a:rPr lang="en-US" altLang="en-US" sz="1200"/>
              <a:t>⼤</a:t>
            </a:r>
            <a:r>
              <a:rPr lang="zh-CN" altLang="en-US" sz="1200"/>
              <a:t>数</a:t>
            </a:r>
            <a:endParaRPr lang="zh-CN" altLang="en-US" sz="1200"/>
          </a:p>
          <a:p>
            <a:r>
              <a:rPr lang="en-US" altLang="zh-CN" sz="1200"/>
              <a:t>parent_page_id_</a:t>
            </a:r>
            <a:r>
              <a:rPr lang="en-US" altLang="en-US" sz="1200"/>
              <a:t>⽗⻚⾯</a:t>
            </a:r>
            <a:r>
              <a:rPr lang="en-US" altLang="zh-CN" sz="1200"/>
              <a:t>ID</a:t>
            </a:r>
            <a:endParaRPr lang="en-US" altLang="zh-CN" sz="1200"/>
          </a:p>
          <a:p>
            <a:r>
              <a:rPr lang="en-US" altLang="zh-CN" sz="1200"/>
              <a:t>page_id_</a:t>
            </a:r>
            <a:r>
              <a:rPr lang="en-US" altLang="en-US" sz="1200"/>
              <a:t>⾃</a:t>
            </a:r>
            <a:r>
              <a:rPr lang="zh-CN" altLang="en-US" sz="1200"/>
              <a:t>身</a:t>
            </a:r>
            <a:r>
              <a:rPr lang="en-US" altLang="en-US" sz="1200"/>
              <a:t>⻚⾯</a:t>
            </a:r>
            <a:r>
              <a:rPr lang="en-US" altLang="zh-CN" sz="1200"/>
              <a:t>ID  </a:t>
            </a:r>
            <a:r>
              <a:rPr lang="en-US" altLang="zh-CN" sz="1200" b="1">
                <a:highlight>
                  <a:srgbClr val="C0C0C0"/>
                </a:highlight>
              </a:rPr>
              <a:t>24B</a:t>
            </a:r>
            <a:endParaRPr lang="en-US" altLang="zh-CN" sz="1200" b="1">
              <a:highlight>
                <a:srgbClr val="C0C0C0"/>
              </a:highlight>
            </a:endParaRPr>
          </a:p>
          <a:p>
            <a:endParaRPr lang="zh-CN" altLang="en-US" sz="1200"/>
          </a:p>
          <a:p>
            <a:r>
              <a:rPr lang="en-US" altLang="zh-CN" sz="1200"/>
              <a:t>next_page_id_</a:t>
            </a:r>
            <a:r>
              <a:rPr lang="zh-CN" altLang="en-US" sz="1200"/>
              <a:t>下</a:t>
            </a:r>
            <a:r>
              <a:rPr lang="en-US" altLang="en-US" sz="1200"/>
              <a:t>⼀</a:t>
            </a:r>
            <a:r>
              <a:rPr lang="zh-CN" altLang="en-US" sz="1200"/>
              <a:t>个</a:t>
            </a:r>
            <a:r>
              <a:rPr lang="en-US" altLang="zh-CN" sz="1200"/>
              <a:t> </a:t>
            </a:r>
            <a:r>
              <a:rPr lang="zh-CN" altLang="en-US" sz="1200"/>
              <a:t>叶节点页面</a:t>
            </a:r>
            <a:r>
              <a:rPr lang="en-US" altLang="zh-CN" sz="1200"/>
              <a:t>ID </a:t>
            </a:r>
            <a:r>
              <a:rPr lang="en-US" altLang="zh-CN" sz="1200" b="1">
                <a:highlight>
                  <a:srgbClr val="C0C0C0"/>
                </a:highlight>
              </a:rPr>
              <a:t>28B</a:t>
            </a:r>
            <a:endParaRPr lang="zh-CN" altLang="en-US" sz="1200" b="1">
              <a:highlight>
                <a:srgbClr val="C0C0C0"/>
              </a:highligh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实现细节--页面结构</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页面结构</a:t>
            </a:r>
            <a:endParaRPr lang="en-US" sz="1600" dirty="0"/>
          </a:p>
        </p:txBody>
      </p:sp>
      <p:sp>
        <p:nvSpPr>
          <p:cNvPr id="6" name="Text 3"/>
          <p:cNvSpPr/>
          <p:nvPr/>
        </p:nvSpPr>
        <p:spPr>
          <a:xfrm>
            <a:off x="457200" y="1574800"/>
            <a:ext cx="3505200" cy="508000"/>
          </a:xfrm>
          <a:prstGeom prst="rect">
            <a:avLst/>
          </a:prstGeom>
          <a:noFill/>
        </p:spPr>
        <p:txBody>
          <a:bodyPr wrap="square" lIns="0" tIns="0" rIns="0" bIns="0" rtlCol="0" anchor="ctr"/>
          <a:lstStyle/>
          <a:p>
            <a:pPr>
              <a:lnSpc>
                <a:spcPct val="120000"/>
              </a:lnSpc>
            </a:pP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BPlusTreePage:</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包含两个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类共享的信息</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339278"/>
            <a:ext cx="3505200" cy="508000"/>
          </a:xfrm>
          <a:prstGeom prst="rect">
            <a:avLst/>
          </a:prstGeom>
          <a:noFill/>
        </p:spPr>
        <p:txBody>
          <a:bodyPr wrap="square" lIns="0" tIns="0" rIns="0" bIns="0" rtlCol="0" anchor="ctr"/>
          <a:lstStyle/>
          <a:p>
            <a:pPr>
              <a:lnSpc>
                <a:spcPct val="120000"/>
              </a:lnSpc>
            </a:pPr>
            <a:r>
              <a:rPr lang="en-US" altLang="zh-CN"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BPlusTreeInternalPage</a:t>
            </a:r>
            <a:r>
              <a:rPr lang="en-US"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内部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是存储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m+1</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指针</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192258"/>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BPlusTreeLeafPage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叶</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个值条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BPlusTreePage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实现的方法</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userDrawn="1"/>
        </p:nvSpPr>
        <p:spPr>
          <a:xfrm>
            <a:off x="4618355" y="1567815"/>
            <a:ext cx="6705600" cy="4615815"/>
          </a:xfrm>
          <a:prstGeom prst="rect">
            <a:avLst/>
          </a:prstGeom>
        </p:spPr>
        <p:txBody>
          <a:bodyPr wrap="square" rtlCol="0">
            <a:spAutoFit/>
          </a:bodyPr>
          <a:p>
            <a:r>
              <a:rPr lang="zh-CN" altLang="en-US" sz="1400" b="1"/>
              <a:t>页面类型管理</a:t>
            </a:r>
            <a:endParaRPr lang="zh-CN" altLang="en-US" sz="1400" b="1"/>
          </a:p>
          <a:p>
            <a:r>
              <a:rPr lang="en-US" altLang="zh-CN" sz="1400"/>
              <a:t>IsLeafPage() - </a:t>
            </a:r>
            <a:r>
              <a:rPr lang="zh-CN" altLang="en-US" sz="1400"/>
              <a:t>判断当前页面是否为叶子节点</a:t>
            </a:r>
            <a:endParaRPr lang="en-US" altLang="zh-CN" sz="1400"/>
          </a:p>
          <a:p>
            <a:r>
              <a:rPr lang="en-US" altLang="zh-CN" sz="1400"/>
              <a:t>IsRootPage() - </a:t>
            </a:r>
            <a:r>
              <a:rPr lang="zh-CN" altLang="en-US" sz="1400"/>
              <a:t>判断当前页面是否为根节点（无父节点）</a:t>
            </a:r>
            <a:endParaRPr lang="en-US" altLang="zh-CN" sz="1400"/>
          </a:p>
          <a:p>
            <a:r>
              <a:rPr lang="en-US" altLang="zh-CN" sz="1400"/>
              <a:t>SetPageType() - </a:t>
            </a:r>
            <a:r>
              <a:rPr lang="zh-CN" altLang="en-US" sz="1400"/>
              <a:t>设置页面的类型（内部节点或叶子节点）</a:t>
            </a:r>
            <a:endParaRPr lang="zh-CN" altLang="en-US" sz="1400"/>
          </a:p>
          <a:p>
            <a:endParaRPr lang="en-US" altLang="zh-CN" sz="1400"/>
          </a:p>
          <a:p>
            <a:pPr marL="0" indent="0" algn="l" defTabSz="0" rtl="0" eaLnBrk="1" latinLnBrk="0" hangingPunct="1">
              <a:spcBef>
                <a:spcPct val="0"/>
              </a:spcBef>
              <a:spcAft>
                <a:spcPct val="0"/>
              </a:spcAft>
              <a:buNone/>
            </a:pPr>
            <a:r>
              <a:rPr lang="zh-CN" altLang="en-US" sz="1400" b="1">
                <a:solidFill>
                  <a:schemeClr val="tx1"/>
                </a:solidFill>
              </a:rPr>
              <a:t>容量管理</a:t>
            </a:r>
            <a:endParaRPr lang="zh-CN" altLang="en-US" sz="1400" b="1">
              <a:solidFill>
                <a:schemeClr val="tx1"/>
              </a:solidFill>
            </a:endParaRPr>
          </a:p>
          <a:p>
            <a:r>
              <a:rPr lang="en-US" altLang="zh-CN" sz="1400"/>
              <a:t>GetSize() - </a:t>
            </a:r>
            <a:r>
              <a:rPr lang="zh-CN" altLang="en-US" sz="1400"/>
              <a:t>获取页面当前存储的键值对数量</a:t>
            </a:r>
            <a:endParaRPr lang="en-US" altLang="zh-CN" sz="1400"/>
          </a:p>
          <a:p>
            <a:r>
              <a:rPr lang="en-US" altLang="zh-CN" sz="1400"/>
              <a:t>SetSize() - </a:t>
            </a:r>
            <a:r>
              <a:rPr lang="zh-CN" altLang="en-US" sz="1400"/>
              <a:t>设置页面存储的键值对数量</a:t>
            </a:r>
            <a:endParaRPr lang="en-US" altLang="zh-CN" sz="1400"/>
          </a:p>
          <a:p>
            <a:r>
              <a:rPr lang="en-US" altLang="zh-CN" sz="1400"/>
              <a:t>IncreaseSize() - </a:t>
            </a:r>
            <a:r>
              <a:rPr lang="zh-CN" altLang="en-US" sz="1400"/>
              <a:t>按指定增量增加页面存储的键值对数量</a:t>
            </a:r>
            <a:endParaRPr lang="zh-CN" altLang="en-US" sz="1400"/>
          </a:p>
          <a:p>
            <a:r>
              <a:rPr lang="en-US" altLang="zh-CN" sz="1400"/>
              <a:t>GetMaxSize() - </a:t>
            </a:r>
            <a:r>
              <a:rPr lang="zh-CN" altLang="en-US" sz="1400"/>
              <a:t>获取页面的最大容量（满页时的键值对数量）</a:t>
            </a:r>
            <a:endParaRPr lang="zh-CN" altLang="en-US" sz="1400"/>
          </a:p>
          <a:p>
            <a:r>
              <a:rPr lang="en-US" altLang="zh-CN" sz="1400"/>
              <a:t>SetMaxSize() - </a:t>
            </a:r>
            <a:r>
              <a:rPr lang="zh-CN" altLang="en-US" sz="1400"/>
              <a:t>设置页面的最大容量</a:t>
            </a:r>
            <a:endParaRPr lang="zh-CN" altLang="en-US" sz="1400"/>
          </a:p>
          <a:p>
            <a:r>
              <a:rPr lang="en-US" altLang="zh-CN" sz="1400"/>
              <a:t>GetMinSize() - </a:t>
            </a:r>
            <a:r>
              <a:rPr lang="zh-CN" altLang="en-US" sz="1400"/>
              <a:t>计算页面的最小容量（通常为最大容量的一半）</a:t>
            </a:r>
            <a:endParaRPr lang="zh-CN" altLang="en-US" sz="1400"/>
          </a:p>
          <a:p>
            <a:endParaRPr lang="zh-CN" altLang="en-US" sz="1400"/>
          </a:p>
          <a:p>
            <a:pPr marL="0" indent="0" algn="l" defTabSz="0" rtl="0" eaLnBrk="1" latinLnBrk="0" hangingPunct="1">
              <a:spcBef>
                <a:spcPct val="0"/>
              </a:spcBef>
              <a:spcAft>
                <a:spcPct val="0"/>
              </a:spcAft>
              <a:buNone/>
            </a:pPr>
            <a:r>
              <a:rPr lang="zh-CN" altLang="en-US" sz="1400" b="1">
                <a:solidFill>
                  <a:schemeClr val="tx1"/>
                </a:solidFill>
              </a:rPr>
              <a:t>页面关系管理</a:t>
            </a:r>
            <a:endParaRPr lang="zh-CN" altLang="en-US" sz="1400" b="1">
              <a:solidFill>
                <a:schemeClr val="tx1"/>
              </a:solidFill>
            </a:endParaRPr>
          </a:p>
          <a:p>
            <a:r>
              <a:rPr lang="en-US" altLang="zh-CN" sz="1400"/>
              <a:t>GetParentPageId() - </a:t>
            </a:r>
            <a:r>
              <a:rPr lang="zh-CN" altLang="en-US" sz="1400"/>
              <a:t>获取父页面的</a:t>
            </a:r>
            <a:r>
              <a:rPr lang="en-US" altLang="zh-CN" sz="1400"/>
              <a:t>ID</a:t>
            </a:r>
            <a:endParaRPr lang="en-US" altLang="zh-CN" sz="1400"/>
          </a:p>
          <a:p>
            <a:r>
              <a:rPr lang="en-US" altLang="zh-CN" sz="1400"/>
              <a:t>SetParentPageId() - </a:t>
            </a:r>
            <a:r>
              <a:rPr lang="zh-CN" altLang="en-US" sz="1400"/>
              <a:t>设置父页面的</a:t>
            </a:r>
            <a:r>
              <a:rPr lang="en-US" altLang="zh-CN" sz="1400"/>
              <a:t>ID</a:t>
            </a:r>
            <a:endParaRPr lang="en-US" altLang="zh-CN" sz="1400"/>
          </a:p>
          <a:p>
            <a:r>
              <a:rPr lang="en-US" altLang="zh-CN" sz="1400"/>
              <a:t>GetPageId() - </a:t>
            </a:r>
            <a:r>
              <a:rPr lang="zh-CN" altLang="en-US" sz="1400"/>
              <a:t>获取当前页面的</a:t>
            </a:r>
            <a:r>
              <a:rPr lang="en-US" altLang="zh-CN" sz="1400"/>
              <a:t>ID</a:t>
            </a:r>
            <a:endParaRPr lang="en-US" altLang="zh-CN" sz="1400"/>
          </a:p>
          <a:p>
            <a:r>
              <a:rPr lang="en-US" altLang="zh-CN" sz="1400"/>
              <a:t>SetPageId() - </a:t>
            </a:r>
            <a:r>
              <a:rPr lang="zh-CN" altLang="en-US" sz="1400"/>
              <a:t>设置当前页面的</a:t>
            </a:r>
            <a:r>
              <a:rPr lang="en-US" altLang="zh-CN" sz="1400"/>
              <a:t>ID</a:t>
            </a:r>
            <a:endParaRPr lang="en-US" altLang="zh-CN" sz="1400"/>
          </a:p>
          <a:p>
            <a:endParaRPr lang="zh-CN" altLang="en-US" sz="1400"/>
          </a:p>
          <a:p>
            <a:pPr marL="0" indent="0" algn="l" defTabSz="0" rtl="0" eaLnBrk="1" latinLnBrk="0" hangingPunct="1">
              <a:spcBef>
                <a:spcPct val="0"/>
              </a:spcBef>
              <a:spcAft>
                <a:spcPct val="0"/>
              </a:spcAft>
              <a:buNone/>
            </a:pPr>
            <a:r>
              <a:rPr lang="zh-CN" altLang="en-US" sz="1400" b="1">
                <a:solidFill>
                  <a:schemeClr val="tx1"/>
                </a:solidFill>
              </a:rPr>
              <a:t>日志管理</a:t>
            </a:r>
            <a:endParaRPr lang="zh-CN" altLang="en-US" sz="1400" b="1">
              <a:solidFill>
                <a:schemeClr val="tx1"/>
              </a:solidFill>
            </a:endParaRPr>
          </a:p>
          <a:p>
            <a:r>
              <a:rPr lang="en-US" altLang="zh-CN" sz="1400"/>
              <a:t>SetLSN() - </a:t>
            </a:r>
            <a:r>
              <a:rPr lang="zh-CN" altLang="en-US" sz="1400"/>
              <a:t>设置日志序列号（用于崩溃恢复）</a:t>
            </a:r>
            <a:endParaRPr lang="zh-CN" altLang="en-US" sz="1400"/>
          </a:p>
        </p:txBody>
      </p:sp>
      <p:sp>
        <p:nvSpPr>
          <p:cNvPr id="13" name="文本框 12"/>
          <p:cNvSpPr txBox="1"/>
          <p:nvPr userDrawn="1"/>
        </p:nvSpPr>
        <p:spPr>
          <a:xfrm>
            <a:off x="9483090" y="4844415"/>
            <a:ext cx="3257550" cy="398780"/>
          </a:xfrm>
          <a:prstGeom prst="rect">
            <a:avLst/>
          </a:prstGeom>
        </p:spPr>
        <p:txBody>
          <a:bodyPr wrap="square" rtlCol="0">
            <a:spAutoFit/>
          </a:bodyPr>
          <a:p>
            <a:r>
              <a:rPr lang="zh-CN" altLang="en-US" sz="2000" b="1"/>
              <a:t>基础管理功能</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实现细节--页面结构</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页面结构</a:t>
            </a:r>
            <a:endParaRPr lang="en-US" sz="1600" dirty="0"/>
          </a:p>
        </p:txBody>
      </p:sp>
      <p:sp>
        <p:nvSpPr>
          <p:cNvPr id="6" name="Text 3"/>
          <p:cNvSpPr/>
          <p:nvPr/>
        </p:nvSpPr>
        <p:spPr>
          <a:xfrm>
            <a:off x="457200" y="1574800"/>
            <a:ext cx="3505200" cy="508000"/>
          </a:xfrm>
          <a:prstGeom prst="rect">
            <a:avLst/>
          </a:prstGeom>
          <a:noFill/>
        </p:spPr>
        <p:txBody>
          <a:bodyPr wrap="square" lIns="0" tIns="0" rIns="0" bIns="0" rtlCol="0" anchor="ctr"/>
          <a:lstStyle/>
          <a:p>
            <a:pPr>
              <a:lnSpc>
                <a:spcPct val="120000"/>
              </a:lnSpc>
            </a:pP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BPlusTreePage:</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包含两个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类共享的信息</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339278"/>
            <a:ext cx="3505200" cy="5080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BPlusTreeInternalPage</a:t>
            </a:r>
            <a:r>
              <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内部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是存储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m+1</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指针</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192258"/>
            <a:ext cx="3505200" cy="520700"/>
          </a:xfrm>
          <a:prstGeom prst="rect">
            <a:avLst/>
          </a:prstGeom>
          <a:noFill/>
        </p:spPr>
        <p:txBody>
          <a:bodyPr wrap="square" lIns="0" tIns="0" rIns="0" bIns="0" rtlCol="0" anchor="ctr"/>
          <a:lstStyle/>
          <a:p>
            <a:pPr>
              <a:lnSpc>
                <a:spcPct val="120000"/>
              </a:lnSpc>
            </a:pPr>
            <a:r>
              <a:rPr lang="en-US" altLang="zh-CN"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BPlusTreeLeafPage</a:t>
            </a:r>
            <a:r>
              <a:rPr lang="en-US" sz="1400" b="1" u="sng"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B+Tree</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叶</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存储</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个有序的</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个键条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和</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m</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个值条</a:t>
            </a:r>
            <a:r>
              <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BPlusTreeInternalPage </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实现的方法</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userDrawn="1"/>
        </p:nvSpPr>
        <p:spPr>
          <a:xfrm>
            <a:off x="4618355" y="1567815"/>
            <a:ext cx="6705600" cy="3969385"/>
          </a:xfrm>
          <a:prstGeom prst="rect">
            <a:avLst/>
          </a:prstGeom>
        </p:spPr>
        <p:txBody>
          <a:bodyPr wrap="square" rtlCol="0">
            <a:spAutoFit/>
          </a:bodyPr>
          <a:p>
            <a:pPr marL="0" indent="0" algn="l" defTabSz="0" rtl="0" eaLnBrk="1" latinLnBrk="0" hangingPunct="1">
              <a:spcBef>
                <a:spcPct val="0"/>
              </a:spcBef>
              <a:spcAft>
                <a:spcPct val="0"/>
              </a:spcAft>
              <a:buNone/>
            </a:pPr>
            <a:r>
              <a:rPr lang="zh-CN" altLang="en-US" sz="1400" b="1">
                <a:solidFill>
                  <a:schemeClr val="tx1"/>
                </a:solidFill>
              </a:rPr>
              <a:t>初始化与基本访问</a:t>
            </a:r>
            <a:endParaRPr lang="zh-CN" altLang="en-US" sz="1400" b="1">
              <a:solidFill>
                <a:schemeClr val="tx1"/>
              </a:solidFill>
            </a:endParaRPr>
          </a:p>
          <a:p>
            <a:r>
              <a:rPr lang="en-US" altLang="zh-CN" sz="1400"/>
              <a:t>Init() - </a:t>
            </a:r>
            <a:r>
              <a:rPr lang="zh-CN" altLang="en-US" sz="1400"/>
              <a:t>初始化内部节点的元数据和容量参数</a:t>
            </a:r>
            <a:endParaRPr lang="en-US" altLang="zh-CN" sz="1400"/>
          </a:p>
          <a:p>
            <a:r>
              <a:rPr lang="en-US" altLang="zh-CN" sz="1400"/>
              <a:t>KeyAt() - </a:t>
            </a:r>
            <a:r>
              <a:rPr lang="zh-CN" altLang="en-US" sz="1400"/>
              <a:t>获取指定索引位置的导航键</a:t>
            </a:r>
            <a:endParaRPr lang="en-US" altLang="zh-CN" sz="1400"/>
          </a:p>
          <a:p>
            <a:r>
              <a:rPr lang="en-US" altLang="zh-CN" sz="1400"/>
              <a:t>SetKeyAt() - </a:t>
            </a:r>
            <a:r>
              <a:rPr lang="zh-CN" altLang="en-US" sz="1400"/>
              <a:t>设置指定索引位置的导航键</a:t>
            </a:r>
            <a:endParaRPr lang="en-US" altLang="zh-CN" sz="1400"/>
          </a:p>
          <a:p>
            <a:r>
              <a:rPr lang="en-US" altLang="zh-CN" sz="1400"/>
              <a:t>ValueAt() - </a:t>
            </a:r>
            <a:r>
              <a:rPr lang="zh-CN" altLang="en-US" sz="1400"/>
              <a:t>获取指定索引位置的子页面指针（</a:t>
            </a:r>
            <a:r>
              <a:rPr lang="en-US" altLang="zh-CN" sz="1400"/>
              <a:t>page_id</a:t>
            </a:r>
            <a:r>
              <a:rPr lang="zh-CN" altLang="en-US" sz="1400"/>
              <a:t>）</a:t>
            </a:r>
            <a:endParaRPr lang="zh-CN" altLang="en-US" sz="1400"/>
          </a:p>
          <a:p>
            <a:r>
              <a:rPr lang="en-US" altLang="zh-CN" sz="1400"/>
              <a:t>GetItem() - </a:t>
            </a:r>
            <a:r>
              <a:rPr lang="zh-CN" altLang="en-US" sz="1400"/>
              <a:t>获取指定索引位置的完整键值对映射</a:t>
            </a:r>
            <a:endParaRPr lang="zh-CN" altLang="en-US" sz="1400"/>
          </a:p>
          <a:p>
            <a:endParaRPr lang="en-US" altLang="zh-CN" sz="1400"/>
          </a:p>
          <a:p>
            <a:pPr marL="0" indent="0" algn="l" defTabSz="0" rtl="0" eaLnBrk="1" latinLnBrk="0" hangingPunct="1">
              <a:spcBef>
                <a:spcPct val="0"/>
              </a:spcBef>
              <a:spcAft>
                <a:spcPct val="0"/>
              </a:spcAft>
              <a:buNone/>
            </a:pPr>
            <a:r>
              <a:rPr lang="zh-CN" altLang="en-US" sz="1400" b="1">
                <a:solidFill>
                  <a:schemeClr val="tx1"/>
                </a:solidFill>
              </a:rPr>
              <a:t>插入操作</a:t>
            </a:r>
            <a:endParaRPr lang="zh-CN" altLang="en-US" sz="1400" b="1">
              <a:solidFill>
                <a:schemeClr val="tx1"/>
              </a:solidFill>
            </a:endParaRPr>
          </a:p>
          <a:p>
            <a:r>
              <a:rPr lang="en-US" altLang="zh-CN" sz="1400"/>
              <a:t>Insert() - </a:t>
            </a:r>
            <a:r>
              <a:rPr lang="zh-CN" altLang="en-US" sz="1400"/>
              <a:t>按顺序插入键值对到内部节点中</a:t>
            </a:r>
            <a:endParaRPr lang="zh-CN" altLang="en-US" sz="1400"/>
          </a:p>
          <a:p>
            <a:r>
              <a:rPr lang="en-US" altLang="zh-CN" sz="1400"/>
              <a:t>InsertNodeAfter() - </a:t>
            </a:r>
            <a:r>
              <a:rPr lang="zh-CN" altLang="en-US" sz="1400"/>
              <a:t>在指定子节点后插入新的键值对</a:t>
            </a:r>
            <a:endParaRPr lang="zh-CN" altLang="en-US" sz="1400"/>
          </a:p>
          <a:p>
            <a:endParaRPr lang="en-US" altLang="zh-CN" sz="1400"/>
          </a:p>
          <a:p>
            <a:pPr marL="0" indent="0" algn="l" defTabSz="0" rtl="0" eaLnBrk="1" latinLnBrk="0" hangingPunct="1">
              <a:spcBef>
                <a:spcPct val="0"/>
              </a:spcBef>
              <a:spcAft>
                <a:spcPct val="0"/>
              </a:spcAft>
              <a:buNone/>
            </a:pPr>
            <a:r>
              <a:rPr lang="zh-CN" altLang="en-US" sz="1400" b="1">
                <a:solidFill>
                  <a:schemeClr val="tx1"/>
                </a:solidFill>
              </a:rPr>
              <a:t>分裂与重分配</a:t>
            </a:r>
            <a:endParaRPr lang="zh-CN" altLang="en-US" sz="1400" b="1">
              <a:solidFill>
                <a:schemeClr val="tx1"/>
              </a:solidFill>
            </a:endParaRPr>
          </a:p>
          <a:p>
            <a:r>
              <a:rPr lang="en-US" altLang="zh-CN" sz="1400"/>
              <a:t>MoveHalfTo() - </a:t>
            </a:r>
            <a:r>
              <a:rPr lang="zh-CN" altLang="en-US" sz="1400"/>
              <a:t>移动一半元素到目标节点并返回分裂键</a:t>
            </a:r>
            <a:endParaRPr lang="zh-CN" altLang="en-US" sz="1400"/>
          </a:p>
          <a:p>
            <a:r>
              <a:rPr lang="en-US" altLang="zh-CN" sz="1400"/>
              <a:t>PopulateNewRoot() - </a:t>
            </a:r>
            <a:r>
              <a:rPr lang="zh-CN" altLang="en-US" sz="1400"/>
              <a:t>初始化新根节点的左右子指针和分隔键</a:t>
            </a:r>
            <a:endParaRPr lang="zh-CN" altLang="en-US" sz="1400"/>
          </a:p>
          <a:p>
            <a:endParaRPr lang="en-US" altLang="zh-CN" sz="1400"/>
          </a:p>
          <a:p>
            <a:pPr marL="0" indent="0" algn="l" defTabSz="0" rtl="0" eaLnBrk="1" latinLnBrk="0" hangingPunct="1">
              <a:spcBef>
                <a:spcPct val="0"/>
              </a:spcBef>
              <a:spcAft>
                <a:spcPct val="0"/>
              </a:spcAft>
              <a:buNone/>
            </a:pPr>
            <a:r>
              <a:rPr lang="zh-CN" altLang="en-US" sz="1400" b="1">
                <a:solidFill>
                  <a:schemeClr val="tx1"/>
                </a:solidFill>
              </a:rPr>
              <a:t>删除操作</a:t>
            </a:r>
            <a:endParaRPr lang="zh-CN" altLang="en-US" sz="1400" b="1">
              <a:solidFill>
                <a:schemeClr val="tx1"/>
              </a:solidFill>
            </a:endParaRPr>
          </a:p>
          <a:p>
            <a:r>
              <a:rPr lang="en-US" altLang="zh-CN" sz="1400"/>
              <a:t>RemoveAt() - </a:t>
            </a:r>
            <a:r>
              <a:rPr lang="zh-CN" altLang="en-US" sz="1400"/>
              <a:t>删除指定索引位置的元素并减小数组</a:t>
            </a:r>
            <a:endParaRPr lang="zh-CN" altLang="en-US" sz="1400"/>
          </a:p>
          <a:p>
            <a:endParaRPr lang="zh-CN" altLang="en-US" sz="1400"/>
          </a:p>
        </p:txBody>
      </p:sp>
      <p:sp>
        <p:nvSpPr>
          <p:cNvPr id="13" name="文本框 12"/>
          <p:cNvSpPr txBox="1"/>
          <p:nvPr userDrawn="1"/>
        </p:nvSpPr>
        <p:spPr>
          <a:xfrm>
            <a:off x="9483090" y="4844415"/>
            <a:ext cx="3257550" cy="398780"/>
          </a:xfrm>
          <a:prstGeom prst="rect">
            <a:avLst/>
          </a:prstGeom>
        </p:spPr>
        <p:txBody>
          <a:bodyPr wrap="square" rtlCol="0">
            <a:spAutoFit/>
          </a:bodyPr>
          <a:p>
            <a:r>
              <a:rPr lang="zh-CN" altLang="en-US" sz="2000" b="1"/>
              <a:t>内部节点的核心操作</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+树核心接口实现 </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a:t>
            </a:r>
            <a:endParaRPr lang="en-US" sz="1600" dirty="0"/>
          </a:p>
        </p:txBody>
      </p:sp>
      <p:sp>
        <p:nvSpPr>
          <p:cNvPr id="6" name="Text 3"/>
          <p:cNvSpPr/>
          <p:nvPr/>
        </p:nvSpPr>
        <p:spPr>
          <a:xfrm>
            <a:off x="457200" y="1574800"/>
            <a:ext cx="3505200" cy="796228"/>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GetValue</a:t>
            </a:r>
            <a:endPar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std::vector&lt;ValueType&gt; *result, Transaction *transaction = nullptr) -&gt; bool;</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609153"/>
            <a:ext cx="3505200" cy="85298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Insert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const ValueType &amp;value, Transaction *transaction = nullptr) -&gt; bool;</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811383"/>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void Remove</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Transaction *transaction = nullptr);</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树的插入实现</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userDrawn="1"/>
        </p:nvSpPr>
        <p:spPr>
          <a:xfrm>
            <a:off x="4618355" y="1567815"/>
            <a:ext cx="6483350" cy="1747837"/>
          </a:xfrm>
          <a:prstGeom prst="rect">
            <a:avLst/>
          </a:prstGeom>
        </p:spPr>
        <p:txBody>
          <a:bodyPr wrap="square" rtlCol="0">
            <a:noAutofit/>
          </a:bodyPr>
          <a:p>
            <a:pPr marL="0" indent="0" algn="l" defTabSz="0" rtl="0" eaLnBrk="1" latinLnBrk="0" hangingPunct="1">
              <a:spcBef>
                <a:spcPct val="0"/>
              </a:spcBef>
              <a:spcAft>
                <a:spcPct val="0"/>
              </a:spcAft>
              <a:buNone/>
            </a:pPr>
            <a:r>
              <a:rPr lang="zh-CN" altLang="en-US" sz="1400" b="1"/>
              <a:t>算法原理</a:t>
            </a:r>
            <a:r>
              <a:rPr lang="en-US" altLang="zh-CN" sz="1400" b="1"/>
              <a:t> </a:t>
            </a:r>
            <a:endParaRPr lang="zh-CN" altLang="en-US" sz="1400" b="1">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1.</a:t>
            </a:r>
            <a:r>
              <a:rPr lang="zh-CN" altLang="en-US" sz="1400">
                <a:solidFill>
                  <a:schemeClr val="tx1"/>
                </a:solidFill>
              </a:rPr>
              <a:t>空树处理：若树为空，创建新叶子节点作为根节点</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2.</a:t>
            </a:r>
            <a:r>
              <a:rPr lang="zh-CN" altLang="en-US" sz="1400">
                <a:solidFill>
                  <a:schemeClr val="tx1"/>
                </a:solidFill>
              </a:rPr>
              <a:t>定位叶子：根据键值找到应插入的叶子节点</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3.</a:t>
            </a:r>
            <a:r>
              <a:rPr lang="zh-CN" altLang="en-US" sz="1400">
                <a:solidFill>
                  <a:schemeClr val="tx1"/>
                </a:solidFill>
              </a:rPr>
              <a:t>叶子插入：在叶子节点中按顺序插入键值对</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4.</a:t>
            </a:r>
            <a:r>
              <a:rPr lang="zh-CN" altLang="en-US" sz="1400">
                <a:solidFill>
                  <a:schemeClr val="tx1"/>
                </a:solidFill>
              </a:rPr>
              <a:t>检查分裂：若叶子未满</a:t>
            </a:r>
            <a:r>
              <a:rPr lang="en-US" altLang="zh-CN" sz="1400">
                <a:solidFill>
                  <a:schemeClr val="tx1"/>
                </a:solidFill>
              </a:rPr>
              <a:t> </a:t>
            </a:r>
            <a:r>
              <a:rPr lang="en-US" altLang="en-US" sz="1400">
                <a:solidFill>
                  <a:schemeClr val="tx1"/>
                </a:solidFill>
              </a:rPr>
              <a:t>→</a:t>
            </a:r>
            <a:r>
              <a:rPr lang="en-US" altLang="zh-CN" sz="1400">
                <a:solidFill>
                  <a:schemeClr val="tx1"/>
                </a:solidFill>
              </a:rPr>
              <a:t> </a:t>
            </a:r>
            <a:r>
              <a:rPr lang="zh-CN" altLang="en-US" sz="1400">
                <a:solidFill>
                  <a:schemeClr val="tx1"/>
                </a:solidFill>
              </a:rPr>
              <a:t>插入完成</a:t>
            </a:r>
            <a:endParaRPr lang="en-US" altLang="zh-CN"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                          若叶子已满</a:t>
            </a:r>
            <a:r>
              <a:rPr lang="en-US" altLang="zh-CN" sz="1400">
                <a:solidFill>
                  <a:schemeClr val="tx1"/>
                </a:solidFill>
              </a:rPr>
              <a:t> </a:t>
            </a:r>
            <a:r>
              <a:rPr lang="en-US" altLang="en-US" sz="1400">
                <a:solidFill>
                  <a:schemeClr val="tx1"/>
                </a:solidFill>
              </a:rPr>
              <a:t>→</a:t>
            </a:r>
            <a:r>
              <a:rPr lang="en-US" altLang="zh-CN" sz="1400">
                <a:solidFill>
                  <a:schemeClr val="tx1"/>
                </a:solidFill>
              </a:rPr>
              <a:t> </a:t>
            </a:r>
            <a:r>
              <a:rPr lang="zh-CN" altLang="en-US" sz="1400">
                <a:solidFill>
                  <a:schemeClr val="tx1"/>
                </a:solidFill>
              </a:rPr>
              <a:t>分裂叶子节点，中间键提升到父节点</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5.</a:t>
            </a:r>
            <a:r>
              <a:rPr lang="zh-CN" altLang="en-US" sz="1400">
                <a:solidFill>
                  <a:schemeClr val="tx1"/>
                </a:solidFill>
              </a:rPr>
              <a:t>向上递归：若父节点因此变满，继续向上分裂，可能增加树高度</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6.</a:t>
            </a:r>
            <a:r>
              <a:rPr lang="zh-CN" altLang="en-US" sz="1400">
                <a:solidFill>
                  <a:schemeClr val="tx1"/>
                </a:solidFill>
              </a:rPr>
              <a:t>更新根节点：若根节点分裂，创建新根节点存在</a:t>
            </a:r>
            <a:endParaRPr lang="zh-CN" altLang="en-US"/>
          </a:p>
        </p:txBody>
      </p:sp>
      <p:sp>
        <p:nvSpPr>
          <p:cNvPr id="13" name="文本框 12"/>
          <p:cNvSpPr txBox="1"/>
          <p:nvPr userDrawn="1"/>
        </p:nvSpPr>
        <p:spPr>
          <a:xfrm>
            <a:off x="4879340" y="3318510"/>
            <a:ext cx="3257550" cy="398780"/>
          </a:xfrm>
          <a:prstGeom prst="rect">
            <a:avLst/>
          </a:prstGeom>
        </p:spPr>
        <p:txBody>
          <a:bodyPr wrap="square" rtlCol="0">
            <a:spAutoFit/>
          </a:bodyPr>
          <a:p>
            <a:r>
              <a:rPr lang="en-US" altLang="zh-CN" sz="2000" b="1">
                <a:hlinkClick r:id="rId2" action="ppaction://hlinksldjump"/>
              </a:rPr>
              <a:t>GetValue</a:t>
            </a:r>
            <a:r>
              <a:rPr lang="zh-CN" altLang="en-US" sz="2000" b="1">
                <a:hlinkClick r:id="rId2" action="ppaction://hlinksldjump"/>
              </a:rPr>
              <a:t>函数细节</a:t>
            </a:r>
            <a:endParaRPr lang="zh-CN" altLang="en-US" sz="2000" b="1"/>
          </a:p>
        </p:txBody>
      </p:sp>
      <p:pic>
        <p:nvPicPr>
          <p:cNvPr id="14" name="图片 13" descr="post_object_image_2707228522"/>
          <p:cNvPicPr>
            <a:picLocks noChangeAspect="1"/>
          </p:cNvPicPr>
          <p:nvPr/>
        </p:nvPicPr>
        <p:blipFill>
          <a:blip r:embed="rId3"/>
          <a:stretch>
            <a:fillRect/>
          </a:stretch>
        </p:blipFill>
        <p:spPr>
          <a:xfrm>
            <a:off x="5050727" y="3811334"/>
            <a:ext cx="5917284" cy="2641772"/>
          </a:xfrm>
          <a:prstGeom prst="rect">
            <a:avLst/>
          </a:prstGeom>
        </p:spPr>
      </p:pic>
      <p:sp>
        <p:nvSpPr>
          <p:cNvPr id="15" name="矩形 14"/>
          <p:cNvSpPr/>
          <p:nvPr userDrawn="1"/>
        </p:nvSpPr>
        <p:spPr>
          <a:xfrm>
            <a:off x="7891780" y="3879850"/>
            <a:ext cx="261938" cy="321151"/>
          </a:xfrm>
          <a:prstGeom prst="rect">
            <a:avLst/>
          </a:prstGeom>
          <a:solidFill>
            <a:schemeClr val="accent6">
              <a:alpha val="35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7" name="矩形 16"/>
          <p:cNvSpPr/>
          <p:nvPr userDrawn="1"/>
        </p:nvSpPr>
        <p:spPr>
          <a:xfrm>
            <a:off x="9308465" y="4523105"/>
            <a:ext cx="261938" cy="321151"/>
          </a:xfrm>
          <a:prstGeom prst="rect">
            <a:avLst/>
          </a:prstGeom>
          <a:solidFill>
            <a:schemeClr val="accent6">
              <a:alpha val="35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19" name="矩形 18"/>
          <p:cNvSpPr/>
          <p:nvPr userDrawn="1"/>
        </p:nvSpPr>
        <p:spPr>
          <a:xfrm>
            <a:off x="8641715" y="5344636"/>
            <a:ext cx="261938" cy="321151"/>
          </a:xfrm>
          <a:prstGeom prst="rect">
            <a:avLst/>
          </a:prstGeom>
          <a:solidFill>
            <a:schemeClr val="accent2">
              <a:lumMod val="75000"/>
              <a:alpha val="35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sp>
        <p:nvSpPr>
          <p:cNvPr id="21" name="矩形 20"/>
          <p:cNvSpPr/>
          <p:nvPr userDrawn="1"/>
        </p:nvSpPr>
        <p:spPr>
          <a:xfrm>
            <a:off x="8154035" y="6023451"/>
            <a:ext cx="261938" cy="321151"/>
          </a:xfrm>
          <a:prstGeom prst="rect">
            <a:avLst/>
          </a:prstGeom>
          <a:solidFill>
            <a:schemeClr val="accent2">
              <a:lumMod val="75000"/>
              <a:alpha val="35000"/>
            </a:schemeClr>
          </a:solidFill>
          <a:ln w="12700" cmpd="sng">
            <a:no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endParaRPr lang="zh-CN" altLang="en-US">
              <a:solidFill>
                <a:srgbClr val="000000"/>
              </a:solidFill>
            </a:endParaRPr>
          </a:p>
        </p:txBody>
      </p:sp>
      <p:cxnSp>
        <p:nvCxnSpPr>
          <p:cNvPr id="22" name="曲线连接符 21"/>
          <p:cNvCxnSpPr/>
          <p:nvPr userDrawn="1"/>
        </p:nvCxnSpPr>
        <p:spPr>
          <a:xfrm>
            <a:off x="8239125" y="3935730"/>
            <a:ext cx="1155065" cy="393065"/>
          </a:xfrm>
          <a:prstGeom prst="curvedConnector2">
            <a:avLst/>
          </a:prstGeom>
          <a:ln w="19050">
            <a:solidFill>
              <a:schemeClr val="accent1">
                <a:alpha val="10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3" name="曲线连接符 22"/>
          <p:cNvCxnSpPr/>
          <p:nvPr userDrawn="1"/>
        </p:nvCxnSpPr>
        <p:spPr>
          <a:xfrm rot="5400000">
            <a:off x="8733155" y="4703445"/>
            <a:ext cx="464185" cy="452755"/>
          </a:xfrm>
          <a:prstGeom prst="curvedConnector3">
            <a:avLst>
              <a:gd name="adj1" fmla="val 30824"/>
            </a:avLst>
          </a:prstGeom>
          <a:ln w="19050">
            <a:solidFill>
              <a:schemeClr val="accent1">
                <a:alpha val="10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24" name="曲线连接符 23"/>
          <p:cNvCxnSpPr/>
          <p:nvPr userDrawn="1"/>
        </p:nvCxnSpPr>
        <p:spPr>
          <a:xfrm rot="5400000">
            <a:off x="8179435" y="5542915"/>
            <a:ext cx="428625" cy="309880"/>
          </a:xfrm>
          <a:prstGeom prst="curvedConnector3">
            <a:avLst>
              <a:gd name="adj1" fmla="val 50117"/>
            </a:avLst>
          </a:prstGeom>
          <a:ln w="19050">
            <a:solidFill>
              <a:schemeClr val="accent1">
                <a:alpha val="100000"/>
              </a:schemeClr>
            </a:solidFill>
            <a:tailEnd type="triangle"/>
          </a:ln>
        </p:spPr>
        <p:style>
          <a:lnRef idx="2">
            <a:schemeClr val="accent1"/>
          </a:lnRef>
          <a:fillRef idx="0">
            <a:srgbClr val="FFFFFF"/>
          </a:fillRef>
          <a:effectRef idx="0">
            <a:srgbClr val="FFFFFF"/>
          </a:effectRef>
          <a:fontRef idx="minor">
            <a:schemeClr val="tx1"/>
          </a:fontRef>
        </p:style>
      </p:cxnSp>
      <p:sp>
        <p:nvSpPr>
          <p:cNvPr id="25" name="文本框 24"/>
          <p:cNvSpPr txBox="1"/>
          <p:nvPr userDrawn="1"/>
        </p:nvSpPr>
        <p:spPr>
          <a:xfrm>
            <a:off x="9386570" y="3528695"/>
            <a:ext cx="1581468" cy="368300"/>
          </a:xfrm>
          <a:prstGeom prst="rect">
            <a:avLst/>
          </a:prstGeom>
        </p:spPr>
        <p:txBody>
          <a:bodyPr wrap="square" rtlCol="0">
            <a:noAutofit/>
          </a:bodyPr>
          <a:p>
            <a:r>
              <a:rPr lang="zh-CN" altLang="en-US" sz="1200">
                <a:latin typeface="宋体" panose="02010600030101010101" pitchFamily="2" charset="-122"/>
                <a:ea typeface="宋体" panose="02010600030101010101" pitchFamily="2" charset="-122"/>
                <a:cs typeface="宋体" panose="02010600030101010101" pitchFamily="2" charset="-122"/>
              </a:rPr>
              <a:t>查找</a:t>
            </a:r>
            <a:r>
              <a:rPr lang="en-US" altLang="zh-CN" sz="1200">
                <a:latin typeface="宋体" panose="02010600030101010101" pitchFamily="2" charset="-122"/>
                <a:ea typeface="宋体" panose="02010600030101010101" pitchFamily="2" charset="-122"/>
                <a:cs typeface="宋体" panose="02010600030101010101" pitchFamily="2" charset="-122"/>
              </a:rPr>
              <a:t>value</a:t>
            </a:r>
            <a:r>
              <a:rPr lang="zh-CN" altLang="en-US" sz="1200">
                <a:latin typeface="宋体" panose="02010600030101010101" pitchFamily="2" charset="-122"/>
                <a:ea typeface="宋体" panose="02010600030101010101" pitchFamily="2" charset="-122"/>
                <a:cs typeface="宋体" panose="02010600030101010101" pitchFamily="2" charset="-122"/>
              </a:rPr>
              <a:t>=</a:t>
            </a:r>
            <a:r>
              <a:rPr lang="en-US" altLang="zh-CN" sz="1200">
                <a:latin typeface="宋体" panose="02010600030101010101" pitchFamily="2" charset="-122"/>
                <a:ea typeface="宋体" panose="02010600030101010101" pitchFamily="2" charset="-122"/>
                <a:cs typeface="宋体" panose="02010600030101010101" pitchFamily="2" charset="-122"/>
              </a:rPr>
              <a:t>9</a:t>
            </a:r>
            <a:endParaRPr lang="zh-CN" altLang="en-US" sz="12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+树核心接口实现 </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a:t>
            </a:r>
            <a:endParaRPr lang="en-US" sz="1600" dirty="0"/>
          </a:p>
        </p:txBody>
      </p:sp>
      <p:sp>
        <p:nvSpPr>
          <p:cNvPr id="6" name="Text 3"/>
          <p:cNvSpPr/>
          <p:nvPr/>
        </p:nvSpPr>
        <p:spPr>
          <a:xfrm>
            <a:off x="457200" y="1574800"/>
            <a:ext cx="3505200" cy="796228"/>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GetValue</a:t>
            </a:r>
            <a:endPar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std::vector&lt;ValueType&gt; *result, Transaction *transaction = nullptr) -&gt; bool;</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609153"/>
            <a:ext cx="3505200" cy="85298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Insert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const ValueType &amp;value, Transaction *transaction = nullptr) -&gt; bool;</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811383"/>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void Remove</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Transaction *transaction = nullptr);</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树的插入实现</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userDrawn="1"/>
        </p:nvSpPr>
        <p:spPr>
          <a:xfrm>
            <a:off x="4618355" y="1567815"/>
            <a:ext cx="6483350" cy="2676525"/>
          </a:xfrm>
          <a:prstGeom prst="rect">
            <a:avLst/>
          </a:prstGeom>
        </p:spPr>
        <p:txBody>
          <a:bodyPr wrap="square" rtlCol="0">
            <a:noAutofit/>
          </a:bodyPr>
          <a:p>
            <a:pPr marL="0" indent="0" algn="l" defTabSz="0" rtl="0" eaLnBrk="1" latinLnBrk="0" hangingPunct="1">
              <a:spcBef>
                <a:spcPct val="0"/>
              </a:spcBef>
              <a:spcAft>
                <a:spcPct val="0"/>
              </a:spcAft>
              <a:buNone/>
            </a:pPr>
            <a:r>
              <a:rPr lang="zh-CN" altLang="en-US" sz="1400" b="1"/>
              <a:t>算法原理</a:t>
            </a:r>
            <a:r>
              <a:rPr lang="en-US" altLang="zh-CN" sz="1400" b="1"/>
              <a:t> </a:t>
            </a:r>
            <a:endParaRPr lang="zh-CN" altLang="en-US" sz="1400" b="1">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1. 从根开始：每次查找都从根节点出发</a:t>
            </a:r>
            <a:endParaRPr lang="zh-CN" altLang="en-US"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2. 逐层导航：在内部节点比较键值，选择对应的子节点路径向下</a:t>
            </a:r>
            <a:endParaRPr lang="zh-CN" altLang="en-US"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3. 到达叶子：最终定位到包含目标键的叶子节点</a:t>
            </a:r>
            <a:endParaRPr lang="zh-CN" altLang="en-US"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4. 二分查找：在叶子节点中精确查找目标键</a:t>
            </a:r>
            <a:endParaRPr lang="zh-CN" altLang="en-US"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5. 返回结果：找到则返回对应值，否则返回不存在</a:t>
            </a:r>
            <a:endParaRPr lang="zh-CN" altLang="en-US"/>
          </a:p>
        </p:txBody>
      </p:sp>
      <p:sp>
        <p:nvSpPr>
          <p:cNvPr id="13" name="文本框 12"/>
          <p:cNvSpPr txBox="1"/>
          <p:nvPr userDrawn="1"/>
        </p:nvSpPr>
        <p:spPr>
          <a:xfrm>
            <a:off x="4879340" y="3068479"/>
            <a:ext cx="3257550" cy="398780"/>
          </a:xfrm>
          <a:prstGeom prst="rect">
            <a:avLst/>
          </a:prstGeom>
        </p:spPr>
        <p:txBody>
          <a:bodyPr wrap="square" rtlCol="0">
            <a:spAutoFit/>
          </a:bodyPr>
          <a:p>
            <a:r>
              <a:rPr lang="zh-CN" altLang="en-US" sz="2000" b="1">
                <a:solidFill>
                  <a:schemeClr val="tx1"/>
                </a:solidFill>
                <a:hlinkClick r:id="rId2" action="ppaction://hlinksldjump"/>
              </a:rPr>
              <a:t>Insert函数细节</a:t>
            </a:r>
            <a:endParaRPr lang="zh-CN" altLang="en-US"/>
          </a:p>
        </p:txBody>
      </p:sp>
      <p:pic>
        <p:nvPicPr>
          <p:cNvPr id="16" name="图片 15" descr="post_object_image_871838674"/>
          <p:cNvPicPr>
            <a:picLocks noChangeAspect="1"/>
          </p:cNvPicPr>
          <p:nvPr/>
        </p:nvPicPr>
        <p:blipFill>
          <a:blip r:embed="rId3"/>
          <a:srcRect b="53899"/>
          <a:stretch>
            <a:fillRect/>
          </a:stretch>
        </p:blipFill>
        <p:spPr>
          <a:xfrm>
            <a:off x="5097916" y="3893004"/>
            <a:ext cx="5714798" cy="1210382"/>
          </a:xfrm>
          <a:prstGeom prst="rect">
            <a:avLst/>
          </a:prstGeom>
        </p:spPr>
      </p:pic>
      <p:sp>
        <p:nvSpPr>
          <p:cNvPr id="18" name="文本框 17"/>
          <p:cNvSpPr txBox="1"/>
          <p:nvPr userDrawn="1"/>
        </p:nvSpPr>
        <p:spPr>
          <a:xfrm>
            <a:off x="7848963" y="3542211"/>
            <a:ext cx="3333387" cy="461010"/>
          </a:xfrm>
          <a:prstGeom prst="rect">
            <a:avLst/>
          </a:prstGeom>
        </p:spPr>
        <p:txBody>
          <a:bodyPr wrap="square" rtlCol="0">
            <a:noAutofit/>
          </a:bodyPr>
          <a:p>
            <a:r>
              <a:rPr lang="zh-CN" altLang="en-US" sz="1200">
                <a:latin typeface="宋体" panose="02010600030101010101" pitchFamily="2" charset="-122"/>
                <a:ea typeface="宋体" panose="02010600030101010101" pitchFamily="2" charset="-122"/>
                <a:cs typeface="宋体" panose="02010600030101010101" pitchFamily="2" charset="-122"/>
              </a:rPr>
              <a:t>插入</a:t>
            </a:r>
            <a:r>
              <a:rPr lang="en-US" altLang="zh-CN" sz="1200">
                <a:latin typeface="宋体" panose="02010600030101010101" pitchFamily="2" charset="-122"/>
                <a:ea typeface="宋体" panose="02010600030101010101" pitchFamily="2" charset="-122"/>
                <a:cs typeface="宋体" panose="02010600030101010101" pitchFamily="2" charset="-122"/>
              </a:rPr>
              <a:t>4</a:t>
            </a:r>
            <a:r>
              <a:rPr lang="zh-CN" altLang="en-US" sz="1200">
                <a:latin typeface="宋体" panose="02010600030101010101" pitchFamily="2" charset="-122"/>
                <a:ea typeface="宋体" panose="02010600030101010101" pitchFamily="2" charset="-122"/>
                <a:cs typeface="宋体" panose="02010600030101010101" pitchFamily="2" charset="-122"/>
              </a:rPr>
              <a:t>，叶节点满，进行分裂，创建新根</a:t>
            </a:r>
            <a:endParaRPr lang="zh-CN" altLang="en-US" sz="12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 2: B+树</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实现细节--</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+树核心接口实现 </a:t>
            </a:r>
            <a:endParaRPr lang="en-US" sz="1600" dirty="0"/>
          </a:p>
        </p:txBody>
      </p:sp>
      <p:sp>
        <p:nvSpPr>
          <p:cNvPr id="4" name="Shape 1"/>
          <p:cNvSpPr/>
          <p:nvPr/>
        </p:nvSpPr>
        <p:spPr>
          <a:xfrm>
            <a:off x="254000" y="914400"/>
            <a:ext cx="3822700" cy="5689600"/>
          </a:xfrm>
          <a:custGeom>
            <a:avLst/>
            <a:gdLst/>
            <a:ahLst/>
            <a:cxnLst/>
            <a:rect l="l" t="t" r="r" b="b"/>
            <a:pathLst>
              <a:path w="3822700" h="5689600">
                <a:moveTo>
                  <a:pt x="101607" y="0"/>
                </a:moveTo>
                <a:lnTo>
                  <a:pt x="3721093" y="0"/>
                </a:lnTo>
                <a:cubicBezTo>
                  <a:pt x="3777209" y="0"/>
                  <a:pt x="3822700" y="45491"/>
                  <a:pt x="3822700" y="101607"/>
                </a:cubicBezTo>
                <a:lnTo>
                  <a:pt x="3822700" y="5587993"/>
                </a:lnTo>
                <a:cubicBezTo>
                  <a:pt x="3822700" y="5644109"/>
                  <a:pt x="3777209" y="5689600"/>
                  <a:pt x="3721093" y="5689600"/>
                </a:cubicBezTo>
                <a:lnTo>
                  <a:pt x="101607" y="5689600"/>
                </a:lnTo>
                <a:cubicBezTo>
                  <a:pt x="45491" y="5689600"/>
                  <a:pt x="0" y="5644109"/>
                  <a:pt x="0" y="5587993"/>
                </a:cubicBezTo>
                <a:lnTo>
                  <a:pt x="0" y="101607"/>
                </a:lnTo>
                <a:cubicBezTo>
                  <a:pt x="0" y="45491"/>
                  <a:pt x="45491" y="0"/>
                  <a:pt x="101607" y="0"/>
                </a:cubicBezTo>
                <a:close/>
              </a:path>
            </a:pathLst>
          </a:custGeom>
          <a:solidFill>
            <a:srgbClr val="4A90E2">
              <a:alpha val="10196"/>
            </a:srgbClr>
          </a:solidFill>
        </p:spPr>
      </p:sp>
      <p:sp>
        <p:nvSpPr>
          <p:cNvPr id="5" name="Text 2"/>
          <p:cNvSpPr/>
          <p:nvPr/>
        </p:nvSpPr>
        <p:spPr>
          <a:xfrm>
            <a:off x="457200" y="1117600"/>
            <a:ext cx="3543300" cy="355600"/>
          </a:xfrm>
          <a:prstGeom prst="rect">
            <a:avLst/>
          </a:prstGeom>
          <a:noFill/>
        </p:spPr>
        <p:txBody>
          <a:bodyPr wrap="square" lIns="0" tIns="0" rIns="0" bIns="0" rtlCol="0" anchor="ctr"/>
          <a:lstStyle/>
          <a:p>
            <a:pPr>
              <a:lnSpc>
                <a:spcPct val="120000"/>
              </a:lnSpc>
            </a:pP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实现</a:t>
            </a: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树核心接口</a:t>
            </a:r>
            <a:endParaRPr lang="en-US" sz="1600" dirty="0"/>
          </a:p>
        </p:txBody>
      </p:sp>
      <p:sp>
        <p:nvSpPr>
          <p:cNvPr id="6" name="Text 3"/>
          <p:cNvSpPr/>
          <p:nvPr/>
        </p:nvSpPr>
        <p:spPr>
          <a:xfrm>
            <a:off x="457200" y="1574800"/>
            <a:ext cx="3505200" cy="796228"/>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GetValue</a:t>
            </a:r>
            <a:endPar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std::vector&lt;ValueType&gt; *result, Transaction *transaction = nullptr) -&gt; bool;</a:t>
            </a:r>
            <a:endParaRPr lang="en-US"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Text 4"/>
          <p:cNvSpPr/>
          <p:nvPr/>
        </p:nvSpPr>
        <p:spPr>
          <a:xfrm>
            <a:off x="457200" y="2609153"/>
            <a:ext cx="3505200" cy="85298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auto Insert</a:t>
            </a:r>
            <a:endParaRPr lang="en-US"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const ValueType &amp;value, Transaction *transaction = nullptr) -&gt; bool;</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8" name="Text 5"/>
          <p:cNvSpPr/>
          <p:nvPr/>
        </p:nvSpPr>
        <p:spPr>
          <a:xfrm>
            <a:off x="457200" y="3811383"/>
            <a:ext cx="3505200" cy="520700"/>
          </a:xfrm>
          <a:prstGeom prst="rect">
            <a:avLst/>
          </a:prstGeom>
          <a:noFill/>
        </p:spPr>
        <p:txBody>
          <a:bodyPr wrap="square" lIns="0" tIns="0" rIns="0" bIns="0" rtlCol="0" anchor="ctr"/>
          <a:lstStyle/>
          <a:p>
            <a:pPr>
              <a:lnSpc>
                <a:spcPct val="120000"/>
              </a:lnSpc>
            </a:pPr>
            <a:r>
              <a:rPr lang="en-US" altLang="zh-CN" sz="1400" b="1" dirty="0">
                <a:solidFill>
                  <a:srgbClr val="7B68EE"/>
                </a:solidFill>
                <a:latin typeface="Noto Sans SC" panose="020B0200000000000000" pitchFamily="34" charset="-122"/>
                <a:ea typeface="Noto Sans SC" panose="020B0200000000000000" pitchFamily="34" charset="-122"/>
                <a:cs typeface="Noto Sans SC" panose="020B0200000000000000" pitchFamily="34" charset="-120"/>
              </a:rPr>
              <a:t>void Remove</a:t>
            </a:r>
            <a:r>
              <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rPr>
              <a:t> </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0"/>
            </a:endParaRPr>
          </a:p>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(const KeyType &amp;key, Transaction *transaction = nullptr);</a:t>
            </a: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a:p>
            <a:pPr>
              <a:lnSpc>
                <a:spcPct val="120000"/>
              </a:lnSpc>
            </a:pPr>
            <a:endPar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9" name="Shape 6"/>
          <p:cNvSpPr/>
          <p:nvPr/>
        </p:nvSpPr>
        <p:spPr>
          <a:xfrm>
            <a:off x="4284133" y="914400"/>
            <a:ext cx="7658100" cy="5689600"/>
          </a:xfrm>
          <a:custGeom>
            <a:avLst/>
            <a:gdLst/>
            <a:ahLst/>
            <a:cxnLst/>
            <a:rect l="l" t="t" r="r" b="b"/>
            <a:pathLst>
              <a:path w="7658100" h="2743200">
                <a:moveTo>
                  <a:pt x="101608" y="0"/>
                </a:moveTo>
                <a:lnTo>
                  <a:pt x="7556492" y="0"/>
                </a:lnTo>
                <a:cubicBezTo>
                  <a:pt x="7612608" y="0"/>
                  <a:pt x="7658100" y="45492"/>
                  <a:pt x="7658100" y="101608"/>
                </a:cubicBezTo>
                <a:lnTo>
                  <a:pt x="7658100" y="2641592"/>
                </a:lnTo>
                <a:cubicBezTo>
                  <a:pt x="7658100" y="2697708"/>
                  <a:pt x="7612608" y="2743200"/>
                  <a:pt x="7556492" y="2743200"/>
                </a:cubicBezTo>
                <a:lnTo>
                  <a:pt x="101608" y="2743200"/>
                </a:lnTo>
                <a:cubicBezTo>
                  <a:pt x="45492" y="2743200"/>
                  <a:pt x="0" y="2697708"/>
                  <a:pt x="0" y="2641592"/>
                </a:cubicBezTo>
                <a:lnTo>
                  <a:pt x="0" y="101608"/>
                </a:lnTo>
                <a:cubicBezTo>
                  <a:pt x="0" y="45529"/>
                  <a:pt x="45529" y="0"/>
                  <a:pt x="101608" y="0"/>
                </a:cubicBezTo>
                <a:close/>
              </a:path>
            </a:pathLst>
          </a:custGeom>
          <a:solidFill>
            <a:srgbClr val="87CEEB">
              <a:alpha val="20000"/>
            </a:srgbClr>
          </a:solidFill>
        </p:spPr>
      </p:sp>
      <p:sp>
        <p:nvSpPr>
          <p:cNvPr id="10" name="Text 7"/>
          <p:cNvSpPr/>
          <p:nvPr/>
        </p:nvSpPr>
        <p:spPr>
          <a:xfrm>
            <a:off x="4487333" y="1117600"/>
            <a:ext cx="7378700" cy="355600"/>
          </a:xfrm>
          <a:prstGeom prst="rect">
            <a:avLst/>
          </a:prstGeom>
          <a:noFill/>
        </p:spPr>
        <p:txBody>
          <a:bodyPr wrap="square" lIns="0" tIns="0" rIns="0" bIns="0" rtlCol="0" anchor="ctr"/>
          <a:lstStyle/>
          <a:p>
            <a:pPr>
              <a:lnSpc>
                <a:spcPct val="120000"/>
              </a:lnSpc>
            </a:pPr>
            <a:r>
              <a:rPr lang="en-US" altLang="zh-CN"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B+</a:t>
            </a:r>
            <a:r>
              <a:rPr lang="zh-CN" alt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rPr>
              <a:t>树的删除实现</a:t>
            </a:r>
            <a:endParaRPr lang="en-US" sz="2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2"/>
              <a:sym typeface="+mn-ea"/>
            </a:endParaRPr>
          </a:p>
        </p:txBody>
      </p:sp>
      <p:sp>
        <p:nvSpPr>
          <p:cNvPr id="11" name="文本框 10"/>
          <p:cNvSpPr txBox="1"/>
          <p:nvPr userDrawn="1"/>
        </p:nvSpPr>
        <p:spPr>
          <a:xfrm>
            <a:off x="4618355" y="1567815"/>
            <a:ext cx="6007100" cy="2676525"/>
          </a:xfrm>
          <a:prstGeom prst="rect">
            <a:avLst/>
          </a:prstGeom>
        </p:spPr>
        <p:txBody>
          <a:bodyPr wrap="square" rtlCol="0">
            <a:noAutofit/>
          </a:bodyPr>
          <a:p>
            <a:pPr marL="0" indent="0" algn="l" defTabSz="0" rtl="0" eaLnBrk="1" latinLnBrk="0" hangingPunct="1">
              <a:spcBef>
                <a:spcPct val="0"/>
              </a:spcBef>
              <a:spcAft>
                <a:spcPct val="0"/>
              </a:spcAft>
              <a:buNone/>
            </a:pPr>
            <a:r>
              <a:rPr lang="zh-CN" altLang="en-US" sz="1400" b="1"/>
              <a:t>算法原理</a:t>
            </a:r>
            <a:r>
              <a:rPr lang="en-US" altLang="zh-CN" sz="1400" b="1"/>
              <a:t> </a:t>
            </a:r>
            <a:endParaRPr lang="zh-CN" altLang="en-US" sz="1400" b="1">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1. 定位删除：找到目标键所在的叶子节点，若不存在则失败</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2.</a:t>
            </a:r>
            <a:r>
              <a:rPr lang="zh-CN" altLang="en-US" sz="1400">
                <a:solidFill>
                  <a:schemeClr val="tx1"/>
                </a:solidFill>
              </a:rPr>
              <a:t>叶子删除：删除键值对后检查节点填充率</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3.</a:t>
            </a:r>
            <a:r>
              <a:rPr lang="zh-CN" altLang="en-US" sz="1400">
                <a:solidFill>
                  <a:schemeClr val="tx1"/>
                </a:solidFill>
              </a:rPr>
              <a:t>页面大小检查：</a:t>
            </a:r>
            <a:endParaRPr lang="en-US" altLang="zh-CN"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        若节点大小</a:t>
            </a:r>
            <a:r>
              <a:rPr lang="en-US" altLang="zh-CN" sz="1400">
                <a:solidFill>
                  <a:schemeClr val="tx1"/>
                </a:solidFill>
              </a:rPr>
              <a:t>&gt;</a:t>
            </a:r>
            <a:r>
              <a:rPr lang="zh-CN" altLang="en-US" sz="1400">
                <a:solidFill>
                  <a:schemeClr val="tx1"/>
                </a:solidFill>
              </a:rPr>
              <a:t>=最小页面大小</a:t>
            </a:r>
            <a:r>
              <a:rPr lang="en-US" altLang="zh-CN" sz="1400">
                <a:solidFill>
                  <a:schemeClr val="tx1"/>
                </a:solidFill>
              </a:rPr>
              <a:t> </a:t>
            </a:r>
            <a:r>
              <a:rPr lang="en-US" altLang="en-US" sz="1400">
                <a:solidFill>
                  <a:schemeClr val="tx1"/>
                </a:solidFill>
              </a:rPr>
              <a:t>→</a:t>
            </a:r>
            <a:r>
              <a:rPr lang="en-US" altLang="zh-CN" sz="1400">
                <a:solidFill>
                  <a:schemeClr val="tx1"/>
                </a:solidFill>
              </a:rPr>
              <a:t> </a:t>
            </a:r>
            <a:r>
              <a:rPr lang="zh-CN" altLang="en-US" sz="1400">
                <a:solidFill>
                  <a:schemeClr val="tx1"/>
                </a:solidFill>
              </a:rPr>
              <a:t>删除完成</a:t>
            </a:r>
            <a:endParaRPr lang="en-US" altLang="zh-CN" sz="1400">
              <a:solidFill>
                <a:schemeClr val="tx1"/>
              </a:solidFill>
            </a:endParaRPr>
          </a:p>
          <a:p>
            <a:pPr marL="0" indent="0" algn="l" defTabSz="0" rtl="0" eaLnBrk="1" latinLnBrk="0" hangingPunct="1">
              <a:spcBef>
                <a:spcPct val="0"/>
              </a:spcBef>
              <a:spcAft>
                <a:spcPct val="0"/>
              </a:spcAft>
              <a:buNone/>
            </a:pPr>
            <a:r>
              <a:rPr lang="zh-CN" altLang="en-US" sz="1400">
                <a:solidFill>
                  <a:schemeClr val="tx1"/>
                </a:solidFill>
              </a:rPr>
              <a:t>        若节点大小</a:t>
            </a:r>
            <a:r>
              <a:rPr lang="en-US" altLang="zh-CN" sz="1400">
                <a:solidFill>
                  <a:schemeClr val="tx1"/>
                </a:solidFill>
              </a:rPr>
              <a:t>&lt;</a:t>
            </a:r>
            <a:r>
              <a:rPr lang="zh-CN" altLang="en-US" sz="1400">
                <a:solidFill>
                  <a:schemeClr val="tx1"/>
                </a:solidFill>
              </a:rPr>
              <a:t>最小页面大小</a:t>
            </a:r>
            <a:r>
              <a:rPr lang="en-US" altLang="zh-CN" sz="1400">
                <a:solidFill>
                  <a:schemeClr val="tx1"/>
                </a:solidFill>
              </a:rPr>
              <a:t> </a:t>
            </a:r>
            <a:r>
              <a:rPr lang="en-US" altLang="en-US" sz="1400">
                <a:solidFill>
                  <a:schemeClr val="tx1"/>
                </a:solidFill>
              </a:rPr>
              <a:t>→</a:t>
            </a:r>
            <a:r>
              <a:rPr lang="en-US" altLang="zh-CN" sz="1400">
                <a:solidFill>
                  <a:schemeClr val="tx1"/>
                </a:solidFill>
              </a:rPr>
              <a:t> </a:t>
            </a:r>
            <a:r>
              <a:rPr lang="zh-CN" altLang="en-US" sz="1400">
                <a:solidFill>
                  <a:schemeClr val="tx1"/>
                </a:solidFill>
              </a:rPr>
              <a:t>尝试修复</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4.</a:t>
            </a:r>
            <a:r>
              <a:rPr lang="zh-CN" altLang="en-US" sz="1400">
                <a:solidFill>
                  <a:schemeClr val="tx1"/>
                </a:solidFill>
              </a:rPr>
              <a:t>修复策略：</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        </a:t>
            </a:r>
            <a:r>
              <a:rPr lang="zh-CN" altLang="en-US" sz="1400">
                <a:solidFill>
                  <a:schemeClr val="tx1"/>
                </a:solidFill>
              </a:rPr>
              <a:t>借键：从兄弟节点借一个键，更新父节点分隔键</a:t>
            </a:r>
            <a:endParaRPr lang="en-US" altLang="zh-CN"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        </a:t>
            </a:r>
            <a:r>
              <a:rPr lang="zh-CN" altLang="en-US" sz="1400">
                <a:solidFill>
                  <a:schemeClr val="tx1"/>
                </a:solidFill>
              </a:rPr>
              <a:t>合并：与兄弟节点合并，删除父节点的分隔键</a:t>
            </a:r>
            <a:endParaRPr lang="zh-CN" altLang="en-US"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5.</a:t>
            </a:r>
            <a:r>
              <a:rPr lang="zh-CN" altLang="en-US" sz="1400">
                <a:solidFill>
                  <a:schemeClr val="tx1"/>
                </a:solidFill>
              </a:rPr>
              <a:t>向上递归：若父节点因此低于最小页面大小，继续向上修复</a:t>
            </a:r>
            <a:endParaRPr lang="zh-CN" altLang="en-US" sz="1400">
              <a:solidFill>
                <a:schemeClr val="tx1"/>
              </a:solidFill>
            </a:endParaRPr>
          </a:p>
          <a:p>
            <a:pPr marL="0" indent="0" algn="l" defTabSz="0" rtl="0" eaLnBrk="1" latinLnBrk="0" hangingPunct="1">
              <a:spcBef>
                <a:spcPct val="0"/>
              </a:spcBef>
              <a:spcAft>
                <a:spcPct val="0"/>
              </a:spcAft>
              <a:buNone/>
            </a:pPr>
            <a:r>
              <a:rPr lang="en-US" altLang="zh-CN" sz="1400">
                <a:solidFill>
                  <a:schemeClr val="tx1"/>
                </a:solidFill>
              </a:rPr>
              <a:t>6.</a:t>
            </a:r>
            <a:r>
              <a:rPr lang="zh-CN" altLang="en-US" sz="1400">
                <a:solidFill>
                  <a:schemeClr val="tx1"/>
                </a:solidFill>
              </a:rPr>
              <a:t>根节点处理：若根节点只剩一个子节点，降低树高度</a:t>
            </a:r>
            <a:endParaRPr lang="zh-CN" altLang="en-US"/>
          </a:p>
        </p:txBody>
      </p:sp>
      <p:sp>
        <p:nvSpPr>
          <p:cNvPr id="13" name="文本框 12"/>
          <p:cNvSpPr txBox="1"/>
          <p:nvPr userDrawn="1"/>
        </p:nvSpPr>
        <p:spPr>
          <a:xfrm>
            <a:off x="4618400" y="3939540"/>
            <a:ext cx="3257550" cy="398780"/>
          </a:xfrm>
          <a:prstGeom prst="rect">
            <a:avLst/>
          </a:prstGeom>
        </p:spPr>
        <p:txBody>
          <a:bodyPr wrap="square" rtlCol="0">
            <a:spAutoFit/>
          </a:bodyPr>
          <a:p>
            <a:r>
              <a:rPr lang="zh-CN" altLang="en-US" sz="2000" b="1">
                <a:solidFill>
                  <a:schemeClr val="tx1"/>
                </a:solidFill>
                <a:hlinkClick r:id="rId2" tooltip="" action="ppaction://hlinksldjump"/>
              </a:rPr>
              <a:t>Remove函数细节</a:t>
            </a:r>
            <a:endParaRPr lang="zh-CN" altLang="en-US"/>
          </a:p>
        </p:txBody>
      </p:sp>
      <p:sp>
        <p:nvSpPr>
          <p:cNvPr id="18" name="文本框 17"/>
          <p:cNvSpPr txBox="1"/>
          <p:nvPr userDrawn="1"/>
        </p:nvSpPr>
        <p:spPr>
          <a:xfrm>
            <a:off x="8626793" y="4275636"/>
            <a:ext cx="3333387" cy="461010"/>
          </a:xfrm>
          <a:prstGeom prst="rect">
            <a:avLst/>
          </a:prstGeom>
        </p:spPr>
        <p:txBody>
          <a:bodyPr wrap="square" rtlCol="0">
            <a:noAutofit/>
          </a:bodyPr>
          <a:p>
            <a:r>
              <a:rPr lang="zh-CN" altLang="en-US" sz="1200">
                <a:latin typeface="宋体" panose="02010600030101010101" pitchFamily="2" charset="-122"/>
                <a:ea typeface="宋体" panose="02010600030101010101" pitchFamily="2" charset="-122"/>
                <a:cs typeface="宋体" panose="02010600030101010101" pitchFamily="2" charset="-122"/>
              </a:rPr>
              <a:t>移除</a:t>
            </a:r>
            <a:r>
              <a:rPr lang="en-US" altLang="zh-CN" sz="1200">
                <a:latin typeface="宋体" panose="02010600030101010101" pitchFamily="2" charset="-122"/>
                <a:ea typeface="宋体" panose="02010600030101010101" pitchFamily="2" charset="-122"/>
                <a:cs typeface="宋体" panose="02010600030101010101" pitchFamily="2" charset="-122"/>
              </a:rPr>
              <a:t>5</a:t>
            </a:r>
            <a:r>
              <a:rPr lang="zh-CN" altLang="en-US" sz="1200">
                <a:latin typeface="宋体" panose="02010600030101010101" pitchFamily="2" charset="-122"/>
                <a:ea typeface="宋体" panose="02010600030101010101" pitchFamily="2" charset="-122"/>
                <a:cs typeface="宋体" panose="02010600030101010101" pitchFamily="2" charset="-122"/>
              </a:rPr>
              <a:t>，叶节点下溢，与兄弟合并，下移父节点</a:t>
            </a:r>
            <a:endParaRPr lang="zh-CN" altLang="en-US" sz="1200">
              <a:latin typeface="宋体" panose="02010600030101010101" pitchFamily="2" charset="-122"/>
              <a:ea typeface="宋体" panose="02010600030101010101" pitchFamily="2" charset="-122"/>
              <a:cs typeface="宋体" panose="02010600030101010101" pitchFamily="2" charset="-122"/>
            </a:endParaRPr>
          </a:p>
        </p:txBody>
      </p:sp>
      <p:pic>
        <p:nvPicPr>
          <p:cNvPr id="12" name="图片 11" descr="post_object_image_3357579233"/>
          <p:cNvPicPr>
            <a:picLocks noChangeAspect="1"/>
          </p:cNvPicPr>
          <p:nvPr/>
        </p:nvPicPr>
        <p:blipFill>
          <a:blip r:embed="rId3"/>
          <a:srcRect t="13337"/>
          <a:stretch>
            <a:fillRect/>
          </a:stretch>
        </p:blipFill>
        <p:spPr>
          <a:xfrm>
            <a:off x="4354354" y="4777468"/>
            <a:ext cx="3785643" cy="1591492"/>
          </a:xfrm>
          <a:prstGeom prst="rect">
            <a:avLst/>
          </a:prstGeom>
        </p:spPr>
      </p:pic>
      <p:pic>
        <p:nvPicPr>
          <p:cNvPr id="14" name="图片 13" descr="post_object_image_2468735540"/>
          <p:cNvPicPr>
            <a:picLocks noChangeAspect="1"/>
          </p:cNvPicPr>
          <p:nvPr/>
        </p:nvPicPr>
        <p:blipFill>
          <a:blip r:embed="rId4"/>
          <a:stretch>
            <a:fillRect/>
          </a:stretch>
        </p:blipFill>
        <p:spPr>
          <a:xfrm>
            <a:off x="8412140" y="4773493"/>
            <a:ext cx="3242703" cy="1595466"/>
          </a:xfrm>
          <a:prstGeom prst="rect">
            <a:avLst/>
          </a:prstGeom>
        </p:spPr>
      </p:pic>
      <p:cxnSp>
        <p:nvCxnSpPr>
          <p:cNvPr id="15" name="直接箭头连接符 14"/>
          <p:cNvCxnSpPr/>
          <p:nvPr userDrawn="1"/>
        </p:nvCxnSpPr>
        <p:spPr>
          <a:xfrm>
            <a:off x="7821295" y="5610225"/>
            <a:ext cx="952500" cy="0"/>
          </a:xfrm>
          <a:prstGeom prst="straightConnector1">
            <a:avLst/>
          </a:prstGeom>
          <a:ln w="19050">
            <a:solidFill>
              <a:schemeClr val="accent1">
                <a:alpha val="100000"/>
              </a:schemeClr>
            </a:solidFill>
            <a:tailEnd type="triangle"/>
          </a:ln>
        </p:spPr>
        <p:style>
          <a:lnRef idx="2">
            <a:schemeClr val="accent1"/>
          </a:lnRef>
          <a:fillRef idx="0">
            <a:srgbClr val="FFFFFF"/>
          </a:fillRef>
          <a:effectRef idx="0">
            <a:srgbClr val="FFFFFF"/>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sp>
        <p:nvSpPr>
          <p:cNvPr id="3" name="Text 0"/>
          <p:cNvSpPr/>
          <p:nvPr/>
        </p:nvSpPr>
        <p:spPr>
          <a:xfrm>
            <a:off x="1358900" y="3599180"/>
            <a:ext cx="9475470" cy="688340"/>
          </a:xfrm>
          <a:prstGeom prst="rect">
            <a:avLst/>
          </a:prstGeom>
          <a:noFill/>
        </p:spPr>
        <p:txBody>
          <a:bodyPr wrap="square" lIns="91440" tIns="45720" rIns="91440" bIns="45720" rtlCol="0" anchor="t"/>
          <a:lstStyle/>
          <a:p>
            <a:pPr algn="ctr">
              <a:lnSpc>
                <a:spcPct val="110000"/>
              </a:lnSpc>
            </a:pPr>
            <a:r>
              <a:rPr lang="zh-CN" altLang="en-US" sz="3200" dirty="0">
                <a:solidFill>
                  <a:srgbClr val="000000"/>
                </a:solidFill>
              </a:rPr>
              <a:t>测试</a:t>
            </a:r>
            <a:r>
              <a:rPr lang="zh-CN" altLang="en-US" sz="3200" dirty="0">
                <a:solidFill>
                  <a:srgbClr val="000000"/>
                </a:solidFill>
                <a:cs typeface="Arial" panose="020B0604020202020204" pitchFamily="34" charset="0"/>
              </a:rPr>
              <a:t>结果</a:t>
            </a:r>
            <a:endParaRPr lang="en-US" sz="1600" dirty="0"/>
          </a:p>
        </p:txBody>
      </p:sp>
      <p:sp>
        <p:nvSpPr>
          <p:cNvPr id="4" name="Text 1"/>
          <p:cNvSpPr/>
          <p:nvPr/>
        </p:nvSpPr>
        <p:spPr>
          <a:xfrm>
            <a:off x="4684395" y="216535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2142EF"/>
                </a:solidFill>
                <a:latin typeface="MiSans" panose="00000500000000000000" pitchFamily="34" charset="-122"/>
                <a:ea typeface="MiSans" panose="00000500000000000000" pitchFamily="34" charset="-122"/>
                <a:cs typeface="MiSans" panose="00000500000000000000" pitchFamily="34" charset="-120"/>
              </a:rPr>
              <a:t>04</a:t>
            </a:r>
            <a:endParaRPr lang="en-US" sz="1600" dirty="0"/>
          </a:p>
        </p:txBody>
      </p:sp>
      <p:sp>
        <p:nvSpPr>
          <p:cNvPr id="5" name="Shape 2"/>
          <p:cNvSpPr/>
          <p:nvPr/>
        </p:nvSpPr>
        <p:spPr>
          <a:xfrm>
            <a:off x="3863975"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6" name="Text 3"/>
          <p:cNvSpPr/>
          <p:nvPr/>
        </p:nvSpPr>
        <p:spPr>
          <a:xfrm>
            <a:off x="3863975"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flipH="1">
            <a:off x="6957060"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8" name="Text 5"/>
          <p:cNvSpPr/>
          <p:nvPr/>
        </p:nvSpPr>
        <p:spPr>
          <a:xfrm>
            <a:off x="6957060"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690545" y="208276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0" name="Text 7"/>
          <p:cNvSpPr/>
          <p:nvPr/>
        </p:nvSpPr>
        <p:spPr>
          <a:xfrm>
            <a:off x="690545" y="208276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10703860" y="391664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9"/>
          <p:cNvSpPr/>
          <p:nvPr/>
        </p:nvSpPr>
        <p:spPr>
          <a:xfrm>
            <a:off x="10703860" y="391664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3" name="Image 1" descr="https://kimi-img.moonshot.cn/pub/slides/slides_tmpl/image/25-10-11-20:17:34-d3l4lngs8jdo4os5envg.png"/>
          <p:cNvPicPr>
            <a:picLocks noChangeAspect="1"/>
          </p:cNvPicPr>
          <p:nvPr/>
        </p:nvPicPr>
        <p:blipFill>
          <a:blip r:embed="rId3"/>
          <a:stretch>
            <a:fillRect/>
          </a:stretch>
        </p:blipFill>
        <p:spPr>
          <a:xfrm>
            <a:off x="6602095" y="4456430"/>
            <a:ext cx="5589905" cy="2401570"/>
          </a:xfrm>
          <a:prstGeom prst="rect">
            <a:avLst/>
          </a:prstGeom>
        </p:spPr>
      </p:pic>
      <p:pic>
        <p:nvPicPr>
          <p:cNvPr id="14" name="Image 2" descr="https://kimi-img.moonshot.cn/pub/slides/slides_tmpl/image/25-10-11-20:17:34-d3l4lngs8jdo4os5envg.png"/>
          <p:cNvPicPr>
            <a:picLocks noChangeAspect="1"/>
          </p:cNvPicPr>
          <p:nvPr/>
        </p:nvPicPr>
        <p:blipFill>
          <a:blip r:embed="rId3"/>
          <a:stretch>
            <a:fillRect/>
          </a:stretch>
        </p:blipFill>
        <p:spPr>
          <a:xfrm>
            <a:off x="0" y="-40005"/>
            <a:ext cx="558990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测试结果——</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Project1</a:t>
            </a:r>
            <a:endParaRPr lang="en-US" sz="1600" dirty="0"/>
          </a:p>
        </p:txBody>
      </p:sp>
      <p:sp>
        <p:nvSpPr>
          <p:cNvPr id="4" name="Shape 1"/>
          <p:cNvSpPr/>
          <p:nvPr/>
        </p:nvSpPr>
        <p:spPr>
          <a:xfrm>
            <a:off x="254000" y="914400"/>
            <a:ext cx="5749925" cy="5689600"/>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879071" y="6146800"/>
            <a:ext cx="2216638" cy="254000"/>
          </a:xfrm>
          <a:prstGeom prst="rect">
            <a:avLst/>
          </a:prstGeom>
          <a:noFill/>
        </p:spPr>
        <p:txBody>
          <a:bodyPr wrap="square" lIns="0" tIns="0" rIns="0" bIns="0" rtlCol="0" anchor="ctr"/>
          <a:lstStyle/>
          <a:p>
            <a:pPr algn="ctr">
              <a:lnSpc>
                <a:spcPct val="120000"/>
              </a:lnSpc>
            </a:pPr>
            <a:r>
              <a:rPr lang="zh-CN" altLang="en-US" sz="1400" b="1" dirty="0">
                <a:solidFill>
                  <a:srgbClr val="4A90E2"/>
                </a:solidFill>
              </a:rPr>
              <a:t>可拓展哈希表测试通过</a:t>
            </a:r>
            <a:endParaRPr lang="en-US" sz="1600" dirty="0"/>
          </a:p>
        </p:txBody>
      </p:sp>
      <p:sp>
        <p:nvSpPr>
          <p:cNvPr id="7" name="Shape 3"/>
          <p:cNvSpPr/>
          <p:nvPr/>
        </p:nvSpPr>
        <p:spPr>
          <a:xfrm>
            <a:off x="6212417" y="1786468"/>
            <a:ext cx="572452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9" name="Text 5"/>
          <p:cNvSpPr/>
          <p:nvPr/>
        </p:nvSpPr>
        <p:spPr>
          <a:xfrm>
            <a:off x="6367939" y="2116614"/>
            <a:ext cx="5413375" cy="508000"/>
          </a:xfrm>
          <a:prstGeom prst="rect">
            <a:avLst/>
          </a:prstGeom>
          <a:noFill/>
        </p:spPr>
        <p:txBody>
          <a:bodyPr wrap="square" lIns="0" tIns="0" rIns="0" bIns="0" rtlCol="0" anchor="ctr"/>
          <a:lstStyle/>
          <a:p>
            <a:pPr>
              <a:lnSpc>
                <a:spcPct val="120000"/>
              </a:lnSpc>
            </a:pP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可拓展哈希表测试</a:t>
            </a:r>
            <a:endPar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0" name="Shape 6"/>
          <p:cNvSpPr/>
          <p:nvPr/>
        </p:nvSpPr>
        <p:spPr>
          <a:xfrm>
            <a:off x="6212364" y="3158068"/>
            <a:ext cx="5724578"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6460014" y="3491443"/>
            <a:ext cx="5413428" cy="546100"/>
          </a:xfrm>
          <a:prstGeom prst="rect">
            <a:avLst/>
          </a:prstGeom>
          <a:noFill/>
        </p:spPr>
        <p:txBody>
          <a:bodyPr wrap="square" lIns="0" tIns="0" rIns="0" bIns="0" rtlCol="0" anchor="ctr"/>
          <a:lstStyle/>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LRU-K</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置换算法测试</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9"/>
          <p:cNvSpPr/>
          <p:nvPr/>
        </p:nvSpPr>
        <p:spPr>
          <a:xfrm>
            <a:off x="6212364" y="4563535"/>
            <a:ext cx="5724578"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pic>
        <p:nvPicPr>
          <p:cNvPr id="16" name="图片 15" descr="post_object_image_232152827"/>
          <p:cNvPicPr>
            <a:picLocks noChangeAspect="1"/>
          </p:cNvPicPr>
          <p:nvPr/>
        </p:nvPicPr>
        <p:blipFill>
          <a:blip r:embed="rId2"/>
          <a:stretch>
            <a:fillRect/>
          </a:stretch>
        </p:blipFill>
        <p:spPr>
          <a:xfrm>
            <a:off x="412749" y="1087999"/>
            <a:ext cx="5410200" cy="4800600"/>
          </a:xfrm>
          <a:prstGeom prst="rect">
            <a:avLst/>
          </a:prstGeom>
        </p:spPr>
      </p:pic>
      <p:sp>
        <p:nvSpPr>
          <p:cNvPr id="17" name="Text 11"/>
          <p:cNvSpPr/>
          <p:nvPr/>
        </p:nvSpPr>
        <p:spPr>
          <a:xfrm>
            <a:off x="6460014" y="4928660"/>
            <a:ext cx="5413428" cy="508000"/>
          </a:xfrm>
          <a:prstGeom prst="rect">
            <a:avLst/>
          </a:prstGeom>
          <a:noFill/>
        </p:spPr>
        <p:txBody>
          <a:bodyPr wrap="square" lIns="0" tIns="0" rIns="0" bIns="0" rtlCol="0" anchor="ctr"/>
          <a:lstStyle/>
          <a:p>
            <a:pPr>
              <a:lnSpc>
                <a:spcPct val="12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缓冲池管理测试</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测试结果——</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Project1</a:t>
            </a:r>
            <a:endParaRPr lang="en-US" sz="1600" dirty="0"/>
          </a:p>
        </p:txBody>
      </p:sp>
      <p:sp>
        <p:nvSpPr>
          <p:cNvPr id="4" name="Shape 1"/>
          <p:cNvSpPr/>
          <p:nvPr/>
        </p:nvSpPr>
        <p:spPr>
          <a:xfrm>
            <a:off x="254000" y="914400"/>
            <a:ext cx="5749925" cy="5689600"/>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879071" y="6146800"/>
            <a:ext cx="2216638" cy="254000"/>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LRU</a:t>
            </a:r>
            <a:r>
              <a:rPr lang="zh-CN" altLang="en-US" sz="1400" b="1" dirty="0">
                <a:solidFill>
                  <a:srgbClr val="4A90E2"/>
                </a:solidFill>
              </a:rPr>
              <a:t>-</a:t>
            </a:r>
            <a:r>
              <a:rPr lang="en-US" altLang="zh-CN" sz="1400" b="1" dirty="0">
                <a:solidFill>
                  <a:srgbClr val="4A90E2"/>
                </a:solidFill>
              </a:rPr>
              <a:t>K</a:t>
            </a:r>
            <a:r>
              <a:rPr lang="zh-CN" altLang="en-US" sz="1400" b="1" dirty="0">
                <a:solidFill>
                  <a:srgbClr val="4A90E2"/>
                </a:solidFill>
              </a:rPr>
              <a:t>置换算法测试通过</a:t>
            </a:r>
            <a:endParaRPr lang="en-US" sz="1600" dirty="0"/>
          </a:p>
        </p:txBody>
      </p:sp>
      <p:sp>
        <p:nvSpPr>
          <p:cNvPr id="7" name="Shape 3"/>
          <p:cNvSpPr/>
          <p:nvPr/>
        </p:nvSpPr>
        <p:spPr>
          <a:xfrm>
            <a:off x="6212417" y="1786468"/>
            <a:ext cx="572452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0" name="Shape 6"/>
          <p:cNvSpPr/>
          <p:nvPr/>
        </p:nvSpPr>
        <p:spPr>
          <a:xfrm>
            <a:off x="6212364" y="3158068"/>
            <a:ext cx="5724578"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3" name="Shape 9"/>
          <p:cNvSpPr/>
          <p:nvPr/>
        </p:nvSpPr>
        <p:spPr>
          <a:xfrm>
            <a:off x="6212364" y="4563535"/>
            <a:ext cx="5724578"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6460014" y="4928660"/>
            <a:ext cx="5413428" cy="508000"/>
          </a:xfrm>
          <a:prstGeom prst="rect">
            <a:avLst/>
          </a:prstGeom>
          <a:noFill/>
        </p:spPr>
        <p:txBody>
          <a:bodyPr wrap="square" lIns="0" tIns="0" rIns="0" bIns="0" rtlCol="0" anchor="ctr"/>
          <a:lstStyle/>
          <a:p>
            <a:pPr>
              <a:lnSpc>
                <a:spcPct val="12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缓冲池管理测试</a:t>
            </a:r>
            <a:endPar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5" name="图片 4"/>
          <p:cNvPicPr>
            <a:picLocks noChangeAspect="1"/>
          </p:cNvPicPr>
          <p:nvPr/>
        </p:nvPicPr>
        <p:blipFill>
          <a:blip r:embed="rId2"/>
          <a:stretch>
            <a:fillRect/>
          </a:stretch>
        </p:blipFill>
        <p:spPr>
          <a:xfrm>
            <a:off x="409575" y="1786414"/>
            <a:ext cx="5438775" cy="3409950"/>
          </a:xfrm>
          <a:prstGeom prst="rect">
            <a:avLst/>
          </a:prstGeom>
        </p:spPr>
      </p:pic>
      <p:sp>
        <p:nvSpPr>
          <p:cNvPr id="17" name="Text 8"/>
          <p:cNvSpPr/>
          <p:nvPr/>
        </p:nvSpPr>
        <p:spPr>
          <a:xfrm>
            <a:off x="6460014" y="3491443"/>
            <a:ext cx="5413428" cy="546100"/>
          </a:xfrm>
          <a:prstGeom prst="rect">
            <a:avLst/>
          </a:prstGeom>
          <a:noFill/>
        </p:spPr>
        <p:txBody>
          <a:bodyPr wrap="square" lIns="0" tIns="0" rIns="0" bIns="0" rtlCol="0" anchor="ctr"/>
          <a:lstStyle/>
          <a:p>
            <a:pPr marL="0" indent="0" algn="l" defTabSz="0" rtl="0" eaLnBrk="1" latinLnBrk="0" hangingPunct="1">
              <a:lnSpc>
                <a:spcPct val="120000"/>
              </a:lnSpc>
              <a:spcBef>
                <a:spcPct val="0"/>
              </a:spcBef>
              <a:spcAft>
                <a:spcPct val="0"/>
              </a:spcAft>
              <a:buNone/>
            </a:pPr>
            <a:r>
              <a:rPr lang="en-US" altLang="zh-CN"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LRU-K</a:t>
            </a: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置换算法测试</a:t>
            </a:r>
            <a:endParaRPr 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8" name="Text 5"/>
          <p:cNvSpPr/>
          <p:nvPr/>
        </p:nvSpPr>
        <p:spPr>
          <a:xfrm>
            <a:off x="6367939" y="2116614"/>
            <a:ext cx="5413375" cy="508000"/>
          </a:xfrm>
          <a:prstGeom prst="rect">
            <a:avLst/>
          </a:prstGeom>
          <a:noFill/>
        </p:spPr>
        <p:txBody>
          <a:bodyPr wrap="square" lIns="0" tIns="0" rIns="0" bIns="0" rtlCol="0" anchor="ctr"/>
          <a:lstStyle/>
          <a:p>
            <a:pPr>
              <a:lnSpc>
                <a:spcPct val="120000"/>
              </a:lnSpc>
            </a:pPr>
            <a:r>
              <a:rPr lang="zh-CN" altLang="en-US" sz="1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rPr>
              <a:t>可拓展哈希表测试</a:t>
            </a:r>
            <a:endParaRPr lang="zh-CN" altLang="en-US" sz="1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测试结果——</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Project1</a:t>
            </a:r>
            <a:endParaRPr lang="en-US" sz="1600" dirty="0"/>
          </a:p>
        </p:txBody>
      </p:sp>
      <p:sp>
        <p:nvSpPr>
          <p:cNvPr id="4" name="Shape 1"/>
          <p:cNvSpPr/>
          <p:nvPr/>
        </p:nvSpPr>
        <p:spPr>
          <a:xfrm>
            <a:off x="254000" y="914400"/>
            <a:ext cx="5749925" cy="5689600"/>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879071" y="6146800"/>
            <a:ext cx="2216638" cy="254000"/>
          </a:xfrm>
          <a:prstGeom prst="rect">
            <a:avLst/>
          </a:prstGeom>
          <a:noFill/>
        </p:spPr>
        <p:txBody>
          <a:bodyPr wrap="square" lIns="0" tIns="0" rIns="0" bIns="0" rtlCol="0" anchor="ctr"/>
          <a:lstStyle/>
          <a:p>
            <a:pPr algn="ctr">
              <a:lnSpc>
                <a:spcPct val="120000"/>
              </a:lnSpc>
            </a:pPr>
            <a:r>
              <a:rPr lang="zh-CN" altLang="en-US" sz="1400" b="1" dirty="0">
                <a:solidFill>
                  <a:srgbClr val="4A90E2"/>
                </a:solidFill>
              </a:rPr>
              <a:t>缓冲池管理测试通过</a:t>
            </a:r>
            <a:endParaRPr lang="en-US" sz="1600" dirty="0"/>
          </a:p>
        </p:txBody>
      </p:sp>
      <p:sp>
        <p:nvSpPr>
          <p:cNvPr id="7" name="Shape 3"/>
          <p:cNvSpPr/>
          <p:nvPr/>
        </p:nvSpPr>
        <p:spPr>
          <a:xfrm>
            <a:off x="6212417" y="1786468"/>
            <a:ext cx="572452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0" name="Shape 6"/>
          <p:cNvSpPr/>
          <p:nvPr/>
        </p:nvSpPr>
        <p:spPr>
          <a:xfrm>
            <a:off x="6212364" y="3158068"/>
            <a:ext cx="5724578"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3" name="Shape 9"/>
          <p:cNvSpPr/>
          <p:nvPr/>
        </p:nvSpPr>
        <p:spPr>
          <a:xfrm>
            <a:off x="6212364" y="4563535"/>
            <a:ext cx="5724578"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pic>
        <p:nvPicPr>
          <p:cNvPr id="5" name="图片 4" descr="post_object_image_2899205499"/>
          <p:cNvPicPr>
            <a:picLocks noChangeAspect="1"/>
          </p:cNvPicPr>
          <p:nvPr/>
        </p:nvPicPr>
        <p:blipFill>
          <a:blip r:embed="rId2"/>
          <a:stretch>
            <a:fillRect/>
          </a:stretch>
        </p:blipFill>
        <p:spPr>
          <a:xfrm>
            <a:off x="700087" y="1028700"/>
            <a:ext cx="4886325" cy="4800600"/>
          </a:xfrm>
          <a:prstGeom prst="rect">
            <a:avLst/>
          </a:prstGeom>
        </p:spPr>
      </p:pic>
      <p:sp>
        <p:nvSpPr>
          <p:cNvPr id="17" name="Text 11"/>
          <p:cNvSpPr/>
          <p:nvPr/>
        </p:nvSpPr>
        <p:spPr>
          <a:xfrm>
            <a:off x="6460014" y="4928660"/>
            <a:ext cx="5413428" cy="508000"/>
          </a:xfrm>
          <a:prstGeom prst="rect">
            <a:avLst/>
          </a:prstGeom>
          <a:noFill/>
        </p:spPr>
        <p:txBody>
          <a:bodyPr wrap="square" lIns="0" tIns="0" rIns="0" bIns="0" rtlCol="0" anchor="ctr"/>
          <a:lstStyle/>
          <a:p>
            <a:pPr>
              <a:lnSpc>
                <a:spcPct val="120000"/>
              </a:lnSpc>
            </a:pP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缓冲池管理测试</a:t>
            </a:r>
            <a:endPar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8" name="Text 8"/>
          <p:cNvSpPr/>
          <p:nvPr/>
        </p:nvSpPr>
        <p:spPr>
          <a:xfrm>
            <a:off x="6460014" y="3491443"/>
            <a:ext cx="5413428" cy="546100"/>
          </a:xfrm>
          <a:prstGeom prst="rect">
            <a:avLst/>
          </a:prstGeom>
          <a:noFill/>
        </p:spPr>
        <p:txBody>
          <a:bodyPr wrap="square" lIns="0" tIns="0" rIns="0" bIns="0" rtlCol="0" anchor="ctr"/>
          <a:lstStyle/>
          <a:p>
            <a:pPr>
              <a:lnSpc>
                <a:spcPct val="120000"/>
              </a:lnSpc>
            </a:pPr>
            <a:r>
              <a:rPr lang="en-US" altLang="zh-CN"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LRU-K</a:t>
            </a: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置换算法测试</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9" name="Text 5"/>
          <p:cNvSpPr/>
          <p:nvPr/>
        </p:nvSpPr>
        <p:spPr>
          <a:xfrm>
            <a:off x="6367939" y="2116614"/>
            <a:ext cx="5413375" cy="508000"/>
          </a:xfrm>
          <a:prstGeom prst="rect">
            <a:avLst/>
          </a:prstGeom>
          <a:noFill/>
        </p:spPr>
        <p:txBody>
          <a:bodyPr wrap="square" lIns="0" tIns="0" rIns="0" bIns="0" rtlCol="0" anchor="ctr"/>
          <a:lstStyle/>
          <a:p>
            <a:pPr>
              <a:lnSpc>
                <a:spcPct val="120000"/>
              </a:lnSpc>
            </a:pPr>
            <a:r>
              <a:rPr lang="zh-CN" altLang="en-US" sz="1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rPr>
              <a:t>可拓展哈希表测试</a:t>
            </a:r>
            <a:endParaRPr lang="zh-CN" altLang="en-US" sz="1400"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测试结果——</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Project2</a:t>
            </a:r>
            <a:endParaRPr lang="en-US" sz="1600" dirty="0"/>
          </a:p>
        </p:txBody>
      </p:sp>
      <p:sp>
        <p:nvSpPr>
          <p:cNvPr id="4" name="Shape 1"/>
          <p:cNvSpPr/>
          <p:nvPr/>
        </p:nvSpPr>
        <p:spPr>
          <a:xfrm>
            <a:off x="254000" y="1471418"/>
            <a:ext cx="7675117" cy="5132582"/>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3180821" y="5813425"/>
            <a:ext cx="1689100" cy="254000"/>
          </a:xfrm>
          <a:prstGeom prst="rect">
            <a:avLst/>
          </a:prstGeom>
          <a:noFill/>
        </p:spPr>
        <p:txBody>
          <a:bodyPr wrap="square" lIns="0" tIns="0" rIns="0" bIns="0" rtlCol="0" anchor="ctr"/>
          <a:lstStyle/>
          <a:p>
            <a:pPr algn="ctr">
              <a:lnSpc>
                <a:spcPct val="120000"/>
              </a:lnSpc>
            </a:pPr>
            <a:r>
              <a:rPr lang="zh-CN" altLang="en-US" sz="1400" b="1" dirty="0">
                <a:solidFill>
                  <a:srgbClr val="4A90E2"/>
                </a:solidFill>
              </a:rPr>
              <a:t>插入测试</a:t>
            </a:r>
            <a:r>
              <a:rPr lang="zh-CN" altLang="en-US" sz="1400" b="1" dirty="0">
                <a:solidFill>
                  <a:srgbClr val="4A90E2"/>
                </a:solidFill>
                <a:cs typeface="Arial" panose="020B0604020202020204" pitchFamily="34" charset="0"/>
              </a:rPr>
              <a:t>通过</a:t>
            </a:r>
            <a:endParaRPr lang="en-US" sz="16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插入测试通过</a:t>
            </a:r>
            <a:endParaRPr 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rPr>
              <a:t>迭代器相关测试</a:t>
            </a:r>
            <a:endParaRPr lang="en-US" sz="1400" dirty="0">
              <a:solidFill>
                <a:srgbClr val="333333"/>
              </a:solidFill>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16" name="图片 15"/>
          <p:cNvPicPr>
            <a:picLocks noChangeAspect="1"/>
          </p:cNvPicPr>
          <p:nvPr/>
        </p:nvPicPr>
        <p:blipFill>
          <a:blip r:embed="rId2"/>
          <a:stretch>
            <a:fillRect/>
          </a:stretch>
        </p:blipFill>
        <p:spPr>
          <a:xfrm>
            <a:off x="567373" y="2179161"/>
            <a:ext cx="7048500" cy="3124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测试结果——</a:t>
            </a:r>
            <a:r>
              <a:rPr lang="en-US" altLang="zh-CN" sz="3000" b="1" dirty="0">
                <a:solidFill>
                  <a:srgbClr val="4A90E2"/>
                </a:solidFill>
                <a:latin typeface="Noto Sans SC" panose="020B0200000000000000" pitchFamily="34" charset="-122"/>
                <a:ea typeface="Noto Sans SC" panose="020B0200000000000000" pitchFamily="34" charset="-122"/>
                <a:cs typeface="Noto Sans SC" panose="020B0200000000000000" pitchFamily="34" charset="-120"/>
              </a:rPr>
              <a:t>Project2</a:t>
            </a:r>
            <a:endParaRPr lang="en-US" sz="1600" dirty="0"/>
          </a:p>
        </p:txBody>
      </p:sp>
      <p:sp>
        <p:nvSpPr>
          <p:cNvPr id="4" name="Shape 1"/>
          <p:cNvSpPr/>
          <p:nvPr/>
        </p:nvSpPr>
        <p:spPr>
          <a:xfrm>
            <a:off x="254000" y="1471418"/>
            <a:ext cx="7675117" cy="5132582"/>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3180821" y="5813425"/>
            <a:ext cx="1689100" cy="254000"/>
          </a:xfrm>
          <a:prstGeom prst="rect">
            <a:avLst/>
          </a:prstGeom>
          <a:noFill/>
        </p:spPr>
        <p:txBody>
          <a:bodyPr wrap="square" lIns="0" tIns="0" rIns="0" bIns="0" rtlCol="0" anchor="ctr"/>
          <a:lstStyle/>
          <a:p>
            <a:pPr algn="ctr">
              <a:lnSpc>
                <a:spcPct val="120000"/>
              </a:lnSpc>
            </a:pPr>
            <a:r>
              <a:rPr lang="zh-CN" altLang="en-US" sz="1400" b="1" dirty="0">
                <a:solidFill>
                  <a:srgbClr val="4A90E2"/>
                </a:solidFill>
                <a:cs typeface="Arial" panose="020B0604020202020204" pitchFamily="34" charset="0"/>
              </a:rPr>
              <a:t>迭代器相关测试通过</a:t>
            </a:r>
            <a:endParaRPr lang="en-US" sz="16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插入测试通过</a:t>
            </a:r>
            <a:endParaRPr 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rPr>
              <a:t>迭代器相关测试</a:t>
            </a:r>
            <a:endParaRPr lang="en-US" sz="1400" dirty="0">
              <a:solidFill>
                <a:srgbClr val="FFFFFF"/>
              </a:solidFill>
              <a:highlight>
                <a:srgbClr val="4A90E2">
                  <a:alpha val="100000"/>
                </a:srgbClr>
              </a:highlight>
              <a:latin typeface="Noto Sans SC" panose="020B0200000000000000" pitchFamily="34" charset="-122"/>
              <a:ea typeface="Noto Sans SC" panose="020B0200000000000000" pitchFamily="34" charset="-122"/>
              <a:cs typeface="Noto Sans SC" panose="020B0200000000000000" pitchFamily="34" charset="-122"/>
            </a:endParaRPr>
          </a:p>
        </p:txBody>
      </p:sp>
      <p:pic>
        <p:nvPicPr>
          <p:cNvPr id="5" name="图片 4"/>
          <p:cNvPicPr>
            <a:picLocks noChangeAspect="1"/>
          </p:cNvPicPr>
          <p:nvPr/>
        </p:nvPicPr>
        <p:blipFill>
          <a:blip r:embed="rId2"/>
          <a:stretch>
            <a:fillRect/>
          </a:stretch>
        </p:blipFill>
        <p:spPr>
          <a:xfrm>
            <a:off x="795973" y="1788795"/>
            <a:ext cx="6591300" cy="38195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375" r="1375"/>
          <a:stretch>
            <a:fillRect/>
          </a:stretch>
        </p:blipFill>
        <p:spPr>
          <a:xfrm>
            <a:off x="-635" y="0"/>
            <a:ext cx="12193905" cy="6858000"/>
          </a:xfrm>
          <a:prstGeom prst="rect">
            <a:avLst/>
          </a:prstGeom>
        </p:spPr>
      </p:pic>
      <p:sp>
        <p:nvSpPr>
          <p:cNvPr id="3" name="Text 0"/>
          <p:cNvSpPr/>
          <p:nvPr/>
        </p:nvSpPr>
        <p:spPr>
          <a:xfrm>
            <a:off x="1982470" y="1786255"/>
            <a:ext cx="8226425" cy="1358900"/>
          </a:xfrm>
          <a:prstGeom prst="rect">
            <a:avLst/>
          </a:prstGeom>
          <a:noFill/>
        </p:spPr>
        <p:txBody>
          <a:bodyPr wrap="square" lIns="99695" tIns="49784" rIns="99695" bIns="49784" rtlCol="0" anchor="t">
            <a:spAutoFit/>
          </a:bodyPr>
          <a:lstStyle/>
          <a:p>
            <a:pPr algn="ctr">
              <a:lnSpc>
                <a:spcPct val="100000"/>
              </a:lnSpc>
            </a:pPr>
            <a:r>
              <a:rPr lang="en-US" sz="8800" dirty="0">
                <a:solidFill>
                  <a:srgbClr val="2142EF"/>
                </a:solidFill>
                <a:latin typeface="MiSans" panose="00000500000000000000" pitchFamily="34" charset="-122"/>
                <a:ea typeface="MiSans" panose="00000500000000000000" pitchFamily="34" charset="-122"/>
                <a:cs typeface="MiSans" panose="00000500000000000000" pitchFamily="34" charset="-120"/>
              </a:rPr>
              <a:t>THANK YOU</a:t>
            </a:r>
            <a:endParaRPr lang="en-US" sz="1600" dirty="0"/>
          </a:p>
        </p:txBody>
      </p:sp>
      <p:sp>
        <p:nvSpPr>
          <p:cNvPr id="4" name="Text 1"/>
          <p:cNvSpPr/>
          <p:nvPr/>
        </p:nvSpPr>
        <p:spPr>
          <a:xfrm>
            <a:off x="2892743" y="3162935"/>
            <a:ext cx="6405880" cy="1129030"/>
          </a:xfrm>
          <a:prstGeom prst="rect">
            <a:avLst/>
          </a:prstGeom>
          <a:noFill/>
        </p:spPr>
        <p:txBody>
          <a:bodyPr wrap="square" lIns="99695" tIns="49784" rIns="99695" bIns="49784" rtlCol="0" anchor="t"/>
          <a:lstStyle/>
          <a:p>
            <a:pPr algn="ctr">
              <a:lnSpc>
                <a:spcPct val="100000"/>
              </a:lnSpc>
            </a:pPr>
            <a:r>
              <a:rPr lang="en-US" sz="6600" dirty="0">
                <a:solidFill>
                  <a:srgbClr val="000000"/>
                </a:solidFill>
                <a:latin typeface="MiSans" panose="00000500000000000000" pitchFamily="34" charset="-122"/>
                <a:ea typeface="MiSans" panose="00000500000000000000" pitchFamily="34" charset="-122"/>
                <a:cs typeface="MiSans" panose="00000500000000000000" pitchFamily="34" charset="-120"/>
              </a:rPr>
              <a:t>感谢大家观看</a:t>
            </a:r>
            <a:endParaRPr lang="en-US" sz="1600" dirty="0"/>
          </a:p>
        </p:txBody>
      </p:sp>
      <p:pic>
        <p:nvPicPr>
          <p:cNvPr id="5" name="Image 1" descr="https://kimi-img.moonshot.cn/pub/slides/slides_tmpl/image/25-10-11-20:18:12-d3l4m10s8jdo4os5eof0.png"/>
          <p:cNvPicPr>
            <a:picLocks noChangeAspect="1"/>
          </p:cNvPicPr>
          <p:nvPr/>
        </p:nvPicPr>
        <p:blipFill>
          <a:blip r:embed="rId3"/>
          <a:stretch>
            <a:fillRect/>
          </a:stretch>
        </p:blipFill>
        <p:spPr>
          <a:xfrm>
            <a:off x="313055" y="247015"/>
            <a:ext cx="4222115" cy="1539240"/>
          </a:xfrm>
          <a:prstGeom prst="rect">
            <a:avLst/>
          </a:prstGeom>
        </p:spPr>
      </p:pic>
      <p:pic>
        <p:nvPicPr>
          <p:cNvPr id="6" name="Image 2" descr="https://kimi-img.moonshot.cn/pub/slides/slides_tmpl/image/25-10-11-20:18:12-d3l4m10s8jdo4os5eof0.png"/>
          <p:cNvPicPr>
            <a:picLocks noChangeAspect="1"/>
          </p:cNvPicPr>
          <p:nvPr/>
        </p:nvPicPr>
        <p:blipFill>
          <a:blip r:embed="rId3"/>
          <a:stretch>
            <a:fillRect/>
          </a:stretch>
        </p:blipFill>
        <p:spPr>
          <a:xfrm>
            <a:off x="7832090" y="4912360"/>
            <a:ext cx="4222115" cy="1539240"/>
          </a:xfrm>
          <a:prstGeom prst="rect">
            <a:avLst/>
          </a:prstGeom>
        </p:spPr>
      </p:pic>
      <p:pic>
        <p:nvPicPr>
          <p:cNvPr id="7" name="Image 3" descr="https://kimi-img.moonshot.cn/pub/slides/slides_tmpl/image/25-10-11-20:17:33-d3l4ln8s8jdo4os5enr0.png"/>
          <p:cNvPicPr>
            <a:picLocks noChangeAspect="1"/>
          </p:cNvPicPr>
          <p:nvPr/>
        </p:nvPicPr>
        <p:blipFill>
          <a:blip r:embed="rId4"/>
          <a:stretch>
            <a:fillRect/>
          </a:stretch>
        </p:blipFill>
        <p:spPr>
          <a:xfrm>
            <a:off x="200932" y="5358130"/>
            <a:ext cx="3734526" cy="648335"/>
          </a:xfrm>
          <a:prstGeom prst="rect">
            <a:avLst/>
          </a:prstGeom>
        </p:spPr>
      </p:pic>
      <p:sp>
        <p:nvSpPr>
          <p:cNvPr id="8" name="Text 2"/>
          <p:cNvSpPr/>
          <p:nvPr/>
        </p:nvSpPr>
        <p:spPr>
          <a:xfrm>
            <a:off x="487317" y="5503545"/>
            <a:ext cx="3081383" cy="706755"/>
          </a:xfrm>
          <a:prstGeom prst="rect">
            <a:avLst/>
          </a:prstGeom>
          <a:noFill/>
        </p:spPr>
        <p:txBody>
          <a:bodyPr wrap="square" lIns="91440" tIns="45720" rIns="91440" bIns="45720" rtlCol="0" anchor="t">
            <a:noAutofit/>
          </a:bodyPr>
          <a:lstStyle/>
          <a:p>
            <a:pPr algn="ctr">
              <a:lnSpc>
                <a:spcPct val="100000"/>
              </a:lnSpc>
            </a:pPr>
            <a:r>
              <a:rPr lang="en-US" sz="2000" b="1" dirty="0">
                <a:solidFill>
                  <a:srgbClr val="FFFFFF"/>
                </a:solidFill>
                <a:latin typeface="MiSans" panose="00000500000000000000" pitchFamily="34" charset="-122"/>
                <a:ea typeface="MiSans" panose="00000500000000000000" pitchFamily="34" charset="-122"/>
                <a:cs typeface="MiSans" panose="00000500000000000000" pitchFamily="34" charset="-120"/>
              </a:rPr>
              <a:t>汇报人：</a:t>
            </a:r>
            <a:r>
              <a:rPr lang="zh-CN" altLang="en-US" sz="2000" b="1" dirty="0">
                <a:solidFill>
                  <a:srgbClr val="FFFFFF"/>
                </a:solidFill>
                <a:latin typeface="MiSans" panose="00000500000000000000" pitchFamily="34" charset="-122"/>
                <a:ea typeface="MiSans" panose="00000500000000000000" pitchFamily="34" charset="-122"/>
                <a:cs typeface="Arial" panose="020B0604020202020204" pitchFamily="34" charset="0"/>
              </a:rPr>
              <a:t>冯韵婷，鲍紫萱</a:t>
            </a:r>
            <a:endParaRPr lang="en-US" sz="1600" dirty="0"/>
          </a:p>
        </p:txBody>
      </p:sp>
      <p:sp>
        <p:nvSpPr>
          <p:cNvPr id="9" name="Text 3"/>
          <p:cNvSpPr/>
          <p:nvPr/>
        </p:nvSpPr>
        <p:spPr>
          <a:xfrm>
            <a:off x="7647305" y="617220"/>
            <a:ext cx="3938270" cy="381635"/>
          </a:xfrm>
          <a:prstGeom prst="rect">
            <a:avLst/>
          </a:prstGeom>
          <a:noFill/>
        </p:spPr>
        <p:txBody>
          <a:bodyPr wrap="square" lIns="91440" tIns="45720" rIns="91440" bIns="45720" rtlCol="0" anchor="t"/>
          <a:lstStyle/>
          <a:p>
            <a:pPr algn="r">
              <a:lnSpc>
                <a:spcPct val="100000"/>
              </a:lnSpc>
            </a:pPr>
            <a:r>
              <a:rPr lang="en-US" sz="1800" b="1" dirty="0">
                <a:solidFill>
                  <a:srgbClr val="000000"/>
                </a:solidFill>
                <a:latin typeface="MiSans" panose="00000500000000000000" pitchFamily="34" charset="-122"/>
                <a:ea typeface="MiSans" panose="00000500000000000000" pitchFamily="34" charset="-122"/>
                <a:cs typeface="MiSans" panose="00000500000000000000" pitchFamily="34" charset="-120"/>
              </a:rPr>
              <a:t>汇报时间：2025/</a:t>
            </a:r>
            <a:r>
              <a:rPr lang="en-US" altLang="zh-CN" sz="1800" b="1" dirty="0">
                <a:solidFill>
                  <a:srgbClr val="000000"/>
                </a:solidFill>
                <a:latin typeface="MiSans" panose="00000500000000000000" pitchFamily="34" charset="-122"/>
                <a:ea typeface="MiSans" panose="00000500000000000000" pitchFamily="34" charset="-122"/>
                <a:cs typeface="MiSans" panose="00000500000000000000" pitchFamily="34" charset="-120"/>
              </a:rPr>
              <a:t>12</a:t>
            </a:r>
            <a:r>
              <a:rPr lang="en-US" sz="1800" b="1" dirty="0">
                <a:solidFill>
                  <a:srgbClr val="000000"/>
                </a:solidFill>
                <a:latin typeface="MiSans" panose="00000500000000000000" pitchFamily="34" charset="-122"/>
                <a:ea typeface="MiSans" panose="00000500000000000000" pitchFamily="34" charset="-122"/>
                <a:cs typeface="MiSans" panose="00000500000000000000" pitchFamily="34" charset="-120"/>
              </a:rPr>
              <a:t>/</a:t>
            </a:r>
            <a:r>
              <a:rPr lang="en-US" altLang="zh-CN" sz="1800" b="1" dirty="0">
                <a:solidFill>
                  <a:srgbClr val="000000"/>
                </a:solidFill>
                <a:latin typeface="MiSans" panose="00000500000000000000" pitchFamily="34" charset="-122"/>
                <a:ea typeface="MiSans" panose="00000500000000000000" pitchFamily="34" charset="-122"/>
                <a:cs typeface="MiSans" panose="00000500000000000000" pitchFamily="34" charset="-120"/>
              </a:rPr>
              <a:t>23</a:t>
            </a:r>
            <a:endParaRPr lang="en-US" sz="1600" dirty="0"/>
          </a:p>
        </p:txBody>
      </p:sp>
      <p:sp>
        <p:nvSpPr>
          <p:cNvPr id="10" name="Shape 4"/>
          <p:cNvSpPr/>
          <p:nvPr/>
        </p:nvSpPr>
        <p:spPr>
          <a:xfrm>
            <a:off x="957050" y="816263"/>
            <a:ext cx="878810" cy="279259"/>
          </a:xfrm>
          <a:custGeom>
            <a:avLst/>
            <a:gdLst/>
            <a:ahLst/>
            <a:cxnLst/>
            <a:rect l="l" t="t" r="r" b="b"/>
            <a:pathLst>
              <a:path w="878810" h="279259">
                <a:moveTo>
                  <a:pt x="192859" y="139265"/>
                </a:moveTo>
                <a:lnTo>
                  <a:pt x="54326" y="-101"/>
                </a:lnTo>
                <a:lnTo>
                  <a:pt x="-976" y="55587"/>
                </a:lnTo>
                <a:lnTo>
                  <a:pt x="43352" y="100198"/>
                </a:lnTo>
                <a:lnTo>
                  <a:pt x="78533" y="139582"/>
                </a:lnTo>
                <a:lnTo>
                  <a:pt x="43352" y="178953"/>
                </a:lnTo>
                <a:lnTo>
                  <a:pt x="-976" y="223565"/>
                </a:lnTo>
                <a:lnTo>
                  <a:pt x="54326" y="279259"/>
                </a:lnTo>
                <a:lnTo>
                  <a:pt x="192859" y="139893"/>
                </a:lnTo>
                <a:lnTo>
                  <a:pt x="192553" y="139576"/>
                </a:lnTo>
                <a:close/>
                <a:moveTo>
                  <a:pt x="421509" y="139265"/>
                </a:moveTo>
                <a:lnTo>
                  <a:pt x="282977" y="-101"/>
                </a:lnTo>
                <a:lnTo>
                  <a:pt x="227674" y="55587"/>
                </a:lnTo>
                <a:lnTo>
                  <a:pt x="272002" y="100198"/>
                </a:lnTo>
                <a:lnTo>
                  <a:pt x="307123" y="139582"/>
                </a:lnTo>
                <a:lnTo>
                  <a:pt x="272002" y="178953"/>
                </a:lnTo>
                <a:lnTo>
                  <a:pt x="227674" y="223565"/>
                </a:lnTo>
                <a:lnTo>
                  <a:pt x="282977" y="279259"/>
                </a:lnTo>
                <a:lnTo>
                  <a:pt x="421509" y="139893"/>
                </a:lnTo>
                <a:lnTo>
                  <a:pt x="421204" y="139576"/>
                </a:lnTo>
                <a:close/>
                <a:moveTo>
                  <a:pt x="650160" y="139265"/>
                </a:moveTo>
                <a:lnTo>
                  <a:pt x="511627" y="-101"/>
                </a:lnTo>
                <a:lnTo>
                  <a:pt x="456264" y="55587"/>
                </a:lnTo>
                <a:lnTo>
                  <a:pt x="500653" y="100198"/>
                </a:lnTo>
                <a:lnTo>
                  <a:pt x="535774" y="139582"/>
                </a:lnTo>
                <a:lnTo>
                  <a:pt x="500653" y="178953"/>
                </a:lnTo>
                <a:lnTo>
                  <a:pt x="456264" y="223565"/>
                </a:lnTo>
                <a:lnTo>
                  <a:pt x="511627" y="279259"/>
                </a:lnTo>
                <a:lnTo>
                  <a:pt x="650160" y="139893"/>
                </a:lnTo>
                <a:lnTo>
                  <a:pt x="649854" y="139576"/>
                </a:lnTo>
                <a:close/>
                <a:moveTo>
                  <a:pt x="878810" y="139265"/>
                </a:moveTo>
                <a:lnTo>
                  <a:pt x="740277" y="-101"/>
                </a:lnTo>
                <a:lnTo>
                  <a:pt x="684914" y="55587"/>
                </a:lnTo>
                <a:lnTo>
                  <a:pt x="729242" y="100198"/>
                </a:lnTo>
                <a:lnTo>
                  <a:pt x="764423" y="139582"/>
                </a:lnTo>
                <a:lnTo>
                  <a:pt x="729242" y="178953"/>
                </a:lnTo>
                <a:lnTo>
                  <a:pt x="684914" y="223565"/>
                </a:lnTo>
                <a:lnTo>
                  <a:pt x="740277" y="279259"/>
                </a:lnTo>
                <a:lnTo>
                  <a:pt x="878810" y="139893"/>
                </a:lnTo>
                <a:lnTo>
                  <a:pt x="878444" y="139576"/>
                </a:lnTo>
                <a:close/>
              </a:path>
            </a:pathLst>
          </a:custGeom>
          <a:solidFill>
            <a:srgbClr val="2142EF"/>
          </a:solidFill>
        </p:spPr>
      </p:sp>
      <p:sp>
        <p:nvSpPr>
          <p:cNvPr id="11" name="Text 5"/>
          <p:cNvSpPr/>
          <p:nvPr/>
        </p:nvSpPr>
        <p:spPr>
          <a:xfrm>
            <a:off x="957050" y="816263"/>
            <a:ext cx="878810" cy="279259"/>
          </a:xfrm>
          <a:prstGeom prst="rect">
            <a:avLst/>
          </a:prstGeom>
          <a:noFill/>
        </p:spPr>
        <p:txBody>
          <a:bodyPr wrap="square" lIns="45720" tIns="91440" rIns="91440" bIns="45720" rtlCol="0" anchor="ctr"/>
          <a:lstStyle/>
          <a:p>
            <a:pPr>
              <a:lnSpc>
                <a:spcPct val="100000"/>
              </a:lnSpc>
            </a:pPr>
            <a:endParaRPr lang="en-US" sz="1600" dirty="0"/>
          </a:p>
        </p:txBody>
      </p:sp>
      <p:sp>
        <p:nvSpPr>
          <p:cNvPr id="12" name="Shape 6"/>
          <p:cNvSpPr/>
          <p:nvPr/>
        </p:nvSpPr>
        <p:spPr>
          <a:xfrm>
            <a:off x="10209195" y="401570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3" name="Text 7"/>
          <p:cNvSpPr/>
          <p:nvPr/>
        </p:nvSpPr>
        <p:spPr>
          <a:xfrm>
            <a:off x="10209195" y="401570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4" name="Shape 8"/>
          <p:cNvSpPr/>
          <p:nvPr/>
        </p:nvSpPr>
        <p:spPr>
          <a:xfrm rot="5400000">
            <a:off x="5226050" y="3844290"/>
            <a:ext cx="76200" cy="3938270"/>
          </a:xfrm>
          <a:custGeom>
            <a:avLst/>
            <a:gdLst/>
            <a:ahLst/>
            <a:cxnLst/>
            <a:rect l="l" t="t" r="r" b="b"/>
            <a:pathLst>
              <a:path w="76200" h="3938270">
                <a:moveTo>
                  <a:pt x="76200" y="-1742"/>
                </a:moveTo>
                <a:lnTo>
                  <a:pt x="76200" y="3938270"/>
                </a:lnTo>
              </a:path>
            </a:pathLst>
          </a:custGeom>
          <a:solidFill>
            <a:srgbClr val="000000">
              <a:alpha val="0"/>
            </a:srgbClr>
          </a:solidFill>
          <a:ln w="12700">
            <a:solidFill>
              <a:srgbClr val="000000"/>
            </a:solidFill>
            <a:prstDash val="solid"/>
          </a:ln>
        </p:spPr>
      </p:sp>
      <p:sp>
        <p:nvSpPr>
          <p:cNvPr id="15" name="Text 9"/>
          <p:cNvSpPr/>
          <p:nvPr/>
        </p:nvSpPr>
        <p:spPr>
          <a:xfrm rot="5400000">
            <a:off x="5226050" y="3844290"/>
            <a:ext cx="76200" cy="3938270"/>
          </a:xfrm>
          <a:prstGeom prst="rect">
            <a:avLst/>
          </a:prstGeom>
          <a:noFill/>
        </p:spPr>
        <p:txBody>
          <a:bodyPr wrap="square" lIns="45720" tIns="91440" rIns="91440" bIns="45720" rtlCol="0" anchor="ctr"/>
          <a:lstStyle/>
          <a:p>
            <a:pPr>
              <a:lnSpc>
                <a:spcPct val="100000"/>
              </a:lnSpc>
            </a:pPr>
            <a:endParaRPr lang="en-US" sz="1600" dirty="0"/>
          </a:p>
        </p:txBody>
      </p:sp>
      <p:pic>
        <p:nvPicPr>
          <p:cNvPr id="16" name="Image 4" descr="https://kimi-img.moonshot.cn/pub/slides/slides_tmpl/image/25-10-11-20:17:33-d3l4ln8s8jdo4os5ens0.png"/>
          <p:cNvPicPr>
            <a:picLocks noChangeAspect="1"/>
          </p:cNvPicPr>
          <p:nvPr/>
        </p:nvPicPr>
        <p:blipFill>
          <a:blip r:embed="rId5"/>
          <a:srcRect/>
          <a:stretch>
            <a:fillRect/>
          </a:stretch>
        </p:blipFill>
        <p:spPr>
          <a:xfrm>
            <a:off x="8347710" y="4069080"/>
            <a:ext cx="3718560" cy="278892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93000"/>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10-11-20:17:34-d3l4lngs8jdo4os5env0.png"/>
          <p:cNvPicPr>
            <a:picLocks noChangeAspect="1"/>
          </p:cNvPicPr>
          <p:nvPr/>
        </p:nvPicPr>
        <p:blipFill>
          <a:blip r:embed="rId2"/>
          <a:srcRect l="1285" r="1285"/>
          <a:stretch>
            <a:fillRect/>
          </a:stretch>
        </p:blipFill>
        <p:spPr>
          <a:xfrm>
            <a:off x="0" y="0"/>
            <a:ext cx="12192635" cy="6844665"/>
          </a:xfrm>
          <a:prstGeom prst="rect">
            <a:avLst/>
          </a:prstGeom>
        </p:spPr>
      </p:pic>
      <p:sp>
        <p:nvSpPr>
          <p:cNvPr id="3" name="Text 0"/>
          <p:cNvSpPr/>
          <p:nvPr/>
        </p:nvSpPr>
        <p:spPr>
          <a:xfrm>
            <a:off x="1358900" y="3599180"/>
            <a:ext cx="9475470" cy="688340"/>
          </a:xfrm>
          <a:prstGeom prst="rect">
            <a:avLst/>
          </a:prstGeom>
          <a:noFill/>
        </p:spPr>
        <p:txBody>
          <a:bodyPr wrap="square" lIns="91440" tIns="45720" rIns="91440" bIns="45720" rtlCol="0" anchor="t"/>
          <a:lstStyle/>
          <a:p>
            <a:pPr algn="ctr">
              <a:lnSpc>
                <a:spcPct val="110000"/>
              </a:lnSpc>
            </a:pPr>
            <a:r>
              <a:rPr lang="zh-CN" altLang="en-US" sz="3200" dirty="0">
                <a:solidFill>
                  <a:srgbClr val="000000"/>
                </a:solidFill>
              </a:rPr>
              <a:t>附页</a:t>
            </a:r>
            <a:endParaRPr lang="en-US" sz="1600" dirty="0"/>
          </a:p>
        </p:txBody>
      </p:sp>
      <p:sp>
        <p:nvSpPr>
          <p:cNvPr id="4" name="Text 1"/>
          <p:cNvSpPr/>
          <p:nvPr/>
        </p:nvSpPr>
        <p:spPr>
          <a:xfrm>
            <a:off x="4684395" y="2165350"/>
            <a:ext cx="2824480" cy="1433830"/>
          </a:xfrm>
          <a:prstGeom prst="rect">
            <a:avLst/>
          </a:prstGeom>
          <a:noFill/>
        </p:spPr>
        <p:txBody>
          <a:bodyPr wrap="square" lIns="91440" tIns="45720" rIns="91440" bIns="45720" rtlCol="0" anchor="t"/>
          <a:lstStyle/>
          <a:p>
            <a:pPr algn="ctr">
              <a:lnSpc>
                <a:spcPct val="100000"/>
              </a:lnSpc>
            </a:pPr>
            <a:r>
              <a:rPr lang="en-US" sz="9600" dirty="0">
                <a:solidFill>
                  <a:srgbClr val="2142EF"/>
                </a:solidFill>
                <a:latin typeface="MiSans" panose="00000500000000000000" pitchFamily="34" charset="-122"/>
                <a:ea typeface="MiSans" panose="00000500000000000000" pitchFamily="34" charset="-122"/>
                <a:cs typeface="MiSans" panose="00000500000000000000" pitchFamily="34" charset="-120"/>
              </a:rPr>
              <a:t>0</a:t>
            </a:r>
            <a:r>
              <a:rPr lang="en-US" altLang="zh-CN" sz="9600" dirty="0">
                <a:solidFill>
                  <a:srgbClr val="2142EF"/>
                </a:solidFill>
                <a:latin typeface="MiSans" panose="00000500000000000000" pitchFamily="34" charset="-122"/>
                <a:ea typeface="MiSans" panose="00000500000000000000" pitchFamily="34" charset="-122"/>
                <a:cs typeface="Arial" panose="020B0604020202020204" pitchFamily="34" charset="0"/>
              </a:rPr>
              <a:t>5</a:t>
            </a:r>
            <a:endParaRPr lang="en-US" sz="1600" dirty="0"/>
          </a:p>
        </p:txBody>
      </p:sp>
      <p:sp>
        <p:nvSpPr>
          <p:cNvPr id="5" name="Shape 2"/>
          <p:cNvSpPr/>
          <p:nvPr/>
        </p:nvSpPr>
        <p:spPr>
          <a:xfrm>
            <a:off x="3863975"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6" name="Text 3"/>
          <p:cNvSpPr/>
          <p:nvPr/>
        </p:nvSpPr>
        <p:spPr>
          <a:xfrm>
            <a:off x="3863975"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7" name="Shape 4"/>
          <p:cNvSpPr/>
          <p:nvPr/>
        </p:nvSpPr>
        <p:spPr>
          <a:xfrm flipH="1">
            <a:off x="6957060" y="2806065"/>
            <a:ext cx="1303655" cy="414655"/>
          </a:xfrm>
          <a:custGeom>
            <a:avLst/>
            <a:gdLst/>
            <a:ahLst/>
            <a:cxnLst/>
            <a:rect l="l" t="t" r="r" b="b"/>
            <a:pathLst>
              <a:path w="1303655" h="414655">
                <a:moveTo>
                  <a:pt x="286093" y="206786"/>
                </a:moveTo>
                <a:lnTo>
                  <a:pt x="80589" y="-150"/>
                </a:lnTo>
                <a:lnTo>
                  <a:pt x="-1448" y="82538"/>
                </a:lnTo>
                <a:lnTo>
                  <a:pt x="64310" y="148778"/>
                </a:lnTo>
                <a:lnTo>
                  <a:pt x="116498" y="207257"/>
                </a:lnTo>
                <a:lnTo>
                  <a:pt x="64310" y="265717"/>
                </a:lnTo>
                <a:lnTo>
                  <a:pt x="-1448" y="331958"/>
                </a:lnTo>
                <a:lnTo>
                  <a:pt x="80589" y="414655"/>
                </a:lnTo>
                <a:lnTo>
                  <a:pt x="286093" y="207719"/>
                </a:lnTo>
                <a:lnTo>
                  <a:pt x="285640" y="207248"/>
                </a:lnTo>
                <a:close/>
                <a:moveTo>
                  <a:pt x="625280" y="206786"/>
                </a:moveTo>
                <a:lnTo>
                  <a:pt x="419777" y="-150"/>
                </a:lnTo>
                <a:lnTo>
                  <a:pt x="337739" y="82538"/>
                </a:lnTo>
                <a:lnTo>
                  <a:pt x="403497" y="148778"/>
                </a:lnTo>
                <a:lnTo>
                  <a:pt x="455597" y="207257"/>
                </a:lnTo>
                <a:lnTo>
                  <a:pt x="403497" y="265717"/>
                </a:lnTo>
                <a:lnTo>
                  <a:pt x="337739" y="331958"/>
                </a:lnTo>
                <a:lnTo>
                  <a:pt x="419777" y="414655"/>
                </a:lnTo>
                <a:lnTo>
                  <a:pt x="625280" y="207719"/>
                </a:lnTo>
                <a:lnTo>
                  <a:pt x="624827" y="207248"/>
                </a:lnTo>
                <a:close/>
                <a:moveTo>
                  <a:pt x="964468" y="206786"/>
                </a:moveTo>
                <a:lnTo>
                  <a:pt x="758964" y="-150"/>
                </a:lnTo>
                <a:lnTo>
                  <a:pt x="676836" y="82538"/>
                </a:lnTo>
                <a:lnTo>
                  <a:pt x="742685" y="148778"/>
                </a:lnTo>
                <a:lnTo>
                  <a:pt x="794784" y="207257"/>
                </a:lnTo>
                <a:lnTo>
                  <a:pt x="742685" y="265717"/>
                </a:lnTo>
                <a:lnTo>
                  <a:pt x="676836" y="331958"/>
                </a:lnTo>
                <a:lnTo>
                  <a:pt x="758964" y="414655"/>
                </a:lnTo>
                <a:lnTo>
                  <a:pt x="964468" y="207719"/>
                </a:lnTo>
                <a:lnTo>
                  <a:pt x="964015" y="207248"/>
                </a:lnTo>
                <a:close/>
                <a:moveTo>
                  <a:pt x="1303655" y="206786"/>
                </a:moveTo>
                <a:lnTo>
                  <a:pt x="1098151" y="-150"/>
                </a:lnTo>
                <a:lnTo>
                  <a:pt x="1016024" y="82538"/>
                </a:lnTo>
                <a:lnTo>
                  <a:pt x="1081781" y="148778"/>
                </a:lnTo>
                <a:lnTo>
                  <a:pt x="1133970" y="207257"/>
                </a:lnTo>
                <a:lnTo>
                  <a:pt x="1081781" y="265717"/>
                </a:lnTo>
                <a:lnTo>
                  <a:pt x="1016024" y="331958"/>
                </a:lnTo>
                <a:lnTo>
                  <a:pt x="1098151" y="414655"/>
                </a:lnTo>
                <a:lnTo>
                  <a:pt x="1303655" y="207719"/>
                </a:lnTo>
                <a:lnTo>
                  <a:pt x="1303111" y="207248"/>
                </a:lnTo>
                <a:close/>
              </a:path>
            </a:pathLst>
          </a:custGeom>
          <a:solidFill>
            <a:srgbClr val="2142EF"/>
          </a:solidFill>
        </p:spPr>
      </p:sp>
      <p:sp>
        <p:nvSpPr>
          <p:cNvPr id="8" name="Text 5"/>
          <p:cNvSpPr/>
          <p:nvPr/>
        </p:nvSpPr>
        <p:spPr>
          <a:xfrm>
            <a:off x="6957060" y="2806065"/>
            <a:ext cx="1303655" cy="414655"/>
          </a:xfrm>
          <a:prstGeom prst="rect">
            <a:avLst/>
          </a:prstGeom>
          <a:noFill/>
        </p:spPr>
        <p:txBody>
          <a:bodyPr wrap="square" lIns="45720" tIns="91440" rIns="91440" bIns="45720" rtlCol="0" anchor="ctr"/>
          <a:lstStyle/>
          <a:p>
            <a:pPr>
              <a:lnSpc>
                <a:spcPct val="100000"/>
              </a:lnSpc>
            </a:pPr>
            <a:endParaRPr lang="en-US" sz="1600" dirty="0"/>
          </a:p>
        </p:txBody>
      </p:sp>
      <p:sp>
        <p:nvSpPr>
          <p:cNvPr id="9" name="Shape 6"/>
          <p:cNvSpPr/>
          <p:nvPr/>
        </p:nvSpPr>
        <p:spPr>
          <a:xfrm>
            <a:off x="690545" y="208276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0" name="Text 7"/>
          <p:cNvSpPr/>
          <p:nvPr/>
        </p:nvSpPr>
        <p:spPr>
          <a:xfrm>
            <a:off x="690545" y="2082764"/>
            <a:ext cx="1141923" cy="723293"/>
          </a:xfrm>
          <a:prstGeom prst="rect">
            <a:avLst/>
          </a:prstGeom>
          <a:noFill/>
        </p:spPr>
        <p:txBody>
          <a:bodyPr wrap="square" lIns="45720" tIns="91440" rIns="91440" bIns="45720" rtlCol="0" anchor="ctr"/>
          <a:lstStyle/>
          <a:p>
            <a:pPr>
              <a:lnSpc>
                <a:spcPct val="100000"/>
              </a:lnSpc>
            </a:pPr>
            <a:endParaRPr lang="en-US" sz="1600" dirty="0"/>
          </a:p>
        </p:txBody>
      </p:sp>
      <p:sp>
        <p:nvSpPr>
          <p:cNvPr id="11" name="Shape 8"/>
          <p:cNvSpPr/>
          <p:nvPr/>
        </p:nvSpPr>
        <p:spPr>
          <a:xfrm>
            <a:off x="10703860" y="3916644"/>
            <a:ext cx="1141923" cy="723293"/>
          </a:xfrm>
          <a:custGeom>
            <a:avLst/>
            <a:gdLst/>
            <a:ahLst/>
            <a:cxnLst/>
            <a:rect l="l" t="t" r="r" b="b"/>
            <a:pathLst>
              <a:path w="1141923" h="723293">
                <a:moveTo>
                  <a:pt x="50838" y="25788"/>
                </a:moveTo>
                <a:cubicBezTo>
                  <a:pt x="50838" y="40086"/>
                  <a:pt x="39239" y="51676"/>
                  <a:pt x="24931" y="51676"/>
                </a:cubicBezTo>
                <a:cubicBezTo>
                  <a:pt x="10623" y="51676"/>
                  <a:pt x="-976" y="40086"/>
                  <a:pt x="-976" y="25788"/>
                </a:cubicBezTo>
                <a:cubicBezTo>
                  <a:pt x="-976" y="11490"/>
                  <a:pt x="10623" y="-101"/>
                  <a:pt x="24931" y="-101"/>
                </a:cubicBezTo>
                <a:cubicBezTo>
                  <a:pt x="39233" y="-108"/>
                  <a:pt x="50831" y="11473"/>
                  <a:pt x="50838" y="25763"/>
                </a:cubicBezTo>
                <a:cubicBezTo>
                  <a:pt x="50838" y="25772"/>
                  <a:pt x="50838" y="25780"/>
                  <a:pt x="50838" y="25788"/>
                </a:cubicBezTo>
                <a:close/>
                <a:moveTo>
                  <a:pt x="269068" y="25788"/>
                </a:moveTo>
                <a:cubicBezTo>
                  <a:pt x="269068" y="40086"/>
                  <a:pt x="257469" y="51676"/>
                  <a:pt x="243160" y="51676"/>
                </a:cubicBezTo>
                <a:cubicBezTo>
                  <a:pt x="228853" y="51676"/>
                  <a:pt x="217253" y="40086"/>
                  <a:pt x="217253" y="25788"/>
                </a:cubicBezTo>
                <a:cubicBezTo>
                  <a:pt x="217253" y="11490"/>
                  <a:pt x="228853" y="-101"/>
                  <a:pt x="243160" y="-101"/>
                </a:cubicBezTo>
                <a:cubicBezTo>
                  <a:pt x="257461" y="-84"/>
                  <a:pt x="269051" y="11497"/>
                  <a:pt x="269068" y="25788"/>
                </a:cubicBezTo>
                <a:close/>
                <a:moveTo>
                  <a:pt x="487237" y="25788"/>
                </a:moveTo>
                <a:cubicBezTo>
                  <a:pt x="487237" y="40086"/>
                  <a:pt x="475637" y="51676"/>
                  <a:pt x="461329" y="51676"/>
                </a:cubicBezTo>
                <a:cubicBezTo>
                  <a:pt x="447021" y="51676"/>
                  <a:pt x="435422" y="40086"/>
                  <a:pt x="435422" y="25788"/>
                </a:cubicBezTo>
                <a:cubicBezTo>
                  <a:pt x="435422" y="11490"/>
                  <a:pt x="447021" y="-101"/>
                  <a:pt x="461329" y="-101"/>
                </a:cubicBezTo>
                <a:cubicBezTo>
                  <a:pt x="475631" y="-108"/>
                  <a:pt x="487229" y="11473"/>
                  <a:pt x="487237" y="25763"/>
                </a:cubicBezTo>
                <a:cubicBezTo>
                  <a:pt x="487237" y="25772"/>
                  <a:pt x="487237" y="25780"/>
                  <a:pt x="487237" y="25788"/>
                </a:cubicBezTo>
                <a:close/>
                <a:moveTo>
                  <a:pt x="705466" y="25788"/>
                </a:moveTo>
                <a:cubicBezTo>
                  <a:pt x="705466" y="40086"/>
                  <a:pt x="693867" y="51676"/>
                  <a:pt x="679559" y="51676"/>
                </a:cubicBezTo>
                <a:cubicBezTo>
                  <a:pt x="665250" y="51676"/>
                  <a:pt x="653652" y="40086"/>
                  <a:pt x="653652" y="25788"/>
                </a:cubicBezTo>
                <a:cubicBezTo>
                  <a:pt x="653652" y="11490"/>
                  <a:pt x="665250" y="-101"/>
                  <a:pt x="679559" y="-101"/>
                </a:cubicBezTo>
                <a:cubicBezTo>
                  <a:pt x="693861" y="-108"/>
                  <a:pt x="705458" y="11473"/>
                  <a:pt x="705466" y="25763"/>
                </a:cubicBezTo>
                <a:cubicBezTo>
                  <a:pt x="705466" y="25772"/>
                  <a:pt x="705466" y="25780"/>
                  <a:pt x="705466" y="25788"/>
                </a:cubicBezTo>
                <a:close/>
                <a:moveTo>
                  <a:pt x="923695" y="25788"/>
                </a:moveTo>
                <a:cubicBezTo>
                  <a:pt x="923695" y="40086"/>
                  <a:pt x="912096" y="51676"/>
                  <a:pt x="897788" y="51676"/>
                </a:cubicBezTo>
                <a:cubicBezTo>
                  <a:pt x="883481" y="51676"/>
                  <a:pt x="871881" y="40086"/>
                  <a:pt x="871881" y="25788"/>
                </a:cubicBezTo>
                <a:cubicBezTo>
                  <a:pt x="871881" y="11490"/>
                  <a:pt x="883481" y="-101"/>
                  <a:pt x="897788" y="-101"/>
                </a:cubicBezTo>
                <a:cubicBezTo>
                  <a:pt x="912090" y="-108"/>
                  <a:pt x="923688" y="11473"/>
                  <a:pt x="923695" y="25763"/>
                </a:cubicBezTo>
                <a:cubicBezTo>
                  <a:pt x="923695" y="25772"/>
                  <a:pt x="923695" y="25780"/>
                  <a:pt x="923695" y="25788"/>
                </a:cubicBezTo>
                <a:close/>
                <a:moveTo>
                  <a:pt x="1141923" y="25788"/>
                </a:moveTo>
                <a:cubicBezTo>
                  <a:pt x="1141923" y="40086"/>
                  <a:pt x="1130324" y="51676"/>
                  <a:pt x="1116016" y="51676"/>
                </a:cubicBezTo>
                <a:cubicBezTo>
                  <a:pt x="1101708" y="51676"/>
                  <a:pt x="1090109" y="40086"/>
                  <a:pt x="1090109" y="25788"/>
                </a:cubicBezTo>
                <a:cubicBezTo>
                  <a:pt x="1090109" y="11490"/>
                  <a:pt x="1101708" y="-101"/>
                  <a:pt x="1116016" y="-101"/>
                </a:cubicBezTo>
                <a:cubicBezTo>
                  <a:pt x="1130316" y="-84"/>
                  <a:pt x="1141907" y="11497"/>
                  <a:pt x="1141923" y="25788"/>
                </a:cubicBezTo>
                <a:close/>
                <a:moveTo>
                  <a:pt x="50838" y="193692"/>
                </a:moveTo>
                <a:cubicBezTo>
                  <a:pt x="50838" y="207990"/>
                  <a:pt x="39239" y="219580"/>
                  <a:pt x="24931" y="219580"/>
                </a:cubicBezTo>
                <a:cubicBezTo>
                  <a:pt x="10623" y="219580"/>
                  <a:pt x="-976" y="207990"/>
                  <a:pt x="-976" y="193692"/>
                </a:cubicBezTo>
                <a:cubicBezTo>
                  <a:pt x="-976" y="179394"/>
                  <a:pt x="10623" y="167803"/>
                  <a:pt x="24931" y="167803"/>
                </a:cubicBezTo>
                <a:cubicBezTo>
                  <a:pt x="39233" y="167796"/>
                  <a:pt x="50831" y="179377"/>
                  <a:pt x="50838" y="193668"/>
                </a:cubicBezTo>
                <a:cubicBezTo>
                  <a:pt x="50838" y="193676"/>
                  <a:pt x="50838" y="193684"/>
                  <a:pt x="50838" y="193692"/>
                </a:cubicBezTo>
                <a:close/>
                <a:moveTo>
                  <a:pt x="269068" y="193692"/>
                </a:moveTo>
                <a:cubicBezTo>
                  <a:pt x="269068" y="207990"/>
                  <a:pt x="257469" y="219580"/>
                  <a:pt x="243160" y="219580"/>
                </a:cubicBezTo>
                <a:cubicBezTo>
                  <a:pt x="228853" y="219580"/>
                  <a:pt x="217253" y="207990"/>
                  <a:pt x="217253" y="193692"/>
                </a:cubicBezTo>
                <a:cubicBezTo>
                  <a:pt x="217253" y="179394"/>
                  <a:pt x="228853" y="167803"/>
                  <a:pt x="243160" y="167803"/>
                </a:cubicBezTo>
                <a:cubicBezTo>
                  <a:pt x="257461" y="167820"/>
                  <a:pt x="269051" y="179401"/>
                  <a:pt x="269068" y="193692"/>
                </a:cubicBezTo>
                <a:close/>
                <a:moveTo>
                  <a:pt x="487237" y="193692"/>
                </a:moveTo>
                <a:cubicBezTo>
                  <a:pt x="487237" y="207990"/>
                  <a:pt x="475637" y="219580"/>
                  <a:pt x="461329" y="219580"/>
                </a:cubicBezTo>
                <a:cubicBezTo>
                  <a:pt x="447021" y="219580"/>
                  <a:pt x="435422" y="207990"/>
                  <a:pt x="435422" y="193692"/>
                </a:cubicBezTo>
                <a:cubicBezTo>
                  <a:pt x="435422" y="179394"/>
                  <a:pt x="447021" y="167803"/>
                  <a:pt x="461329" y="167803"/>
                </a:cubicBezTo>
                <a:cubicBezTo>
                  <a:pt x="475631" y="167796"/>
                  <a:pt x="487229" y="179377"/>
                  <a:pt x="487237" y="193668"/>
                </a:cubicBezTo>
                <a:cubicBezTo>
                  <a:pt x="487237" y="193676"/>
                  <a:pt x="487237" y="193684"/>
                  <a:pt x="487237" y="193692"/>
                </a:cubicBezTo>
                <a:close/>
                <a:moveTo>
                  <a:pt x="705466" y="193692"/>
                </a:moveTo>
                <a:cubicBezTo>
                  <a:pt x="705466" y="207990"/>
                  <a:pt x="693867" y="219580"/>
                  <a:pt x="679559" y="219580"/>
                </a:cubicBezTo>
                <a:cubicBezTo>
                  <a:pt x="665250" y="219580"/>
                  <a:pt x="653652" y="207990"/>
                  <a:pt x="653652" y="193692"/>
                </a:cubicBezTo>
                <a:cubicBezTo>
                  <a:pt x="653652" y="179394"/>
                  <a:pt x="665250" y="167803"/>
                  <a:pt x="679559" y="167803"/>
                </a:cubicBezTo>
                <a:cubicBezTo>
                  <a:pt x="693861" y="167796"/>
                  <a:pt x="705458" y="179377"/>
                  <a:pt x="705466" y="193668"/>
                </a:cubicBezTo>
                <a:cubicBezTo>
                  <a:pt x="705466" y="193676"/>
                  <a:pt x="705466" y="193684"/>
                  <a:pt x="705466" y="193692"/>
                </a:cubicBezTo>
                <a:close/>
                <a:moveTo>
                  <a:pt x="923695" y="193692"/>
                </a:moveTo>
                <a:cubicBezTo>
                  <a:pt x="923695" y="207990"/>
                  <a:pt x="912096" y="219580"/>
                  <a:pt x="897788" y="219580"/>
                </a:cubicBezTo>
                <a:cubicBezTo>
                  <a:pt x="883481" y="219580"/>
                  <a:pt x="871881" y="207990"/>
                  <a:pt x="871881" y="193692"/>
                </a:cubicBezTo>
                <a:cubicBezTo>
                  <a:pt x="871881" y="179394"/>
                  <a:pt x="883481" y="167803"/>
                  <a:pt x="897788" y="167803"/>
                </a:cubicBezTo>
                <a:cubicBezTo>
                  <a:pt x="912090" y="167796"/>
                  <a:pt x="923688" y="179377"/>
                  <a:pt x="923695" y="193668"/>
                </a:cubicBezTo>
                <a:cubicBezTo>
                  <a:pt x="923695" y="193676"/>
                  <a:pt x="923695" y="193684"/>
                  <a:pt x="923695" y="193692"/>
                </a:cubicBezTo>
                <a:close/>
                <a:moveTo>
                  <a:pt x="1141923" y="193692"/>
                </a:moveTo>
                <a:cubicBezTo>
                  <a:pt x="1141923" y="207990"/>
                  <a:pt x="1130324" y="219580"/>
                  <a:pt x="1116016" y="219580"/>
                </a:cubicBezTo>
                <a:cubicBezTo>
                  <a:pt x="1101708" y="219580"/>
                  <a:pt x="1090109" y="207990"/>
                  <a:pt x="1090109" y="193692"/>
                </a:cubicBezTo>
                <a:cubicBezTo>
                  <a:pt x="1090109" y="179394"/>
                  <a:pt x="1101708" y="167803"/>
                  <a:pt x="1116016" y="167803"/>
                </a:cubicBezTo>
                <a:cubicBezTo>
                  <a:pt x="1130316" y="167820"/>
                  <a:pt x="1141907" y="179401"/>
                  <a:pt x="1141923" y="193692"/>
                </a:cubicBezTo>
                <a:close/>
                <a:moveTo>
                  <a:pt x="50838" y="361596"/>
                </a:moveTo>
                <a:cubicBezTo>
                  <a:pt x="50838" y="375894"/>
                  <a:pt x="39239" y="387485"/>
                  <a:pt x="24931" y="387485"/>
                </a:cubicBezTo>
                <a:cubicBezTo>
                  <a:pt x="10623" y="387485"/>
                  <a:pt x="-976" y="375894"/>
                  <a:pt x="-976" y="361596"/>
                </a:cubicBezTo>
                <a:cubicBezTo>
                  <a:pt x="-976" y="347298"/>
                  <a:pt x="10623" y="335707"/>
                  <a:pt x="24931" y="335707"/>
                </a:cubicBezTo>
                <a:cubicBezTo>
                  <a:pt x="39233" y="335700"/>
                  <a:pt x="50831" y="347280"/>
                  <a:pt x="50838" y="361571"/>
                </a:cubicBezTo>
                <a:cubicBezTo>
                  <a:pt x="50838" y="361579"/>
                  <a:pt x="50838" y="361588"/>
                  <a:pt x="50838" y="361596"/>
                </a:cubicBezTo>
                <a:close/>
                <a:moveTo>
                  <a:pt x="269068" y="361596"/>
                </a:moveTo>
                <a:cubicBezTo>
                  <a:pt x="269068" y="375894"/>
                  <a:pt x="257469" y="387485"/>
                  <a:pt x="243160" y="387485"/>
                </a:cubicBezTo>
                <a:cubicBezTo>
                  <a:pt x="228853" y="387485"/>
                  <a:pt x="217253" y="375894"/>
                  <a:pt x="217253" y="361596"/>
                </a:cubicBezTo>
                <a:cubicBezTo>
                  <a:pt x="217253" y="347298"/>
                  <a:pt x="228853" y="335707"/>
                  <a:pt x="243160" y="335707"/>
                </a:cubicBezTo>
                <a:cubicBezTo>
                  <a:pt x="257461" y="335724"/>
                  <a:pt x="269051" y="347305"/>
                  <a:pt x="269068" y="361596"/>
                </a:cubicBezTo>
                <a:close/>
                <a:moveTo>
                  <a:pt x="487237" y="361596"/>
                </a:moveTo>
                <a:cubicBezTo>
                  <a:pt x="487237" y="375894"/>
                  <a:pt x="475637" y="387485"/>
                  <a:pt x="461329" y="387485"/>
                </a:cubicBezTo>
                <a:cubicBezTo>
                  <a:pt x="447021" y="387485"/>
                  <a:pt x="435422" y="375894"/>
                  <a:pt x="435422" y="361596"/>
                </a:cubicBezTo>
                <a:cubicBezTo>
                  <a:pt x="435422" y="347298"/>
                  <a:pt x="447021" y="335707"/>
                  <a:pt x="461329" y="335707"/>
                </a:cubicBezTo>
                <a:cubicBezTo>
                  <a:pt x="475631" y="335700"/>
                  <a:pt x="487229" y="347280"/>
                  <a:pt x="487237" y="361571"/>
                </a:cubicBezTo>
                <a:cubicBezTo>
                  <a:pt x="487237" y="361579"/>
                  <a:pt x="487237" y="361588"/>
                  <a:pt x="487237" y="361596"/>
                </a:cubicBezTo>
                <a:close/>
                <a:moveTo>
                  <a:pt x="705466" y="361596"/>
                </a:moveTo>
                <a:cubicBezTo>
                  <a:pt x="705466" y="375894"/>
                  <a:pt x="693867" y="387485"/>
                  <a:pt x="679559" y="387485"/>
                </a:cubicBezTo>
                <a:cubicBezTo>
                  <a:pt x="665250" y="387485"/>
                  <a:pt x="653652" y="375894"/>
                  <a:pt x="653652" y="361596"/>
                </a:cubicBezTo>
                <a:cubicBezTo>
                  <a:pt x="653652" y="347298"/>
                  <a:pt x="665250" y="335707"/>
                  <a:pt x="679559" y="335707"/>
                </a:cubicBezTo>
                <a:cubicBezTo>
                  <a:pt x="693861" y="335700"/>
                  <a:pt x="705458" y="347280"/>
                  <a:pt x="705466" y="361571"/>
                </a:cubicBezTo>
                <a:cubicBezTo>
                  <a:pt x="705466" y="361579"/>
                  <a:pt x="705466" y="361588"/>
                  <a:pt x="705466" y="361596"/>
                </a:cubicBezTo>
                <a:close/>
                <a:moveTo>
                  <a:pt x="923695" y="361596"/>
                </a:moveTo>
                <a:cubicBezTo>
                  <a:pt x="923695" y="375894"/>
                  <a:pt x="912096" y="387485"/>
                  <a:pt x="897788" y="387485"/>
                </a:cubicBezTo>
                <a:cubicBezTo>
                  <a:pt x="883481" y="387485"/>
                  <a:pt x="871881" y="375894"/>
                  <a:pt x="871881" y="361596"/>
                </a:cubicBezTo>
                <a:cubicBezTo>
                  <a:pt x="871881" y="347298"/>
                  <a:pt x="883481" y="335707"/>
                  <a:pt x="897788" y="335707"/>
                </a:cubicBezTo>
                <a:cubicBezTo>
                  <a:pt x="912090" y="335700"/>
                  <a:pt x="923688" y="347280"/>
                  <a:pt x="923695" y="361571"/>
                </a:cubicBezTo>
                <a:cubicBezTo>
                  <a:pt x="923695" y="361579"/>
                  <a:pt x="923695" y="361588"/>
                  <a:pt x="923695" y="361596"/>
                </a:cubicBezTo>
                <a:close/>
                <a:moveTo>
                  <a:pt x="1141923" y="361596"/>
                </a:moveTo>
                <a:cubicBezTo>
                  <a:pt x="1141923" y="375894"/>
                  <a:pt x="1130324" y="387485"/>
                  <a:pt x="1116016" y="387485"/>
                </a:cubicBezTo>
                <a:cubicBezTo>
                  <a:pt x="1101708" y="387485"/>
                  <a:pt x="1090109" y="375894"/>
                  <a:pt x="1090109" y="361596"/>
                </a:cubicBezTo>
                <a:cubicBezTo>
                  <a:pt x="1090109" y="347298"/>
                  <a:pt x="1101708" y="335707"/>
                  <a:pt x="1116016" y="335707"/>
                </a:cubicBezTo>
                <a:cubicBezTo>
                  <a:pt x="1130316" y="335724"/>
                  <a:pt x="1141907" y="347305"/>
                  <a:pt x="1141923" y="361596"/>
                </a:cubicBezTo>
                <a:close/>
                <a:moveTo>
                  <a:pt x="50838" y="529500"/>
                </a:moveTo>
                <a:cubicBezTo>
                  <a:pt x="50838" y="543798"/>
                  <a:pt x="39239" y="555389"/>
                  <a:pt x="24931" y="555389"/>
                </a:cubicBezTo>
                <a:cubicBezTo>
                  <a:pt x="10623" y="555389"/>
                  <a:pt x="-976" y="543798"/>
                  <a:pt x="-976" y="529500"/>
                </a:cubicBezTo>
                <a:cubicBezTo>
                  <a:pt x="-976" y="515202"/>
                  <a:pt x="10623" y="503612"/>
                  <a:pt x="24931" y="503612"/>
                </a:cubicBezTo>
                <a:cubicBezTo>
                  <a:pt x="39233" y="503605"/>
                  <a:pt x="50831" y="515184"/>
                  <a:pt x="50838" y="529475"/>
                </a:cubicBezTo>
                <a:cubicBezTo>
                  <a:pt x="50838" y="529484"/>
                  <a:pt x="50838" y="529492"/>
                  <a:pt x="50838" y="529500"/>
                </a:cubicBezTo>
                <a:close/>
                <a:moveTo>
                  <a:pt x="269068" y="529500"/>
                </a:moveTo>
                <a:cubicBezTo>
                  <a:pt x="269068" y="543798"/>
                  <a:pt x="257469" y="555389"/>
                  <a:pt x="243160" y="555389"/>
                </a:cubicBezTo>
                <a:cubicBezTo>
                  <a:pt x="228853" y="555389"/>
                  <a:pt x="217253" y="543798"/>
                  <a:pt x="217253" y="529500"/>
                </a:cubicBezTo>
                <a:cubicBezTo>
                  <a:pt x="217253" y="515202"/>
                  <a:pt x="228853" y="503612"/>
                  <a:pt x="243160" y="503612"/>
                </a:cubicBezTo>
                <a:cubicBezTo>
                  <a:pt x="257461" y="503629"/>
                  <a:pt x="269051" y="515209"/>
                  <a:pt x="269068" y="529500"/>
                </a:cubicBezTo>
                <a:close/>
                <a:moveTo>
                  <a:pt x="487237" y="529500"/>
                </a:moveTo>
                <a:cubicBezTo>
                  <a:pt x="487237" y="543798"/>
                  <a:pt x="475637" y="555389"/>
                  <a:pt x="461329" y="555389"/>
                </a:cubicBezTo>
                <a:cubicBezTo>
                  <a:pt x="447021" y="555389"/>
                  <a:pt x="435422" y="543798"/>
                  <a:pt x="435422" y="529500"/>
                </a:cubicBezTo>
                <a:cubicBezTo>
                  <a:pt x="435422" y="515202"/>
                  <a:pt x="447021" y="503612"/>
                  <a:pt x="461329" y="503612"/>
                </a:cubicBezTo>
                <a:cubicBezTo>
                  <a:pt x="475631" y="503605"/>
                  <a:pt x="487229" y="515184"/>
                  <a:pt x="487237" y="529475"/>
                </a:cubicBezTo>
                <a:cubicBezTo>
                  <a:pt x="487237" y="529484"/>
                  <a:pt x="487237" y="529492"/>
                  <a:pt x="487237" y="529500"/>
                </a:cubicBezTo>
                <a:close/>
                <a:moveTo>
                  <a:pt x="705466" y="529500"/>
                </a:moveTo>
                <a:cubicBezTo>
                  <a:pt x="705466" y="543798"/>
                  <a:pt x="693867" y="555389"/>
                  <a:pt x="679559" y="555389"/>
                </a:cubicBezTo>
                <a:cubicBezTo>
                  <a:pt x="665250" y="555389"/>
                  <a:pt x="653652" y="543798"/>
                  <a:pt x="653652" y="529500"/>
                </a:cubicBezTo>
                <a:cubicBezTo>
                  <a:pt x="653652" y="515202"/>
                  <a:pt x="665250" y="503612"/>
                  <a:pt x="679559" y="503612"/>
                </a:cubicBezTo>
                <a:cubicBezTo>
                  <a:pt x="693861" y="503605"/>
                  <a:pt x="705458" y="515184"/>
                  <a:pt x="705466" y="529475"/>
                </a:cubicBezTo>
                <a:cubicBezTo>
                  <a:pt x="705466" y="529484"/>
                  <a:pt x="705466" y="529492"/>
                  <a:pt x="705466" y="529500"/>
                </a:cubicBezTo>
                <a:close/>
                <a:moveTo>
                  <a:pt x="923695" y="529500"/>
                </a:moveTo>
                <a:cubicBezTo>
                  <a:pt x="923695" y="543798"/>
                  <a:pt x="912096" y="555389"/>
                  <a:pt x="897788" y="555389"/>
                </a:cubicBezTo>
                <a:cubicBezTo>
                  <a:pt x="883481" y="555389"/>
                  <a:pt x="871881" y="543798"/>
                  <a:pt x="871881" y="529500"/>
                </a:cubicBezTo>
                <a:cubicBezTo>
                  <a:pt x="871881" y="515202"/>
                  <a:pt x="883481" y="503612"/>
                  <a:pt x="897788" y="503612"/>
                </a:cubicBezTo>
                <a:cubicBezTo>
                  <a:pt x="912090" y="503605"/>
                  <a:pt x="923688" y="515184"/>
                  <a:pt x="923695" y="529475"/>
                </a:cubicBezTo>
                <a:cubicBezTo>
                  <a:pt x="923695" y="529484"/>
                  <a:pt x="923695" y="529492"/>
                  <a:pt x="923695" y="529500"/>
                </a:cubicBezTo>
                <a:close/>
                <a:moveTo>
                  <a:pt x="1141923" y="529500"/>
                </a:moveTo>
                <a:cubicBezTo>
                  <a:pt x="1141923" y="543798"/>
                  <a:pt x="1130324" y="555389"/>
                  <a:pt x="1116016" y="555389"/>
                </a:cubicBezTo>
                <a:cubicBezTo>
                  <a:pt x="1101708" y="555389"/>
                  <a:pt x="1090109" y="543798"/>
                  <a:pt x="1090109" y="529500"/>
                </a:cubicBezTo>
                <a:cubicBezTo>
                  <a:pt x="1090109" y="515202"/>
                  <a:pt x="1101708" y="503612"/>
                  <a:pt x="1116016" y="503612"/>
                </a:cubicBezTo>
                <a:cubicBezTo>
                  <a:pt x="1130316" y="503629"/>
                  <a:pt x="1141907" y="515209"/>
                  <a:pt x="1141923" y="529500"/>
                </a:cubicBezTo>
                <a:close/>
                <a:moveTo>
                  <a:pt x="50838" y="697404"/>
                </a:moveTo>
                <a:cubicBezTo>
                  <a:pt x="50838" y="711702"/>
                  <a:pt x="39239" y="723293"/>
                  <a:pt x="24931" y="723293"/>
                </a:cubicBezTo>
                <a:cubicBezTo>
                  <a:pt x="10623" y="723293"/>
                  <a:pt x="-976" y="711702"/>
                  <a:pt x="-976" y="697404"/>
                </a:cubicBezTo>
                <a:cubicBezTo>
                  <a:pt x="-976" y="683106"/>
                  <a:pt x="10623" y="671516"/>
                  <a:pt x="24931" y="671516"/>
                </a:cubicBezTo>
                <a:cubicBezTo>
                  <a:pt x="39233" y="671509"/>
                  <a:pt x="50831" y="683088"/>
                  <a:pt x="50838" y="697379"/>
                </a:cubicBezTo>
                <a:cubicBezTo>
                  <a:pt x="50838" y="697387"/>
                  <a:pt x="50838" y="697395"/>
                  <a:pt x="50838" y="697404"/>
                </a:cubicBezTo>
                <a:close/>
                <a:moveTo>
                  <a:pt x="269068" y="697404"/>
                </a:moveTo>
                <a:cubicBezTo>
                  <a:pt x="269068" y="711702"/>
                  <a:pt x="257469" y="723293"/>
                  <a:pt x="243160" y="723293"/>
                </a:cubicBezTo>
                <a:cubicBezTo>
                  <a:pt x="228853" y="723293"/>
                  <a:pt x="217253" y="711702"/>
                  <a:pt x="217253" y="697404"/>
                </a:cubicBezTo>
                <a:cubicBezTo>
                  <a:pt x="217253" y="683106"/>
                  <a:pt x="228853" y="671516"/>
                  <a:pt x="243160" y="671516"/>
                </a:cubicBezTo>
                <a:cubicBezTo>
                  <a:pt x="257461" y="671532"/>
                  <a:pt x="269051" y="683113"/>
                  <a:pt x="269068" y="697404"/>
                </a:cubicBezTo>
                <a:close/>
                <a:moveTo>
                  <a:pt x="487237" y="697404"/>
                </a:moveTo>
                <a:cubicBezTo>
                  <a:pt x="487237" y="711702"/>
                  <a:pt x="475637" y="723293"/>
                  <a:pt x="461329" y="723293"/>
                </a:cubicBezTo>
                <a:cubicBezTo>
                  <a:pt x="447021" y="723293"/>
                  <a:pt x="435422" y="711702"/>
                  <a:pt x="435422" y="697404"/>
                </a:cubicBezTo>
                <a:cubicBezTo>
                  <a:pt x="435422" y="683106"/>
                  <a:pt x="447021" y="671516"/>
                  <a:pt x="461329" y="671516"/>
                </a:cubicBezTo>
                <a:cubicBezTo>
                  <a:pt x="475631" y="671509"/>
                  <a:pt x="487229" y="683088"/>
                  <a:pt x="487237" y="697379"/>
                </a:cubicBezTo>
                <a:cubicBezTo>
                  <a:pt x="487237" y="697387"/>
                  <a:pt x="487237" y="697395"/>
                  <a:pt x="487237" y="697404"/>
                </a:cubicBezTo>
                <a:close/>
                <a:moveTo>
                  <a:pt x="705466" y="697404"/>
                </a:moveTo>
                <a:cubicBezTo>
                  <a:pt x="705466" y="711702"/>
                  <a:pt x="693867" y="723293"/>
                  <a:pt x="679559" y="723293"/>
                </a:cubicBezTo>
                <a:cubicBezTo>
                  <a:pt x="665250" y="723293"/>
                  <a:pt x="653652" y="711702"/>
                  <a:pt x="653652" y="697404"/>
                </a:cubicBezTo>
                <a:cubicBezTo>
                  <a:pt x="653652" y="683106"/>
                  <a:pt x="665250" y="671516"/>
                  <a:pt x="679559" y="671516"/>
                </a:cubicBezTo>
                <a:cubicBezTo>
                  <a:pt x="693861" y="671509"/>
                  <a:pt x="705458" y="683088"/>
                  <a:pt x="705466" y="697379"/>
                </a:cubicBezTo>
                <a:cubicBezTo>
                  <a:pt x="705466" y="697387"/>
                  <a:pt x="705466" y="697395"/>
                  <a:pt x="705466" y="697404"/>
                </a:cubicBezTo>
                <a:close/>
                <a:moveTo>
                  <a:pt x="923695" y="697404"/>
                </a:moveTo>
                <a:cubicBezTo>
                  <a:pt x="923695" y="711702"/>
                  <a:pt x="912096" y="723293"/>
                  <a:pt x="897788" y="723293"/>
                </a:cubicBezTo>
                <a:cubicBezTo>
                  <a:pt x="883481" y="723293"/>
                  <a:pt x="871881" y="711702"/>
                  <a:pt x="871881" y="697404"/>
                </a:cubicBezTo>
                <a:cubicBezTo>
                  <a:pt x="871881" y="683106"/>
                  <a:pt x="883481" y="671516"/>
                  <a:pt x="897788" y="671516"/>
                </a:cubicBezTo>
                <a:cubicBezTo>
                  <a:pt x="912090" y="671509"/>
                  <a:pt x="923688" y="683088"/>
                  <a:pt x="923695" y="697379"/>
                </a:cubicBezTo>
                <a:cubicBezTo>
                  <a:pt x="923695" y="697387"/>
                  <a:pt x="923695" y="697395"/>
                  <a:pt x="923695" y="697404"/>
                </a:cubicBezTo>
                <a:close/>
                <a:moveTo>
                  <a:pt x="1141923" y="697404"/>
                </a:moveTo>
                <a:cubicBezTo>
                  <a:pt x="1141923" y="711702"/>
                  <a:pt x="1130324" y="723293"/>
                  <a:pt x="1116016" y="723293"/>
                </a:cubicBezTo>
                <a:cubicBezTo>
                  <a:pt x="1101708" y="723293"/>
                  <a:pt x="1090109" y="711702"/>
                  <a:pt x="1090109" y="697404"/>
                </a:cubicBezTo>
                <a:cubicBezTo>
                  <a:pt x="1090109" y="683106"/>
                  <a:pt x="1101708" y="671516"/>
                  <a:pt x="1116016" y="671516"/>
                </a:cubicBezTo>
                <a:cubicBezTo>
                  <a:pt x="1130316" y="671532"/>
                  <a:pt x="1141907" y="683113"/>
                  <a:pt x="1141923" y="697404"/>
                </a:cubicBezTo>
                <a:close/>
              </a:path>
            </a:pathLst>
          </a:custGeom>
          <a:solidFill>
            <a:srgbClr val="FFFFFF"/>
          </a:solidFill>
        </p:spPr>
      </p:sp>
      <p:sp>
        <p:nvSpPr>
          <p:cNvPr id="12" name="Text 9"/>
          <p:cNvSpPr/>
          <p:nvPr/>
        </p:nvSpPr>
        <p:spPr>
          <a:xfrm>
            <a:off x="10703860" y="3916644"/>
            <a:ext cx="1141923" cy="723293"/>
          </a:xfrm>
          <a:prstGeom prst="rect">
            <a:avLst/>
          </a:prstGeom>
          <a:noFill/>
        </p:spPr>
        <p:txBody>
          <a:bodyPr wrap="square" lIns="45720" tIns="91440" rIns="91440" bIns="45720" rtlCol="0" anchor="ctr"/>
          <a:lstStyle/>
          <a:p>
            <a:pPr>
              <a:lnSpc>
                <a:spcPct val="100000"/>
              </a:lnSpc>
            </a:pPr>
            <a:endParaRPr lang="en-US" sz="1600" dirty="0"/>
          </a:p>
        </p:txBody>
      </p:sp>
      <p:pic>
        <p:nvPicPr>
          <p:cNvPr id="13" name="Image 1" descr="https://kimi-img.moonshot.cn/pub/slides/slides_tmpl/image/25-10-11-20:17:34-d3l4lngs8jdo4os5envg.png"/>
          <p:cNvPicPr>
            <a:picLocks noChangeAspect="1"/>
          </p:cNvPicPr>
          <p:nvPr/>
        </p:nvPicPr>
        <p:blipFill>
          <a:blip r:embed="rId3"/>
          <a:stretch>
            <a:fillRect/>
          </a:stretch>
        </p:blipFill>
        <p:spPr>
          <a:xfrm>
            <a:off x="6602095" y="4456430"/>
            <a:ext cx="5589905" cy="2401570"/>
          </a:xfrm>
          <a:prstGeom prst="rect">
            <a:avLst/>
          </a:prstGeom>
        </p:spPr>
      </p:pic>
      <p:pic>
        <p:nvPicPr>
          <p:cNvPr id="14" name="Image 2" descr="https://kimi-img.moonshot.cn/pub/slides/slides_tmpl/image/25-10-11-20:17:34-d3l4lngs8jdo4os5envg.png"/>
          <p:cNvPicPr>
            <a:picLocks noChangeAspect="1"/>
          </p:cNvPicPr>
          <p:nvPr/>
        </p:nvPicPr>
        <p:blipFill>
          <a:blip r:embed="rId3"/>
          <a:stretch>
            <a:fillRect/>
          </a:stretch>
        </p:blipFill>
        <p:spPr>
          <a:xfrm>
            <a:off x="0" y="-40005"/>
            <a:ext cx="5589905" cy="24015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查找函数</a:t>
            </a:r>
            <a:r>
              <a:rPr lang="zh-CN" altLang="en-US" sz="3000" b="1" dirty="0">
                <a:solidFill>
                  <a:srgbClr val="4A90E2"/>
                </a:solidFill>
                <a:cs typeface="Arial" panose="020B0604020202020204" pitchFamily="34" charset="0"/>
              </a:rPr>
              <a:t>细节</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2811727" y="777081"/>
            <a:ext cx="1689100" cy="254000"/>
          </a:xfrm>
          <a:prstGeom prst="rect">
            <a:avLst/>
          </a:prstGeom>
          <a:noFill/>
        </p:spPr>
        <p:txBody>
          <a:bodyPr wrap="square" lIns="0" tIns="0" rIns="0" bIns="0" rtlCol="0" anchor="ctr"/>
          <a:lstStyle/>
          <a:p>
            <a:pPr algn="ctr">
              <a:lnSpc>
                <a:spcPct val="120000"/>
              </a:lnSpc>
            </a:pPr>
            <a:r>
              <a:rPr lang="en-US" altLang="zh-CN" sz="1600" b="1" dirty="0">
                <a:solidFill>
                  <a:srgbClr val="4A90E2"/>
                </a:solidFill>
                <a:cs typeface="Arial" panose="020B0604020202020204" pitchFamily="34" charset="0"/>
              </a:rPr>
              <a:t>B+</a:t>
            </a:r>
            <a:r>
              <a:rPr lang="zh-CN" altLang="en-US" sz="1600" b="1" dirty="0">
                <a:solidFill>
                  <a:srgbClr val="4A90E2"/>
                </a:solidFill>
                <a:cs typeface="Arial" panose="020B0604020202020204" pitchFamily="34" charset="0"/>
              </a:rPr>
              <a:t>树的查找</a:t>
            </a:r>
            <a:endParaRPr lang="en-US" sz="16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tooltip="" action="ppaction://hlinksldjump"/>
              </a:rPr>
              <a:t>查找</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action="ppaction://hlinksldjump"/>
              </a:rPr>
              <a:t>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5477510"/>
          </a:xfrm>
          <a:prstGeom prst="rect">
            <a:avLst/>
          </a:prstGeom>
        </p:spPr>
        <p:txBody>
          <a:bodyPr wrap="square" rtlCol="0">
            <a:spAutoFit/>
          </a:bodyPr>
          <a:p>
            <a:r>
              <a:rPr lang="en-US" altLang="zh-CN" sz="1400"/>
              <a:t>INDEX_TEMPLATE_ARGUMENTS</a:t>
            </a:r>
            <a:endParaRPr lang="en-US" altLang="zh-CN" sz="1400"/>
          </a:p>
          <a:p>
            <a:r>
              <a:rPr lang="en-US" altLang="zh-CN" sz="1400"/>
              <a:t>auto BPLUSTREE_TYPE::GetValue(const KeyType &amp;key, std::vector&lt;ValueType&gt; *result, Transaction *transaction) -&gt; bool {</a:t>
            </a:r>
            <a:endParaRPr lang="en-US" altLang="zh-CN" sz="1400"/>
          </a:p>
          <a:p>
            <a:r>
              <a:rPr lang="en-US" altLang="zh-CN" sz="1400"/>
              <a:t> </a:t>
            </a:r>
            <a:r>
              <a:rPr lang="en-US" altLang="zh-CN" sz="1400">
                <a:highlight>
                  <a:srgbClr val="C0C0C0"/>
                </a:highlight>
              </a:rPr>
              <a:t> // 1. </a:t>
            </a:r>
            <a:r>
              <a:rPr lang="zh-CN" altLang="en-US" sz="1400">
                <a:highlight>
                  <a:srgbClr val="C0C0C0"/>
                </a:highlight>
              </a:rPr>
              <a:t>获取全局锁（整个函数都被保</a:t>
            </a:r>
            <a:r>
              <a:rPr lang="zh-CN" altLang="en-US" sz="1400">
                <a:highlight>
                  <a:srgbClr val="C0C0C0"/>
                </a:highlight>
              </a:rPr>
              <a:t>护）</a:t>
            </a:r>
            <a:endParaRPr lang="zh-CN" altLang="en-US" sz="1400">
              <a:highlight>
                <a:srgbClr val="C0C0C0"/>
              </a:highlight>
            </a:endParaRPr>
          </a:p>
          <a:p>
            <a:r>
              <a:rPr lang="en-US" altLang="zh-CN" sz="1400"/>
              <a:t>  std::lock_guard&lt;std::mutex&gt; lock(root_latch_);</a:t>
            </a:r>
            <a:endParaRPr lang="en-US" altLang="zh-CN" sz="1400"/>
          </a:p>
          <a:p>
            <a:r>
              <a:rPr lang="en-US" altLang="zh-CN" sz="1400"/>
              <a:t> </a:t>
            </a:r>
            <a:r>
              <a:rPr lang="en-US" altLang="zh-CN" sz="1400">
                <a:highlight>
                  <a:srgbClr val="C0C0C0"/>
                </a:highlight>
              </a:rPr>
              <a:t> //2.</a:t>
            </a:r>
            <a:r>
              <a:rPr lang="zh-CN" altLang="en-US" sz="1400">
                <a:highlight>
                  <a:srgbClr val="C0C0C0"/>
                </a:highlight>
              </a:rPr>
              <a:t>判断树是否为空</a:t>
            </a:r>
            <a:endParaRPr lang="en-US" altLang="zh-CN" sz="1400">
              <a:highlight>
                <a:srgbClr val="C0C0C0"/>
              </a:highlight>
            </a:endParaRPr>
          </a:p>
          <a:p>
            <a:r>
              <a:rPr lang="en-US" altLang="zh-CN" sz="1400"/>
              <a:t>  if (IsEmpty()) {    return false;  }</a:t>
            </a:r>
            <a:endParaRPr lang="en-US" altLang="zh-CN" sz="1400"/>
          </a:p>
          <a:p>
            <a:r>
              <a:rPr lang="en-US" altLang="zh-CN" sz="1400"/>
              <a:t> </a:t>
            </a:r>
            <a:r>
              <a:rPr lang="en-US" altLang="zh-CN" sz="1400">
                <a:highlight>
                  <a:srgbClr val="C0C0C0"/>
                </a:highlight>
              </a:rPr>
              <a:t> //3.</a:t>
            </a:r>
            <a:r>
              <a:rPr lang="zh-CN" altLang="en-US" sz="1400">
                <a:highlight>
                  <a:srgbClr val="C0C0C0"/>
                </a:highlight>
              </a:rPr>
              <a:t>查找叶</a:t>
            </a:r>
            <a:r>
              <a:rPr lang="zh-CN" altLang="en-US" sz="1400">
                <a:highlight>
                  <a:srgbClr val="C0C0C0"/>
                </a:highlight>
              </a:rPr>
              <a:t>节点</a:t>
            </a:r>
            <a:endParaRPr lang="en-US" altLang="zh-CN" sz="1400">
              <a:highlight>
                <a:srgbClr val="C0C0C0"/>
              </a:highlight>
            </a:endParaRPr>
          </a:p>
          <a:p>
            <a:r>
              <a:rPr lang="en-US" altLang="zh-CN" sz="1400"/>
              <a:t>  auto *leaf_page = FindLeafPage(key);</a:t>
            </a:r>
            <a:endParaRPr lang="en-US" altLang="zh-CN" sz="1400"/>
          </a:p>
          <a:p>
            <a:r>
              <a:rPr lang="en-US" altLang="zh-CN" sz="1400"/>
              <a:t>  if (leaf_page == nullptr) {    return false;  } //</a:t>
            </a:r>
            <a:r>
              <a:rPr lang="zh-CN" altLang="en-US" sz="1400"/>
              <a:t>叶节点为空，返回</a:t>
            </a:r>
            <a:r>
              <a:rPr lang="en-US" altLang="zh-CN" sz="1400"/>
              <a:t>false</a:t>
            </a:r>
            <a:endParaRPr lang="en-US" altLang="zh-CN" sz="1400"/>
          </a:p>
          <a:p>
            <a:r>
              <a:rPr lang="en-US" altLang="zh-CN" sz="1400"/>
              <a:t>  </a:t>
            </a:r>
            <a:r>
              <a:rPr lang="en-US" altLang="zh-CN" sz="1400">
                <a:highlight>
                  <a:srgbClr val="C0C0C0"/>
                </a:highlight>
              </a:rPr>
              <a:t>//4.</a:t>
            </a:r>
            <a:r>
              <a:rPr lang="zh-CN" altLang="en-US" sz="1400">
                <a:highlight>
                  <a:srgbClr val="C0C0C0"/>
                </a:highlight>
              </a:rPr>
              <a:t>线性搜索查找</a:t>
            </a:r>
            <a:r>
              <a:rPr lang="en-US" altLang="zh-CN" sz="1400">
                <a:highlight>
                  <a:srgbClr val="C0C0C0"/>
                </a:highlight>
              </a:rPr>
              <a:t>key</a:t>
            </a:r>
            <a:endParaRPr lang="en-US" altLang="zh-CN" sz="1400">
              <a:highlight>
                <a:srgbClr val="C0C0C0"/>
              </a:highlight>
            </a:endParaRPr>
          </a:p>
          <a:p>
            <a:r>
              <a:rPr lang="en-US" altLang="zh-CN" sz="1400"/>
              <a:t>  auto *leaf_node = reinterpret_cast&lt;LeafPage *&gt;(leaf_page-&gt;GetData());</a:t>
            </a:r>
            <a:endParaRPr lang="en-US" altLang="zh-CN" sz="1400"/>
          </a:p>
          <a:p>
            <a:r>
              <a:rPr lang="en-US" altLang="zh-CN" sz="1400"/>
              <a:t>  for (int i = 0; i &lt; leaf_node-&gt;GetSize(); i++) {</a:t>
            </a:r>
            <a:endParaRPr lang="en-US" altLang="zh-CN" sz="1400"/>
          </a:p>
          <a:p>
            <a:r>
              <a:rPr lang="en-US" altLang="zh-CN" sz="1400"/>
              <a:t>    if (comparator_(leaf_node-&gt;KeyAt(i), key) == 0) {</a:t>
            </a:r>
            <a:endParaRPr lang="en-US" altLang="zh-CN" sz="1400"/>
          </a:p>
          <a:p>
            <a:r>
              <a:rPr lang="en-US" altLang="zh-CN" sz="1400"/>
              <a:t>      result-&gt;push_back(leaf_node-&gt;ValueAt(i));</a:t>
            </a:r>
            <a:endParaRPr lang="en-US" altLang="zh-CN" sz="1400"/>
          </a:p>
          <a:p>
            <a:r>
              <a:rPr lang="en-US" altLang="zh-CN" sz="1400"/>
              <a:t>      buffer_pool_manager_-&gt;UnpinPage(leaf_page-&gt;GetPageId(), false);//</a:t>
            </a:r>
            <a:r>
              <a:rPr lang="zh-CN" altLang="en-US" sz="1400"/>
              <a:t>释放页面，非脏</a:t>
            </a:r>
            <a:endParaRPr lang="en-US" altLang="zh-CN" sz="1400"/>
          </a:p>
          <a:p>
            <a:r>
              <a:rPr lang="en-US" altLang="zh-CN" sz="1400"/>
              <a:t>      return true;//</a:t>
            </a:r>
            <a:r>
              <a:rPr lang="zh-CN" altLang="en-US" sz="1400"/>
              <a:t>找到返回</a:t>
            </a:r>
            <a:r>
              <a:rPr lang="en-US" altLang="zh-CN" sz="1400"/>
              <a:t>true</a:t>
            </a:r>
            <a:endParaRPr lang="en-US" altLang="zh-CN" sz="1400"/>
          </a:p>
          <a:p>
            <a:r>
              <a:rPr lang="en-US" altLang="zh-CN" sz="1400"/>
              <a:t>    }</a:t>
            </a:r>
            <a:endParaRPr lang="en-US" altLang="zh-CN" sz="1400"/>
          </a:p>
          <a:p>
            <a:r>
              <a:rPr lang="en-US" altLang="zh-CN" sz="1400"/>
              <a:t>  }</a:t>
            </a:r>
            <a:endParaRPr lang="en-US" altLang="zh-CN" sz="1400"/>
          </a:p>
          <a:p>
            <a:r>
              <a:rPr lang="zh-CN" altLang="en-US" sz="1400">
                <a:highlight>
                  <a:srgbClr val="C0C0C0"/>
                </a:highlight>
              </a:rPr>
              <a:t> </a:t>
            </a:r>
            <a:r>
              <a:rPr lang="en-US" altLang="zh-CN" sz="1400">
                <a:highlight>
                  <a:srgbClr val="C0C0C0"/>
                </a:highlight>
              </a:rPr>
              <a:t>//5.</a:t>
            </a:r>
            <a:r>
              <a:rPr lang="zh-CN" altLang="en-US" sz="1400">
                <a:highlight>
                  <a:srgbClr val="C0C0C0"/>
                </a:highlight>
              </a:rPr>
              <a:t>没找到</a:t>
            </a:r>
            <a:r>
              <a:rPr lang="en-US" altLang="zh-CN" sz="1400">
                <a:highlight>
                  <a:srgbClr val="C0C0C0"/>
                </a:highlight>
              </a:rPr>
              <a:t>hey</a:t>
            </a:r>
            <a:endParaRPr lang="en-US" altLang="zh-CN" sz="1400">
              <a:highlight>
                <a:srgbClr val="C0C0C0"/>
              </a:highlight>
            </a:endParaRPr>
          </a:p>
          <a:p>
            <a:r>
              <a:rPr lang="en-US" altLang="zh-CN" sz="1400"/>
              <a:t>  buffer_pool_manager_-&gt;UnpinPage(leaf_page-&gt;GetPageId(), false);//</a:t>
            </a:r>
            <a:r>
              <a:rPr lang="zh-CN" altLang="en-US" sz="1400"/>
              <a:t>释放页面，非脏</a:t>
            </a:r>
            <a:endParaRPr lang="en-US" altLang="zh-CN" sz="1400"/>
          </a:p>
          <a:p>
            <a:r>
              <a:rPr lang="en-US" altLang="zh-CN" sz="1400"/>
              <a:t>  return false;//</a:t>
            </a:r>
            <a:r>
              <a:rPr lang="zh-CN" altLang="en-US" sz="1400"/>
              <a:t>返回</a:t>
            </a:r>
            <a:r>
              <a:rPr lang="en-US" altLang="zh-CN" sz="1400"/>
              <a:t>false</a:t>
            </a:r>
            <a:endParaRPr lang="en-US" altLang="zh-CN" sz="1400"/>
          </a:p>
          <a:p>
            <a:r>
              <a:rPr lang="en-US" altLang="zh-CN" sz="1400"/>
              <a:t>}</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查找，</a:t>
            </a:r>
            <a:r>
              <a:rPr lang="zh-CN" altLang="en-US" sz="3000" b="1" dirty="0">
                <a:solidFill>
                  <a:srgbClr val="4A90E2"/>
                </a:solidFill>
                <a:cs typeface="Arial" panose="020B0604020202020204" pitchFamily="34" charset="0"/>
              </a:rPr>
              <a:t>插入，删除相关</a:t>
            </a:r>
            <a:r>
              <a:rPr lang="zh-CN" altLang="en-US" sz="3000" b="1" dirty="0">
                <a:solidFill>
                  <a:srgbClr val="4A90E2"/>
                </a:solidFill>
              </a:rPr>
              <a:t>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838060" y="777081"/>
            <a:ext cx="5033433" cy="254000"/>
          </a:xfrm>
          <a:prstGeom prst="rect">
            <a:avLst/>
          </a:prstGeom>
          <a:noFill/>
        </p:spPr>
        <p:txBody>
          <a:bodyPr wrap="square" lIns="0" tIns="0" rIns="0" bIns="0" rtlCol="0" anchor="ctr"/>
          <a:lstStyle/>
          <a:p>
            <a:pPr algn="ctr">
              <a:lnSpc>
                <a:spcPct val="120000"/>
              </a:lnSpc>
            </a:pPr>
            <a:r>
              <a:rPr lang="en-US" altLang="zh-CN" sz="1600" b="1" dirty="0">
                <a:solidFill>
                  <a:srgbClr val="4A90E2"/>
                </a:solidFill>
                <a:cs typeface="Arial" panose="020B0604020202020204" pitchFamily="34" charset="0"/>
              </a:rPr>
              <a:t>auto FindLeafPage(const KeyType &amp;key) -&gt; Page *;</a:t>
            </a:r>
            <a:endParaRPr lang="en-US" sz="1600" dirty="0"/>
          </a:p>
        </p:txBody>
      </p:sp>
      <p:sp>
        <p:nvSpPr>
          <p:cNvPr id="7" name="文本框 6"/>
          <p:cNvSpPr txBox="1"/>
          <p:nvPr userDrawn="1"/>
        </p:nvSpPr>
        <p:spPr>
          <a:xfrm>
            <a:off x="952500" y="1341755"/>
            <a:ext cx="6858000" cy="5077460"/>
          </a:xfrm>
          <a:prstGeom prst="rect">
            <a:avLst/>
          </a:prstGeom>
        </p:spPr>
        <p:txBody>
          <a:bodyPr wrap="square" rtlCol="0">
            <a:spAutoFit/>
          </a:bodyPr>
          <a:p>
            <a:r>
              <a:rPr lang="en-US" altLang="zh-CN" sz="1200"/>
              <a:t>INDEX_TEMPLATE_ARGUMENTS</a:t>
            </a:r>
            <a:endParaRPr lang="en-US" altLang="zh-CN" sz="1200"/>
          </a:p>
          <a:p>
            <a:r>
              <a:rPr lang="en-US" altLang="zh-CN" sz="1200"/>
              <a:t>auto BPLUSTREE_TYPE::FindLeafPage(const KeyType &amp;key) -&gt; Page * {</a:t>
            </a:r>
            <a:endParaRPr lang="en-US" altLang="zh-CN" sz="1200"/>
          </a:p>
          <a:p>
            <a:r>
              <a:rPr lang="en-US" altLang="zh-CN" sz="1200">
                <a:highlight>
                  <a:srgbClr val="C0C0C0"/>
                </a:highlight>
              </a:rPr>
              <a:t>   //1.</a:t>
            </a:r>
            <a:r>
              <a:rPr lang="zh-CN" altLang="en-US" sz="1200">
                <a:highlight>
                  <a:srgbClr val="C0C0C0"/>
                </a:highlight>
              </a:rPr>
              <a:t>获取根节点</a:t>
            </a:r>
            <a:endParaRPr lang="en-US" altLang="zh-CN" sz="1200">
              <a:highlight>
                <a:srgbClr val="C0C0C0"/>
              </a:highlight>
            </a:endParaRPr>
          </a:p>
          <a:p>
            <a:r>
              <a:rPr lang="en-US" altLang="zh-CN" sz="1200"/>
              <a:t>  Page *page = buffer_pool_manager_-&gt;FetchPage(root_page_id_);</a:t>
            </a:r>
            <a:endParaRPr lang="en-US" altLang="zh-CN" sz="1200"/>
          </a:p>
          <a:p>
            <a:r>
              <a:rPr lang="en-US" altLang="zh-CN" sz="1200"/>
              <a:t>    auto *node = reinterpret_cast&lt;BPlusTreePage *&gt;(page-&gt;GetData());</a:t>
            </a:r>
            <a:endParaRPr lang="en-US" altLang="zh-CN" sz="1200"/>
          </a:p>
          <a:p>
            <a:r>
              <a:rPr lang="en-US" altLang="zh-CN" sz="1200">
                <a:highlight>
                  <a:srgbClr val="C0C0C0"/>
                </a:highlight>
              </a:rPr>
              <a:t>  //2. </a:t>
            </a:r>
            <a:r>
              <a:rPr lang="zh-CN" altLang="en-US" sz="1200">
                <a:highlight>
                  <a:srgbClr val="C0C0C0"/>
                </a:highlight>
              </a:rPr>
              <a:t>逐层向下查找，直到叶子节点</a:t>
            </a:r>
            <a:endParaRPr lang="zh-CN" altLang="en-US" sz="1200">
              <a:highlight>
                <a:srgbClr val="C0C0C0"/>
              </a:highlight>
            </a:endParaRPr>
          </a:p>
          <a:p>
            <a:r>
              <a:rPr lang="en-US" altLang="zh-CN" sz="1200"/>
              <a:t>  while (!node-&gt;IsLeafPage()) {</a:t>
            </a:r>
            <a:endParaRPr lang="en-US" altLang="zh-CN" sz="1200"/>
          </a:p>
          <a:p>
            <a:r>
              <a:rPr lang="en-US" altLang="zh-CN" sz="1200"/>
              <a:t>    auto *internal_node = reinterpret_cast&lt;InternalPage *&gt;(node);</a:t>
            </a:r>
            <a:endParaRPr lang="en-US" altLang="zh-CN" sz="1200"/>
          </a:p>
          <a:p>
            <a:r>
              <a:rPr lang="en-US" altLang="zh-CN" sz="1200"/>
              <a:t>        // </a:t>
            </a:r>
            <a:r>
              <a:rPr lang="zh-CN" altLang="en-US" sz="1200"/>
              <a:t>查找合适的子节点</a:t>
            </a:r>
            <a:endParaRPr lang="zh-CN" altLang="en-US" sz="1200"/>
          </a:p>
          <a:p>
            <a:r>
              <a:rPr lang="en-US" altLang="zh-CN" sz="1200"/>
              <a:t>    int index = 1;</a:t>
            </a:r>
            <a:endParaRPr lang="en-US" altLang="zh-CN" sz="1200"/>
          </a:p>
          <a:p>
            <a:r>
              <a:rPr lang="en-US" altLang="zh-CN" sz="1200"/>
              <a:t>    while (index &lt; internal_node-&gt;GetSize() &amp;&amp; comparator_(internal_node-&gt;KeyAt(index), key) &lt;= 0) {      index++;    }</a:t>
            </a:r>
            <a:endParaRPr lang="en-US" altLang="zh-CN" sz="1200"/>
          </a:p>
          <a:p>
            <a:r>
              <a:rPr lang="en-US" altLang="zh-CN" sz="1200"/>
              <a:t>     //</a:t>
            </a:r>
            <a:r>
              <a:rPr lang="zh-CN" altLang="en-US" sz="1200"/>
              <a:t>获取子页面</a:t>
            </a:r>
            <a:endParaRPr lang="en-US" altLang="zh-CN" sz="1200"/>
          </a:p>
          <a:p>
            <a:r>
              <a:rPr lang="en-US" altLang="zh-CN" sz="1200"/>
              <a:t>    page_id_t child_page_id = internal_node-&gt;ValueAt(index - 1);</a:t>
            </a:r>
            <a:endParaRPr lang="en-US" altLang="zh-CN" sz="1200"/>
          </a:p>
          <a:p>
            <a:r>
              <a:rPr lang="en-US" altLang="zh-CN" sz="1200"/>
              <a:t>    Page *child_page = buffer_pool_manager_-&gt;FetchPage(child_page_id);</a:t>
            </a:r>
            <a:endParaRPr lang="en-US" altLang="zh-CN" sz="1200"/>
          </a:p>
          <a:p>
            <a:r>
              <a:rPr lang="en-US" altLang="zh-CN" sz="1200"/>
              <a:t>    if (child_page == nullptr) {</a:t>
            </a:r>
            <a:endParaRPr lang="en-US" altLang="zh-CN" sz="1200"/>
          </a:p>
          <a:p>
            <a:r>
              <a:rPr lang="en-US" altLang="zh-CN" sz="1200"/>
              <a:t>      buffer_pool_manager_-&gt;UnpinPage(page-&gt;GetPageId(), false);</a:t>
            </a:r>
            <a:endParaRPr lang="en-US" altLang="zh-CN" sz="1200"/>
          </a:p>
          <a:p>
            <a:r>
              <a:rPr lang="en-US" altLang="zh-CN" sz="1200"/>
              <a:t>      return nullptr;</a:t>
            </a:r>
            <a:endParaRPr lang="en-US" altLang="zh-CN" sz="1200"/>
          </a:p>
          <a:p>
            <a:r>
              <a:rPr lang="en-US" altLang="zh-CN" sz="1200"/>
              <a:t>    }</a:t>
            </a:r>
            <a:endParaRPr lang="en-US" altLang="zh-CN" sz="1200"/>
          </a:p>
          <a:p>
            <a:r>
              <a:rPr lang="en-US" altLang="zh-CN" sz="1200"/>
              <a:t>    // unpin</a:t>
            </a:r>
            <a:r>
              <a:rPr lang="zh-CN" altLang="en-US" sz="1200"/>
              <a:t>当前页面</a:t>
            </a:r>
            <a:endParaRPr lang="zh-CN" altLang="en-US" sz="1200"/>
          </a:p>
          <a:p>
            <a:r>
              <a:rPr lang="en-US" altLang="zh-CN" sz="1200"/>
              <a:t>    buffer_pool_manager_-&gt;UnpinPage(page-&gt;GetPageId(), false);</a:t>
            </a:r>
            <a:endParaRPr lang="en-US" altLang="zh-CN" sz="1200"/>
          </a:p>
          <a:p>
            <a:r>
              <a:rPr lang="en-US" altLang="zh-CN" sz="1200"/>
              <a:t>    // </a:t>
            </a:r>
            <a:r>
              <a:rPr lang="zh-CN" altLang="en-US" sz="1200"/>
              <a:t>移动到子页面</a:t>
            </a:r>
            <a:endParaRPr lang="zh-CN" altLang="en-US" sz="1200"/>
          </a:p>
          <a:p>
            <a:r>
              <a:rPr lang="en-US" altLang="zh-CN" sz="1200"/>
              <a:t>    page = child_page;</a:t>
            </a:r>
            <a:endParaRPr lang="en-US" altLang="zh-CN" sz="1200"/>
          </a:p>
          <a:p>
            <a:r>
              <a:rPr lang="en-US" altLang="zh-CN" sz="1200"/>
              <a:t>    node = reinterpret_cast&lt;BPlusTreePage *&gt;(page-&gt;GetData());</a:t>
            </a:r>
            <a:endParaRPr lang="en-US" altLang="zh-CN" sz="1200"/>
          </a:p>
          <a:p>
            <a:r>
              <a:rPr lang="en-US" altLang="zh-CN" sz="1200"/>
              <a:t>  }</a:t>
            </a:r>
            <a:endParaRPr lang="en-US" altLang="zh-CN" sz="1200"/>
          </a:p>
          <a:p>
            <a:r>
              <a:rPr lang="en-US" altLang="zh-CN" sz="1200">
                <a:highlight>
                  <a:srgbClr val="C0C0C0"/>
                </a:highlight>
              </a:rPr>
              <a:t>  //3.</a:t>
            </a:r>
            <a:r>
              <a:rPr lang="zh-CN" altLang="en-US" sz="1200">
                <a:highlight>
                  <a:srgbClr val="C0C0C0"/>
                </a:highlight>
              </a:rPr>
              <a:t>返回叶子页面，调用者负责</a:t>
            </a:r>
            <a:r>
              <a:rPr lang="en-US" altLang="zh-CN" sz="1200">
                <a:highlight>
                  <a:srgbClr val="C0C0C0"/>
                </a:highlight>
              </a:rPr>
              <a:t>unpin</a:t>
            </a:r>
            <a:endParaRPr lang="en-US" altLang="zh-CN" sz="1200">
              <a:highlight>
                <a:srgbClr val="C0C0C0"/>
              </a:highlight>
            </a:endParaRPr>
          </a:p>
          <a:p>
            <a:r>
              <a:rPr lang="en-US" altLang="zh-CN" sz="1200"/>
              <a:t>  return page;  // }</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插入函数</a:t>
            </a:r>
            <a:r>
              <a:rPr lang="zh-CN" altLang="en-US" sz="3000" b="1" dirty="0">
                <a:solidFill>
                  <a:srgbClr val="4A90E2"/>
                </a:solidFill>
                <a:cs typeface="Arial" panose="020B0604020202020204" pitchFamily="34" charset="0"/>
              </a:rPr>
              <a:t>细节</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2811727" y="777081"/>
            <a:ext cx="1689100" cy="254000"/>
          </a:xfrm>
          <a:prstGeom prst="rect">
            <a:avLst/>
          </a:prstGeom>
          <a:noFill/>
        </p:spPr>
        <p:txBody>
          <a:bodyPr wrap="square" lIns="0" tIns="0" rIns="0" bIns="0" rtlCol="0" anchor="ctr"/>
          <a:lstStyle/>
          <a:p>
            <a:pPr algn="ctr">
              <a:lnSpc>
                <a:spcPct val="120000"/>
              </a:lnSpc>
            </a:pPr>
            <a:r>
              <a:rPr lang="en-US" altLang="zh-CN" sz="1600" b="1" dirty="0">
                <a:solidFill>
                  <a:srgbClr val="4A90E2"/>
                </a:solidFill>
                <a:cs typeface="Arial" panose="020B0604020202020204" pitchFamily="34" charset="0"/>
              </a:rPr>
              <a:t>B+</a:t>
            </a:r>
            <a:r>
              <a:rPr lang="zh-CN" altLang="en-US" sz="1600" b="1" dirty="0">
                <a:solidFill>
                  <a:srgbClr val="4A90E2"/>
                </a:solidFill>
                <a:cs typeface="Arial" panose="020B0604020202020204" pitchFamily="34" charset="0"/>
              </a:rPr>
              <a:t>树的插入</a:t>
            </a:r>
            <a:endParaRPr lang="en-US" sz="16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action="ppaction://hlinksldjump"/>
              </a:rPr>
              <a:t>插入算法原理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相关</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3" action="ppaction://hlinksldjump"/>
              </a:rPr>
              <a:t>辅助函数</a:t>
            </a:r>
            <a:r>
              <a:rPr lang="en-US" altLang="zh-CN"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3" action="ppaction://hlinksldjump"/>
              </a:rPr>
              <a:t>FindLeafPage</a:t>
            </a:r>
            <a:endParaRPr 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3107690"/>
          </a:xfrm>
          <a:prstGeom prst="rect">
            <a:avLst/>
          </a:prstGeom>
        </p:spPr>
        <p:txBody>
          <a:bodyPr wrap="square" rtlCol="0">
            <a:spAutoFit/>
          </a:bodyPr>
          <a:p>
            <a:r>
              <a:rPr lang="en-US" altLang="zh-CN" sz="1400"/>
              <a:t>INDEX_TEMPLATE_ARGUMENTS</a:t>
            </a:r>
            <a:endParaRPr lang="en-US" altLang="zh-CN" sz="1400"/>
          </a:p>
          <a:p>
            <a:r>
              <a:rPr lang="en-US" altLang="zh-CN" sz="1400"/>
              <a:t>auto BPLUSTREE_TYPE::Insert(const KeyType &amp;key, const ValueType &amp;value, Transaction *transaction) -&gt; bool {</a:t>
            </a:r>
            <a:endParaRPr lang="en-US" altLang="zh-CN" sz="1400"/>
          </a:p>
          <a:p>
            <a:r>
              <a:rPr lang="en-US" altLang="zh-CN" sz="1400">
                <a:highlight>
                  <a:srgbClr val="C0C0C0"/>
                </a:highlight>
              </a:rPr>
              <a:t>  // 1. </a:t>
            </a:r>
            <a:r>
              <a:rPr lang="zh-CN" altLang="en-US" sz="1400">
                <a:highlight>
                  <a:srgbClr val="C0C0C0"/>
                </a:highlight>
              </a:rPr>
              <a:t>获取全局锁</a:t>
            </a:r>
            <a:endParaRPr lang="zh-CN" altLang="en-US" sz="1400">
              <a:highlight>
                <a:srgbClr val="C0C0C0"/>
              </a:highlight>
            </a:endParaRPr>
          </a:p>
          <a:p>
            <a:r>
              <a:rPr lang="en-US" altLang="zh-CN" sz="1400"/>
              <a:t>  std::lock_guard&lt;std::mutex&gt; lock(root_latch_);</a:t>
            </a:r>
            <a:endParaRPr lang="en-US" altLang="zh-CN" sz="1400"/>
          </a:p>
          <a:p>
            <a:r>
              <a:rPr lang="en-US" altLang="zh-CN" sz="1400">
                <a:highlight>
                  <a:srgbClr val="C0C0C0"/>
                </a:highlight>
              </a:rPr>
              <a:t>  //2.</a:t>
            </a:r>
            <a:r>
              <a:rPr lang="zh-CN" altLang="en-US" sz="1400">
                <a:highlight>
                  <a:srgbClr val="C0C0C0"/>
                </a:highlight>
              </a:rPr>
              <a:t>判断树是否为空</a:t>
            </a:r>
            <a:endParaRPr lang="en-US" altLang="zh-CN" sz="1400">
              <a:highlight>
                <a:srgbClr val="C0C0C0"/>
              </a:highlight>
            </a:endParaRPr>
          </a:p>
          <a:p>
            <a:r>
              <a:rPr lang="en-US" altLang="zh-CN" sz="1400"/>
              <a:t>  if (IsEmpty()) {</a:t>
            </a:r>
            <a:endParaRPr lang="en-US" altLang="zh-CN" sz="1400"/>
          </a:p>
          <a:p>
            <a:r>
              <a:rPr lang="en-US" altLang="zh-CN" sz="1400"/>
              <a:t>    bool result = StartNewTree(key, value);//</a:t>
            </a:r>
            <a:r>
              <a:rPr lang="zh-CN" altLang="en-US" sz="1400"/>
              <a:t>空则创建树，并插入</a:t>
            </a:r>
            <a:endParaRPr lang="en-US" altLang="zh-CN" sz="1400"/>
          </a:p>
          <a:p>
            <a:r>
              <a:rPr lang="en-US" altLang="zh-CN" sz="1400"/>
              <a:t>    return result;</a:t>
            </a:r>
            <a:endParaRPr lang="en-US" altLang="zh-CN" sz="1400"/>
          </a:p>
          <a:p>
            <a:r>
              <a:rPr lang="en-US" altLang="zh-CN" sz="1400"/>
              <a:t>  }</a:t>
            </a:r>
            <a:endParaRPr lang="en-US" altLang="zh-CN" sz="1400"/>
          </a:p>
          <a:p>
            <a:r>
              <a:rPr lang="en-US" altLang="zh-CN" sz="1400">
                <a:highlight>
                  <a:srgbClr val="C0C0C0"/>
                </a:highlight>
              </a:rPr>
              <a:t>  //3.</a:t>
            </a:r>
            <a:r>
              <a:rPr lang="zh-CN" altLang="en-US" sz="1400">
                <a:highlight>
                  <a:srgbClr val="C0C0C0"/>
                </a:highlight>
              </a:rPr>
              <a:t>插入叶节点</a:t>
            </a:r>
            <a:endParaRPr lang="en-US" altLang="zh-CN" sz="1400">
              <a:highlight>
                <a:srgbClr val="C0C0C0"/>
              </a:highlight>
            </a:endParaRPr>
          </a:p>
          <a:p>
            <a:r>
              <a:rPr lang="en-US" altLang="zh-CN" sz="1400"/>
              <a:t>  bool result = InsertIntoLeaf(key, value, transaction);</a:t>
            </a:r>
            <a:endParaRPr lang="en-US" altLang="zh-CN" sz="1400"/>
          </a:p>
          <a:p>
            <a:r>
              <a:rPr lang="en-US" altLang="zh-CN" sz="1400"/>
              <a:t>  return result;</a:t>
            </a:r>
            <a:endParaRPr lang="en-US" altLang="zh-CN" sz="1400"/>
          </a:p>
          <a:p>
            <a:r>
              <a:rPr lang="en-US" altLang="zh-CN" sz="1400"/>
              <a:t>}</a:t>
            </a:r>
            <a:endParaRPr lang="zh-CN" altLang="en-US" sz="14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auto InsertIntoLeaf</a:t>
            </a:r>
            <a:endParaRPr lang="en-US" altLang="zh-CN" sz="1200" b="1" dirty="0">
              <a:solidFill>
                <a:srgbClr val="4A90E2"/>
              </a:solidFill>
              <a:cs typeface="Arial" panose="020B0604020202020204" pitchFamily="34" charset="0"/>
            </a:endParaRPr>
          </a:p>
          <a:p>
            <a:pPr algn="ctr">
              <a:lnSpc>
                <a:spcPct val="120000"/>
              </a:lnSpc>
            </a:pPr>
            <a:r>
              <a:rPr lang="en-US" altLang="zh-CN" sz="1200" b="1" dirty="0">
                <a:solidFill>
                  <a:srgbClr val="4A90E2"/>
                </a:solidFill>
                <a:cs typeface="Arial" panose="020B0604020202020204" pitchFamily="34" charset="0"/>
              </a:rPr>
              <a:t>(const KeyType &amp;key, const ValueType &amp;value, Transaction *transaction) -&gt; bool</a:t>
            </a:r>
            <a:r>
              <a:rPr lang="zh-CN" altLang="en-US" sz="1200" b="1" dirty="0">
                <a:solidFill>
                  <a:srgbClr val="4A90E2"/>
                </a:solidFill>
                <a:cs typeface="Arial" panose="020B0604020202020204" pitchFamily="34" charset="0"/>
              </a:rPr>
              <a:t>；</a:t>
            </a:r>
            <a:endParaRPr lang="en-US" sz="12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action="ppaction://hlinksldjump"/>
              </a:rPr>
              <a:t>插入算法原理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4892675"/>
          </a:xfrm>
          <a:prstGeom prst="rect">
            <a:avLst/>
          </a:prstGeom>
        </p:spPr>
        <p:txBody>
          <a:bodyPr wrap="square" rtlCol="0">
            <a:spAutoFit/>
          </a:bodyPr>
          <a:p>
            <a:r>
              <a:rPr lang="en-US" altLang="zh-CN" sz="1200"/>
              <a:t>INDEX_TEMPLATE_ARGUMENTS</a:t>
            </a:r>
            <a:endParaRPr lang="en-US" altLang="zh-CN" sz="1200"/>
          </a:p>
          <a:p>
            <a:r>
              <a:rPr lang="en-US" altLang="zh-CN" sz="1200"/>
              <a:t>auto BPLUSTREE_TYPE::InsertIntoLeaf(const KeyType &amp;key, const ValueType &amp;value, Transaction *transaction) -&gt; bool {</a:t>
            </a:r>
            <a:endParaRPr lang="en-US" altLang="zh-CN" sz="1200"/>
          </a:p>
          <a:p>
            <a:r>
              <a:rPr lang="en-US" altLang="zh-CN" sz="1200">
                <a:highlight>
                  <a:srgbClr val="C0C0C0"/>
                </a:highlight>
              </a:rPr>
              <a:t>  //1.</a:t>
            </a:r>
            <a:r>
              <a:rPr lang="zh-CN" altLang="en-US" sz="1200">
                <a:highlight>
                  <a:srgbClr val="C0C0C0"/>
                </a:highlight>
              </a:rPr>
              <a:t>查找要插入的叶节点</a:t>
            </a:r>
            <a:endParaRPr lang="en-US" altLang="zh-CN" sz="1200">
              <a:highlight>
                <a:srgbClr val="C0C0C0"/>
              </a:highlight>
            </a:endParaRPr>
          </a:p>
          <a:p>
            <a:r>
              <a:rPr lang="en-US" altLang="zh-CN" sz="1200"/>
              <a:t>  Page *leaf_page =</a:t>
            </a:r>
            <a:r>
              <a:rPr lang="en-US" altLang="zh-CN" sz="1200" b="1" u="sng"/>
              <a:t> FindLeafPage</a:t>
            </a:r>
            <a:r>
              <a:rPr lang="en-US" altLang="zh-CN" sz="1200"/>
              <a:t>(key);</a:t>
            </a:r>
            <a:endParaRPr lang="en-US" altLang="zh-CN" sz="1200"/>
          </a:p>
          <a:p>
            <a:r>
              <a:rPr lang="en-US" altLang="zh-CN" sz="1200"/>
              <a:t>  if (leaf_page == nullptr) {</a:t>
            </a:r>
            <a:endParaRPr lang="en-US" altLang="zh-CN" sz="1200"/>
          </a:p>
          <a:p>
            <a:r>
              <a:rPr lang="en-US" altLang="zh-CN" sz="1200"/>
              <a:t>    return false;</a:t>
            </a:r>
            <a:endParaRPr lang="en-US" altLang="zh-CN" sz="1200"/>
          </a:p>
          <a:p>
            <a:r>
              <a:rPr lang="en-US" altLang="zh-CN" sz="1200"/>
              <a:t>  }</a:t>
            </a:r>
            <a:endParaRPr lang="en-US" altLang="zh-CN" sz="1200"/>
          </a:p>
          <a:p>
            <a:r>
              <a:rPr lang="en-US" altLang="zh-CN" sz="1200"/>
              <a:t>  auto *leaf_node = reinterpret_cast&lt;LeafPage *&gt;(leaf_page-&gt;GetData());</a:t>
            </a:r>
            <a:endParaRPr lang="en-US" altLang="zh-CN" sz="1200"/>
          </a:p>
          <a:p>
            <a:r>
              <a:rPr lang="en-US" altLang="zh-CN" sz="1200"/>
              <a:t>  </a:t>
            </a:r>
            <a:endParaRPr lang="en-US" altLang="zh-CN" sz="1200"/>
          </a:p>
          <a:p>
            <a:r>
              <a:rPr lang="en-US" altLang="zh-CN" sz="1200">
                <a:highlight>
                  <a:srgbClr val="C0C0C0"/>
                </a:highlight>
              </a:rPr>
              <a:t>  // 2.</a:t>
            </a:r>
            <a:r>
              <a:rPr lang="zh-CN" altLang="en-US" sz="1200">
                <a:highlight>
                  <a:srgbClr val="C0C0C0"/>
                </a:highlight>
              </a:rPr>
              <a:t>检查重复键</a:t>
            </a:r>
            <a:endParaRPr lang="zh-CN" altLang="en-US" sz="1200">
              <a:highlight>
                <a:srgbClr val="C0C0C0"/>
              </a:highlight>
            </a:endParaRPr>
          </a:p>
          <a:p>
            <a:r>
              <a:rPr lang="en-US" altLang="zh-CN" sz="1200"/>
              <a:t>  for (int i = 0; i &lt; leaf_node-&gt;GetSize(); i++) {</a:t>
            </a:r>
            <a:endParaRPr lang="en-US" altLang="zh-CN" sz="1200"/>
          </a:p>
          <a:p>
            <a:r>
              <a:rPr lang="en-US" altLang="zh-CN" sz="1200"/>
              <a:t>    if (comparator_(leaf_node-&gt;KeyAt(i), key) == 0) {</a:t>
            </a:r>
            <a:endParaRPr lang="en-US" altLang="zh-CN" sz="1200"/>
          </a:p>
          <a:p>
            <a:r>
              <a:rPr lang="en-US" altLang="zh-CN" sz="1200"/>
              <a:t>      buffer_pool_manager_-&gt;UnpinPage(leaf_page-&gt;GetPageId(), false);</a:t>
            </a:r>
            <a:endParaRPr lang="en-US" altLang="zh-CN" sz="1200"/>
          </a:p>
          <a:p>
            <a:r>
              <a:rPr lang="en-US" altLang="zh-CN" sz="1200"/>
              <a:t>      return false;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en-US" altLang="zh-CN" sz="1200"/>
          </a:p>
          <a:p>
            <a:r>
              <a:rPr lang="en-US" altLang="zh-CN" sz="1200">
                <a:highlight>
                  <a:srgbClr val="C0C0C0"/>
                </a:highlight>
              </a:rPr>
              <a:t>  // 3.</a:t>
            </a:r>
            <a:r>
              <a:rPr lang="zh-CN" altLang="en-US" sz="1200">
                <a:highlight>
                  <a:srgbClr val="C0C0C0"/>
                </a:highlight>
              </a:rPr>
              <a:t>插入键值对</a:t>
            </a:r>
            <a:endParaRPr lang="zh-CN" altLang="en-US" sz="1200">
              <a:highlight>
                <a:srgbClr val="C0C0C0"/>
              </a:highlight>
            </a:endParaRPr>
          </a:p>
          <a:p>
            <a:r>
              <a:rPr lang="en-US" altLang="zh-CN" sz="1200"/>
              <a:t>  bool success = leaf_node-&gt;Insert(key, value, comparator_);</a:t>
            </a:r>
            <a:endParaRPr lang="en-US" altLang="zh-CN" sz="1200"/>
          </a:p>
          <a:p>
            <a:r>
              <a:rPr lang="en-US" altLang="zh-CN" sz="1200"/>
              <a:t>  if (!success) {</a:t>
            </a:r>
            <a:endParaRPr lang="en-US" altLang="zh-CN" sz="1200"/>
          </a:p>
          <a:p>
            <a:r>
              <a:rPr lang="en-US" altLang="zh-CN" sz="1200"/>
              <a:t>    buffer_pool_manager_-&gt;UnpinPage(leaf_page-&gt;GetPageId(), false);</a:t>
            </a:r>
            <a:endParaRPr lang="en-US" altLang="zh-CN" sz="1200"/>
          </a:p>
          <a:p>
            <a:r>
              <a:rPr lang="en-US" altLang="zh-CN" sz="1200"/>
              <a:t>    return false;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auto InsertIntoLeaf</a:t>
            </a:r>
            <a:endParaRPr lang="en-US" altLang="zh-CN" sz="1200" b="1" dirty="0">
              <a:solidFill>
                <a:srgbClr val="4A90E2"/>
              </a:solidFill>
              <a:cs typeface="Arial" panose="020B0604020202020204" pitchFamily="34" charset="0"/>
            </a:endParaRPr>
          </a:p>
          <a:p>
            <a:pPr algn="ctr">
              <a:lnSpc>
                <a:spcPct val="120000"/>
              </a:lnSpc>
            </a:pPr>
            <a:r>
              <a:rPr lang="en-US" altLang="zh-CN" sz="1200" b="1" dirty="0">
                <a:solidFill>
                  <a:srgbClr val="4A90E2"/>
                </a:solidFill>
                <a:cs typeface="Arial" panose="020B0604020202020204" pitchFamily="34" charset="0"/>
              </a:rPr>
              <a:t>(const KeyType &amp;key, const ValueType &amp;value, Transaction *transaction) -&gt; bool</a:t>
            </a:r>
            <a:r>
              <a:rPr lang="zh-CN" altLang="en-US" sz="1200" b="1" dirty="0">
                <a:solidFill>
                  <a:srgbClr val="4A90E2"/>
                </a:solidFill>
                <a:cs typeface="Arial" panose="020B0604020202020204" pitchFamily="34" charset="0"/>
              </a:rPr>
              <a:t>；</a:t>
            </a:r>
            <a:endParaRPr lang="en-US" sz="1200" dirty="0"/>
          </a:p>
        </p:txBody>
      </p:sp>
      <p:sp>
        <p:nvSpPr>
          <p:cNvPr id="7" name="文本框 6"/>
          <p:cNvSpPr txBox="1"/>
          <p:nvPr userDrawn="1"/>
        </p:nvSpPr>
        <p:spPr>
          <a:xfrm>
            <a:off x="914400" y="1379855"/>
            <a:ext cx="6858000" cy="3230245"/>
          </a:xfrm>
          <a:prstGeom prst="rect">
            <a:avLst/>
          </a:prstGeom>
        </p:spPr>
        <p:txBody>
          <a:bodyPr wrap="square" rtlCol="0">
            <a:spAutoFit/>
          </a:bodyPr>
          <a:p>
            <a:r>
              <a:rPr lang="en-US" altLang="zh-CN" sz="1200">
                <a:highlight>
                  <a:srgbClr val="C0C0C0"/>
                </a:highlight>
              </a:rPr>
              <a:t> // 4.</a:t>
            </a:r>
            <a:r>
              <a:rPr lang="zh-CN" altLang="en-US" sz="1200">
                <a:highlight>
                  <a:srgbClr val="C0C0C0"/>
                </a:highlight>
              </a:rPr>
              <a:t>检查是否需要分裂</a:t>
            </a:r>
            <a:endParaRPr lang="zh-CN" altLang="en-US" sz="1200">
              <a:highlight>
                <a:srgbClr val="C0C0C0"/>
              </a:highlight>
            </a:endParaRPr>
          </a:p>
          <a:p>
            <a:r>
              <a:rPr lang="en-US" altLang="zh-CN" sz="1200"/>
              <a:t>  if (leaf_node-&gt;GetSize() &gt;= leaf_max_size_) {</a:t>
            </a:r>
            <a:endParaRPr lang="en-US" altLang="zh-CN" sz="1200"/>
          </a:p>
          <a:p>
            <a:r>
              <a:rPr lang="en-US" altLang="zh-CN" sz="1200"/>
              <a:t>    auto [new_leaf, split_key] = </a:t>
            </a:r>
            <a:r>
              <a:rPr lang="en-US" altLang="zh-CN" sz="1200" b="1" u="sng"/>
              <a:t>Split</a:t>
            </a:r>
            <a:r>
              <a:rPr lang="en-US" altLang="zh-CN" sz="1200"/>
              <a:t>(leaf_node);  // </a:t>
            </a:r>
            <a:r>
              <a:rPr lang="zh-CN" altLang="en-US" sz="1200"/>
              <a:t>使用结构化绑定</a:t>
            </a:r>
            <a:endParaRPr lang="en-US" altLang="zh-CN" sz="1200"/>
          </a:p>
          <a:p>
            <a:r>
              <a:rPr lang="en-US" altLang="zh-CN" sz="1200"/>
              <a:t>    // </a:t>
            </a:r>
            <a:r>
              <a:rPr lang="zh-CN" altLang="en-US" sz="1200"/>
              <a:t>检查</a:t>
            </a:r>
            <a:r>
              <a:rPr lang="en-US" altLang="zh-CN" sz="1200"/>
              <a:t> Split </a:t>
            </a:r>
            <a:r>
              <a:rPr lang="zh-CN" altLang="en-US" sz="1200"/>
              <a:t>是否成功</a:t>
            </a:r>
            <a:endParaRPr lang="zh-CN" altLang="en-US" sz="1200"/>
          </a:p>
          <a:p>
            <a:r>
              <a:rPr lang="en-US" altLang="zh-CN" sz="1200"/>
              <a:t>    if (new_leaf == nullptr) {</a:t>
            </a:r>
            <a:endParaRPr lang="en-US" altLang="zh-CN" sz="1200"/>
          </a:p>
          <a:p>
            <a:r>
              <a:rPr lang="en-US" altLang="zh-CN" sz="1200"/>
              <a:t>      buffer_pool_manager_-&gt;UnpinPage(leaf_page-&gt;GetPageId(), true);</a:t>
            </a:r>
            <a:endParaRPr lang="en-US" altLang="zh-CN" sz="1200"/>
          </a:p>
          <a:p>
            <a:r>
              <a:rPr lang="en-US" altLang="zh-CN" sz="1200"/>
              <a:t>      return false;  // </a:t>
            </a:r>
            <a:r>
              <a:rPr lang="zh-CN" altLang="en-US" sz="1200"/>
              <a:t>分裂失败</a:t>
            </a:r>
            <a:endParaRPr lang="zh-CN" altLang="en-US" sz="1200"/>
          </a:p>
          <a:p>
            <a:r>
              <a:rPr lang="en-US" altLang="zh-CN" sz="1200"/>
              <a:t>    }</a:t>
            </a:r>
            <a:endParaRPr lang="en-US" altLang="zh-CN" sz="1200"/>
          </a:p>
          <a:p>
            <a:r>
              <a:rPr lang="en-US" altLang="zh-CN" sz="1200"/>
              <a:t>    </a:t>
            </a:r>
            <a:r>
              <a:rPr lang="en-US" altLang="zh-CN" sz="1200" b="1" u="sng"/>
              <a:t>InsertIntoParent</a:t>
            </a:r>
            <a:r>
              <a:rPr lang="en-US" altLang="zh-CN" sz="1200"/>
              <a:t>(leaf_node,  split_key, new_leaf, transaction);</a:t>
            </a:r>
            <a:endParaRPr lang="en-US" altLang="zh-CN" sz="1200"/>
          </a:p>
          <a:p>
            <a:r>
              <a:rPr lang="en-US" altLang="zh-CN" sz="1200"/>
              <a:t>    // Unpin</a:t>
            </a:r>
            <a:r>
              <a:rPr lang="zh-CN" altLang="en-US" sz="1200"/>
              <a:t>新创建的叶子页面</a:t>
            </a:r>
            <a:endParaRPr lang="zh-CN" altLang="en-US" sz="1200"/>
          </a:p>
          <a:p>
            <a:r>
              <a:rPr lang="en-US" altLang="zh-CN" sz="1200"/>
              <a:t>    buffer_pool_manager_-&gt;UnpinPage(new_leaf-&gt;GetPageId(), true);</a:t>
            </a:r>
            <a:endParaRPr lang="en-US" altLang="zh-CN" sz="1200"/>
          </a:p>
          <a:p>
            <a:r>
              <a:rPr lang="en-US" altLang="zh-CN" sz="1200"/>
              <a:t>  }</a:t>
            </a:r>
            <a:endParaRPr lang="en-US" altLang="zh-CN" sz="1200"/>
          </a:p>
          <a:p>
            <a:r>
              <a:rPr lang="en-US" altLang="zh-CN" sz="1200">
                <a:highlight>
                  <a:srgbClr val="C0C0C0"/>
                </a:highlight>
              </a:rPr>
              <a:t>  //5.</a:t>
            </a:r>
            <a:r>
              <a:rPr lang="zh-CN" altLang="en-US" sz="1200">
                <a:highlight>
                  <a:srgbClr val="C0C0C0"/>
                </a:highlight>
              </a:rPr>
              <a:t>完成插入，释放页面，脏页</a:t>
            </a:r>
            <a:endParaRPr lang="en-US" altLang="zh-CN" sz="1200">
              <a:highlight>
                <a:srgbClr val="C0C0C0"/>
              </a:highlight>
            </a:endParaRPr>
          </a:p>
          <a:p>
            <a:r>
              <a:rPr lang="en-US" altLang="zh-CN" sz="1200"/>
              <a:t>  buffer_pool_manager_-&gt;UnpinPage(leaf_page-&gt;GetPageId(), true);</a:t>
            </a:r>
            <a:endParaRPr lang="en-US" altLang="zh-CN" sz="1200"/>
          </a:p>
          <a:p>
            <a:r>
              <a:rPr lang="en-US" altLang="zh-CN" sz="1200"/>
              <a:t>  return true;</a:t>
            </a:r>
            <a:endParaRPr lang="en-US" altLang="zh-CN" sz="1200"/>
          </a:p>
          <a:p>
            <a:r>
              <a:rPr lang="en-US" altLang="zh-CN" sz="1200"/>
              <a:t>}  </a:t>
            </a:r>
            <a:endParaRPr lang="en-US" altLang="zh-CN" sz="1200"/>
          </a:p>
          <a:p>
            <a:r>
              <a:rPr lang="en-US" altLang="zh-CN" sz="1200"/>
              <a:t> </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auto BPLUSTREE_TYPE::Split(N *node) -&gt; std::pair&lt;N*, KeyType&gt;</a:t>
            </a:r>
            <a:r>
              <a:rPr lang="zh-CN" altLang="en-US" sz="1200" b="1" dirty="0">
                <a:solidFill>
                  <a:srgbClr val="4A90E2"/>
                </a:solidFill>
                <a:cs typeface="Arial" panose="020B0604020202020204" pitchFamily="34" charset="0"/>
              </a:rPr>
              <a:t>；</a:t>
            </a:r>
            <a:endParaRPr lang="en-US" sz="12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action="ppaction://hlinksldjump"/>
              </a:rPr>
              <a:t>插入算法原理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13"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统一处理</a:t>
            </a:r>
            <a:r>
              <a:rPr lang="en-US" altLang="zh-CN"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B+</a:t>
            </a: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树叶子节点和内部节点的</a:t>
            </a:r>
            <a:r>
              <a:rPr lang="zh-CN" altLang="en-US" sz="1200" b="1"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分裂操作</a:t>
            </a: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，分配新页面、转移半数数据、更新链表或子节点指针，并返回</a:t>
            </a:r>
            <a:r>
              <a:rPr lang="zh-CN" altLang="en-US" sz="1200" b="1"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新节点和分裂键</a:t>
            </a: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供父节点插入。</a:t>
            </a:r>
            <a:endParaRPr 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4523105"/>
          </a:xfrm>
          <a:prstGeom prst="rect">
            <a:avLst/>
          </a:prstGeom>
        </p:spPr>
        <p:txBody>
          <a:bodyPr wrap="square" rtlCol="0">
            <a:spAutoFit/>
          </a:bodyPr>
          <a:p>
            <a:r>
              <a:rPr lang="en-US" altLang="zh-CN" sz="1200"/>
              <a:t>INDEX_TEMPLATE_ARGUMENTS</a:t>
            </a:r>
            <a:endParaRPr lang="en-US" altLang="zh-CN" sz="1200"/>
          </a:p>
          <a:p>
            <a:r>
              <a:rPr lang="en-US" altLang="zh-CN" sz="1200"/>
              <a:t>template &lt;typename N&gt;</a:t>
            </a:r>
            <a:endParaRPr lang="en-US" altLang="zh-CN" sz="1200"/>
          </a:p>
          <a:p>
            <a:r>
              <a:rPr lang="en-US" altLang="zh-CN" sz="1200"/>
              <a:t>auto BPLUSTREE_TYPE::Split(N *node) -&gt; std::pair&lt;N*, KeyType&gt; {</a:t>
            </a:r>
            <a:endParaRPr lang="en-US" altLang="zh-CN" sz="1200"/>
          </a:p>
          <a:p>
            <a:r>
              <a:rPr lang="en-US" altLang="zh-CN" sz="1200">
                <a:highlight>
                  <a:srgbClr val="C0C0C0"/>
                </a:highlight>
              </a:rPr>
              <a:t>  //1.</a:t>
            </a:r>
            <a:r>
              <a:rPr lang="zh-CN" altLang="en-US" sz="1200">
                <a:highlight>
                  <a:srgbClr val="C0C0C0"/>
                </a:highlight>
              </a:rPr>
              <a:t>创建新页面</a:t>
            </a:r>
            <a:endParaRPr lang="en-US" altLang="zh-CN" sz="1200">
              <a:highlight>
                <a:srgbClr val="C0C0C0"/>
              </a:highlight>
            </a:endParaRPr>
          </a:p>
          <a:p>
            <a:r>
              <a:rPr lang="en-US" altLang="zh-CN" sz="1200"/>
              <a:t>  page_id_t new_page_id;</a:t>
            </a:r>
            <a:endParaRPr lang="en-US" altLang="zh-CN" sz="1200"/>
          </a:p>
          <a:p>
            <a:r>
              <a:rPr lang="en-US" altLang="zh-CN" sz="1200"/>
              <a:t>  auto *new_page = buffer_pool_manager_-&gt;NewPage(&amp;new_page_id);</a:t>
            </a:r>
            <a:endParaRPr lang="en-US" altLang="zh-CN" sz="1200"/>
          </a:p>
          <a:p>
            <a:r>
              <a:rPr lang="en-US" altLang="zh-CN" sz="1200"/>
              <a:t>  if (new_page == nullptr) {</a:t>
            </a:r>
            <a:endParaRPr lang="en-US" altLang="zh-CN" sz="1200"/>
          </a:p>
          <a:p>
            <a:r>
              <a:rPr lang="en-US" altLang="zh-CN" sz="1200"/>
              <a:t>    return {nullptr, KeyType()};</a:t>
            </a:r>
            <a:endParaRPr lang="en-US" altLang="zh-CN" sz="1200"/>
          </a:p>
          <a:p>
            <a:r>
              <a:rPr lang="en-US" altLang="zh-CN" sz="1200"/>
              <a:t>  }</a:t>
            </a:r>
            <a:endParaRPr lang="en-US" altLang="zh-CN" sz="1200"/>
          </a:p>
          <a:p>
            <a:r>
              <a:rPr lang="en-US" altLang="zh-CN" sz="1200"/>
              <a:t>  </a:t>
            </a:r>
            <a:endParaRPr lang="en-US" altLang="zh-CN" sz="1200"/>
          </a:p>
          <a:p>
            <a:r>
              <a:rPr lang="en-US" altLang="zh-CN" sz="1200"/>
              <a:t>  auto *new_node = new (new_page-&gt;GetData()) N();</a:t>
            </a:r>
            <a:endParaRPr lang="en-US" altLang="zh-CN" sz="1200"/>
          </a:p>
          <a:p>
            <a:r>
              <a:rPr lang="en-US" altLang="zh-CN" sz="1200"/>
              <a:t>  KeyType split_key;</a:t>
            </a:r>
            <a:endParaRPr lang="en-US" altLang="zh-CN" sz="1200"/>
          </a:p>
          <a:p>
            <a:r>
              <a:rPr lang="en-US" altLang="zh-CN" sz="1200">
                <a:highlight>
                  <a:srgbClr val="C0C0C0"/>
                </a:highlight>
              </a:rPr>
              <a:t>  //2.</a:t>
            </a:r>
            <a:r>
              <a:rPr lang="zh-CN" altLang="en-US" sz="1200">
                <a:highlight>
                  <a:srgbClr val="C0C0C0"/>
                </a:highlight>
              </a:rPr>
              <a:t>判断是否为叶节点</a:t>
            </a:r>
            <a:endParaRPr lang="en-US" altLang="zh-CN" sz="1200">
              <a:highlight>
                <a:srgbClr val="C0C0C0"/>
              </a:highlight>
            </a:endParaRPr>
          </a:p>
          <a:p>
            <a:r>
              <a:rPr lang="en-US" altLang="zh-CN" sz="1200"/>
              <a:t>  if (node-&gt;IsLeafPage()) {</a:t>
            </a:r>
            <a:endParaRPr lang="en-US" altLang="zh-CN" sz="1200"/>
          </a:p>
          <a:p>
            <a:r>
              <a:rPr lang="en-US" altLang="zh-CN" sz="1200"/>
              <a:t>    auto *leaf_node = reinterpret_cast&lt;LeafPage *&gt;(node);</a:t>
            </a:r>
            <a:endParaRPr lang="en-US" altLang="zh-CN" sz="1200"/>
          </a:p>
          <a:p>
            <a:r>
              <a:rPr lang="en-US" altLang="zh-CN" sz="1200"/>
              <a:t>    auto *new_leaf = reinterpret_cast&lt;LeafPage *&gt;(new_node);</a:t>
            </a:r>
            <a:endParaRPr lang="en-US" altLang="zh-CN" sz="1200"/>
          </a:p>
          <a:p>
            <a:r>
              <a:rPr lang="en-US" altLang="zh-CN" sz="1200"/>
              <a:t>   </a:t>
            </a:r>
            <a:r>
              <a:rPr lang="en-US" altLang="zh-CN" sz="1200">
                <a:highlight>
                  <a:srgbClr val="C0C0C0"/>
                </a:highlight>
              </a:rPr>
              <a:t>//</a:t>
            </a:r>
            <a:r>
              <a:rPr lang="zh-CN" altLang="en-US" sz="1200">
                <a:highlight>
                  <a:srgbClr val="C0C0C0"/>
                </a:highlight>
              </a:rPr>
              <a:t>设置双向链表连接</a:t>
            </a:r>
            <a:r>
              <a:rPr lang="en-US" altLang="zh-CN" sz="1200"/>
              <a:t>    new_leaf-&gt;Init(new_page_id, node-&gt;GetParentPageId(), leaf_max_size_);</a:t>
            </a:r>
            <a:endParaRPr lang="en-US" altLang="zh-CN" sz="1200"/>
          </a:p>
          <a:p>
            <a:r>
              <a:rPr lang="en-US" altLang="zh-CN" sz="1200"/>
              <a:t>    new_leaf-&gt;SetNextPageId(leaf_node-&gt;GetNextPageId());</a:t>
            </a:r>
            <a:endParaRPr lang="en-US" altLang="zh-CN" sz="1200"/>
          </a:p>
          <a:p>
            <a:r>
              <a:rPr lang="en-US" altLang="zh-CN" sz="1200"/>
              <a:t>    leaf_node-&gt;SetNextPageId(new_page_id);</a:t>
            </a:r>
            <a:endParaRPr lang="en-US" altLang="zh-CN" sz="1200"/>
          </a:p>
          <a:p>
            <a:r>
              <a:rPr lang="en-US" altLang="zh-CN" sz="1200"/>
              <a:t>    </a:t>
            </a:r>
            <a:endParaRPr lang="en-US" altLang="zh-CN" sz="1200"/>
          </a:p>
          <a:p>
            <a:r>
              <a:rPr lang="en-US" altLang="zh-CN" sz="1200"/>
              <a:t>    </a:t>
            </a:r>
            <a:r>
              <a:rPr lang="en-US" altLang="zh-CN" sz="1200">
                <a:highlight>
                  <a:srgbClr val="C0C0C0"/>
                </a:highlight>
              </a:rPr>
              <a:t>// </a:t>
            </a:r>
            <a:r>
              <a:rPr lang="zh-CN" altLang="en-US" sz="1200">
                <a:highlight>
                  <a:srgbClr val="C0C0C0"/>
                </a:highlight>
              </a:rPr>
              <a:t>叶子节点分裂：移动半数键值对，分裂键由</a:t>
            </a:r>
            <a:r>
              <a:rPr lang="en-US" altLang="zh-CN" sz="1200">
                <a:highlight>
                  <a:srgbClr val="C0C0C0"/>
                </a:highlight>
              </a:rPr>
              <a:t> MoveHalfTo </a:t>
            </a:r>
            <a:r>
              <a:rPr lang="zh-CN" altLang="en-US" sz="1200">
                <a:highlight>
                  <a:srgbClr val="C0C0C0"/>
                </a:highlight>
              </a:rPr>
              <a:t>返回</a:t>
            </a:r>
            <a:endParaRPr lang="zh-CN" altLang="en-US" sz="1200">
              <a:highlight>
                <a:srgbClr val="C0C0C0"/>
              </a:highlight>
            </a:endParaRPr>
          </a:p>
          <a:p>
            <a:r>
              <a:rPr lang="en-US" altLang="zh-CN" sz="1200"/>
              <a:t>    split_key = leaf_node-&gt;MoveHalfTo(new_leaf);</a:t>
            </a:r>
            <a:endParaRPr lang="en-US" altLang="zh-CN" sz="1200"/>
          </a:p>
          <a:p>
            <a:r>
              <a:rPr lang="en-US" altLang="zh-CN" sz="1200"/>
              <a:t>    </a:t>
            </a:r>
            <a:endParaRPr lang="en-US" altLang="zh-CN" sz="1200"/>
          </a:p>
          <a:p>
            <a:r>
              <a:rPr lang="en-US" altLang="zh-CN" sz="1200"/>
              <a:t>  </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auto BPLUSTREE_TYPE::Split(N *node) -&gt; std::pair&lt;N*, KeyType&gt;</a:t>
            </a:r>
            <a:r>
              <a:rPr lang="zh-CN" altLang="en-US" sz="1200" b="1" dirty="0">
                <a:solidFill>
                  <a:srgbClr val="4A90E2"/>
                </a:solidFill>
                <a:cs typeface="Arial" panose="020B0604020202020204" pitchFamily="34" charset="0"/>
              </a:rPr>
              <a:t>；</a:t>
            </a:r>
            <a:endParaRPr lang="en-US" sz="1200" dirty="0"/>
          </a:p>
        </p:txBody>
      </p:sp>
      <p:sp>
        <p:nvSpPr>
          <p:cNvPr id="7" name="文本框 6"/>
          <p:cNvSpPr txBox="1"/>
          <p:nvPr userDrawn="1"/>
        </p:nvSpPr>
        <p:spPr>
          <a:xfrm>
            <a:off x="914400" y="1379855"/>
            <a:ext cx="6858000" cy="4338320"/>
          </a:xfrm>
          <a:prstGeom prst="rect">
            <a:avLst/>
          </a:prstGeom>
        </p:spPr>
        <p:txBody>
          <a:bodyPr wrap="square" rtlCol="0">
            <a:spAutoFit/>
          </a:bodyPr>
          <a:p>
            <a:r>
              <a:rPr lang="en-US" altLang="zh-CN" sz="1200"/>
              <a:t>} else {</a:t>
            </a:r>
            <a:endParaRPr lang="en-US" altLang="zh-CN" sz="1200"/>
          </a:p>
          <a:p>
            <a:r>
              <a:rPr lang="en-US" altLang="zh-CN" sz="1200"/>
              <a:t>    auto *internal_node = reinterpret_cast&lt;InternalPage *&gt;(node);</a:t>
            </a:r>
            <a:endParaRPr lang="en-US" altLang="zh-CN" sz="1200"/>
          </a:p>
          <a:p>
            <a:r>
              <a:rPr lang="en-US" altLang="zh-CN" sz="1200"/>
              <a:t>    auto *new_internal = reinterpret_cast&lt;InternalPage *&gt;(new_node);</a:t>
            </a:r>
            <a:endParaRPr lang="en-US" altLang="zh-CN" sz="1200"/>
          </a:p>
          <a:p>
            <a:r>
              <a:rPr lang="en-US" altLang="zh-CN" sz="1200"/>
              <a:t>    </a:t>
            </a:r>
            <a:endParaRPr lang="en-US" altLang="zh-CN" sz="1200"/>
          </a:p>
          <a:p>
            <a:r>
              <a:rPr lang="en-US" altLang="zh-CN" sz="1200"/>
              <a:t>    new_internal-&gt;Init(new_page_id, node-&gt;GetParentPageId(), internal_max_size_);</a:t>
            </a:r>
            <a:endParaRPr lang="en-US" altLang="zh-CN" sz="1200"/>
          </a:p>
          <a:p>
            <a:r>
              <a:rPr lang="en-US" altLang="zh-CN" sz="1200"/>
              <a:t>    </a:t>
            </a:r>
            <a:endParaRPr lang="en-US" altLang="zh-CN" sz="1200"/>
          </a:p>
          <a:p>
            <a:r>
              <a:rPr lang="en-US" altLang="zh-CN" sz="1200"/>
              <a:t>   </a:t>
            </a:r>
            <a:r>
              <a:rPr lang="en-US" altLang="zh-CN" sz="1200">
                <a:highlight>
                  <a:srgbClr val="C0C0C0"/>
                </a:highlight>
              </a:rPr>
              <a:t> // </a:t>
            </a:r>
            <a:r>
              <a:rPr lang="zh-CN" altLang="en-US" sz="1200">
                <a:highlight>
                  <a:srgbClr val="C0C0C0"/>
                </a:highlight>
              </a:rPr>
              <a:t>内部节点分裂：移动半数键值对，分裂键由</a:t>
            </a:r>
            <a:r>
              <a:rPr lang="en-US" altLang="zh-CN" sz="1200">
                <a:highlight>
                  <a:srgbClr val="C0C0C0"/>
                </a:highlight>
              </a:rPr>
              <a:t> MoveHalfTo </a:t>
            </a:r>
            <a:r>
              <a:rPr lang="zh-CN" altLang="en-US" sz="1200">
                <a:highlight>
                  <a:srgbClr val="C0C0C0"/>
                </a:highlight>
              </a:rPr>
              <a:t>返回</a:t>
            </a:r>
            <a:endParaRPr lang="zh-CN" altLang="en-US" sz="1200">
              <a:highlight>
                <a:srgbClr val="C0C0C0"/>
              </a:highlight>
            </a:endParaRPr>
          </a:p>
          <a:p>
            <a:r>
              <a:rPr lang="en-US" altLang="zh-CN" sz="1200"/>
              <a:t>    split_key = internal_node-&gt;MoveHalfTo(new_internal);</a:t>
            </a:r>
            <a:endParaRPr lang="en-US" altLang="zh-CN" sz="1200"/>
          </a:p>
          <a:p>
            <a:r>
              <a:rPr lang="en-US" altLang="zh-CN" sz="1200"/>
              <a:t>    </a:t>
            </a:r>
            <a:endParaRPr lang="en-US" altLang="zh-CN" sz="1200"/>
          </a:p>
          <a:p>
            <a:r>
              <a:rPr lang="en-US" altLang="zh-CN" sz="1200"/>
              <a:t>   </a:t>
            </a:r>
            <a:r>
              <a:rPr lang="en-US" altLang="zh-CN" sz="1200">
                <a:highlight>
                  <a:srgbClr val="C0C0C0"/>
                </a:highlight>
              </a:rPr>
              <a:t> // </a:t>
            </a:r>
            <a:r>
              <a:rPr lang="zh-CN" altLang="en-US" sz="1200">
                <a:highlight>
                  <a:srgbClr val="C0C0C0"/>
                </a:highlight>
              </a:rPr>
              <a:t>更新被移动到新节点的子页面的父指针</a:t>
            </a:r>
            <a:endParaRPr lang="zh-CN" altLang="en-US" sz="1200">
              <a:highlight>
                <a:srgbClr val="C0C0C0"/>
              </a:highlight>
            </a:endParaRPr>
          </a:p>
          <a:p>
            <a:r>
              <a:rPr lang="en-US" altLang="zh-CN" sz="1200"/>
              <a:t>    for (int i = 0; i &lt; new_internal-&gt;GetSize(); i++) {</a:t>
            </a:r>
            <a:endParaRPr lang="en-US" altLang="zh-CN" sz="1200"/>
          </a:p>
          <a:p>
            <a:r>
              <a:rPr lang="en-US" altLang="zh-CN" sz="1200"/>
              <a:t>      page_id_t child_page_id = new_internal-&gt;ValueAt(i);</a:t>
            </a:r>
            <a:endParaRPr lang="en-US" altLang="zh-CN" sz="1200"/>
          </a:p>
          <a:p>
            <a:r>
              <a:rPr lang="en-US" altLang="zh-CN" sz="1200"/>
              <a:t>      auto *child_page = buffer_pool_manager_-&gt;FetchPage(child_page_id);</a:t>
            </a:r>
            <a:endParaRPr lang="en-US" altLang="zh-CN" sz="1200"/>
          </a:p>
          <a:p>
            <a:r>
              <a:rPr lang="en-US" altLang="zh-CN" sz="1200"/>
              <a:t>      if (child_page != nullptr) {</a:t>
            </a:r>
            <a:endParaRPr lang="en-US" altLang="zh-CN" sz="1200"/>
          </a:p>
          <a:p>
            <a:r>
              <a:rPr lang="en-US" altLang="zh-CN" sz="1200"/>
              <a:t>        auto *child_node = reinterpret_cast&lt;BPlusTreePage *&gt;(child_page-&gt;GetData());</a:t>
            </a:r>
            <a:endParaRPr lang="en-US" altLang="zh-CN" sz="1200"/>
          </a:p>
          <a:p>
            <a:r>
              <a:rPr lang="en-US" altLang="zh-CN" sz="1200"/>
              <a:t>        child_node-&gt;SetParentPageId(new_page_id);</a:t>
            </a:r>
            <a:endParaRPr lang="en-US" altLang="zh-CN" sz="1200"/>
          </a:p>
          <a:p>
            <a:r>
              <a:rPr lang="en-US" altLang="zh-CN" sz="1200"/>
              <a:t>        buffer_pool_manager_-&gt;UnpinPage(child_page_id, true);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en-US" altLang="zh-CN" sz="1200"/>
          </a:p>
          <a:p>
            <a:r>
              <a:rPr lang="en-US" altLang="zh-CN" sz="1200"/>
              <a:t>  return {new_node, split_key};</a:t>
            </a:r>
            <a:endParaRPr lang="en-US" altLang="zh-CN" sz="1200"/>
          </a:p>
          <a:p>
            <a:r>
              <a:rPr lang="en-US" altLang="zh-CN" sz="1200"/>
              <a:t>} </a:t>
            </a:r>
            <a:endParaRPr lang="zh-CN" altLang="en-US" sz="120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6"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void InsertIntoParent</a:t>
            </a:r>
            <a:endParaRPr lang="en-US" altLang="zh-CN" sz="1200" b="1" dirty="0">
              <a:solidFill>
                <a:srgbClr val="4A90E2"/>
              </a:solidFill>
              <a:cs typeface="Arial" panose="020B0604020202020204" pitchFamily="34" charset="0"/>
            </a:endParaRPr>
          </a:p>
          <a:p>
            <a:pPr algn="ctr">
              <a:lnSpc>
                <a:spcPct val="120000"/>
              </a:lnSpc>
            </a:pPr>
            <a:r>
              <a:rPr lang="en-US" altLang="zh-CN" sz="1200" b="1" dirty="0">
                <a:solidFill>
                  <a:srgbClr val="4A90E2"/>
                </a:solidFill>
                <a:cs typeface="Arial" panose="020B0604020202020204" pitchFamily="34" charset="0"/>
              </a:rPr>
              <a:t>(BPlusTreePage *old_node, const KeyType &amp;key, BPlusTreePage *new_node, Transaction *transaction)</a:t>
            </a:r>
            <a:r>
              <a:rPr lang="zh-CN" altLang="en-US" sz="1200" b="1" dirty="0">
                <a:solidFill>
                  <a:srgbClr val="4A90E2"/>
                </a:solidFill>
                <a:cs typeface="Arial" panose="020B0604020202020204" pitchFamily="34" charset="0"/>
              </a:rPr>
              <a:t>；</a:t>
            </a:r>
            <a:endParaRPr lang="en-US" sz="12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action="ppaction://hlinksldjump"/>
              </a:rPr>
              <a:t>插入算法原理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4892675"/>
          </a:xfrm>
          <a:prstGeom prst="rect">
            <a:avLst/>
          </a:prstGeom>
        </p:spPr>
        <p:txBody>
          <a:bodyPr wrap="square" rtlCol="0">
            <a:spAutoFit/>
          </a:bodyPr>
          <a:p>
            <a:r>
              <a:rPr lang="en-US" altLang="zh-CN" sz="1200"/>
              <a:t>INDEX_TEMPLATE_ARGUMENTS</a:t>
            </a:r>
            <a:endParaRPr lang="en-US" altLang="zh-CN" sz="1200"/>
          </a:p>
          <a:p>
            <a:r>
              <a:rPr lang="en-US" altLang="zh-CN" sz="1200"/>
              <a:t>void BPLUSTREE_TYPE::InsertIntoParent(BPlusTreePage *old_node, const KeyType &amp;key, BPlusTreePage *new_node, Transaction *transaction) {</a:t>
            </a:r>
            <a:endParaRPr lang="en-US" altLang="zh-CN" sz="1200"/>
          </a:p>
          <a:p>
            <a:r>
              <a:rPr lang="en-US" altLang="zh-CN" sz="1200">
                <a:highlight>
                  <a:srgbClr val="C0C0C0"/>
                </a:highlight>
              </a:rPr>
              <a:t>  // 1.</a:t>
            </a:r>
            <a:r>
              <a:rPr lang="zh-CN" altLang="en-US" sz="1200">
                <a:highlight>
                  <a:srgbClr val="C0C0C0"/>
                </a:highlight>
              </a:rPr>
              <a:t>如果</a:t>
            </a:r>
            <a:r>
              <a:rPr lang="en-US" altLang="zh-CN" sz="1200">
                <a:highlight>
                  <a:srgbClr val="C0C0C0"/>
                </a:highlight>
              </a:rPr>
              <a:t>old_node</a:t>
            </a:r>
            <a:r>
              <a:rPr lang="zh-CN" altLang="en-US" sz="1200">
                <a:highlight>
                  <a:srgbClr val="C0C0C0"/>
                </a:highlight>
              </a:rPr>
              <a:t>是根节点，需要创建新的根节点</a:t>
            </a:r>
            <a:endParaRPr lang="zh-CN" altLang="en-US" sz="1200">
              <a:highlight>
                <a:srgbClr val="C0C0C0"/>
              </a:highlight>
            </a:endParaRPr>
          </a:p>
          <a:p>
            <a:r>
              <a:rPr lang="en-US" altLang="zh-CN" sz="1200"/>
              <a:t>  if (old_node-&gt;IsRootPage()) {</a:t>
            </a:r>
            <a:endParaRPr lang="en-US" altLang="zh-CN" sz="1200"/>
          </a:p>
          <a:p>
            <a:r>
              <a:rPr lang="en-US" altLang="zh-CN" sz="1200"/>
              <a:t>    page_id_t new_root_id;</a:t>
            </a:r>
            <a:endParaRPr lang="en-US" altLang="zh-CN" sz="1200"/>
          </a:p>
          <a:p>
            <a:r>
              <a:rPr lang="en-US" altLang="zh-CN" sz="1200"/>
              <a:t>    Page *new_root_page = buffer_pool_manager_-&gt;NewPage(&amp;new_root_id);</a:t>
            </a:r>
            <a:endParaRPr lang="en-US" altLang="zh-CN" sz="1200"/>
          </a:p>
          <a:p>
            <a:r>
              <a:rPr lang="en-US" altLang="zh-CN" sz="1200"/>
              <a:t>    if (new_root_page == nullptr) {//</a:t>
            </a:r>
            <a:r>
              <a:rPr lang="zh-CN" altLang="en-US" sz="1200"/>
              <a:t>创建新页面失败</a:t>
            </a:r>
            <a:endParaRPr lang="en-US" altLang="zh-CN" sz="1200"/>
          </a:p>
          <a:p>
            <a:r>
              <a:rPr lang="en-US" altLang="zh-CN" sz="1200"/>
              <a:t>      return;</a:t>
            </a:r>
            <a:endParaRPr lang="en-US" altLang="zh-CN" sz="1200"/>
          </a:p>
          <a:p>
            <a:r>
              <a:rPr lang="en-US" altLang="zh-CN" sz="1200"/>
              <a:t>    }</a:t>
            </a:r>
            <a:endParaRPr lang="en-US" altLang="zh-CN" sz="1200"/>
          </a:p>
          <a:p>
            <a:endParaRPr lang="en-US" altLang="zh-CN" sz="1200"/>
          </a:p>
          <a:p>
            <a:r>
              <a:rPr lang="en-US" altLang="zh-CN" sz="1200"/>
              <a:t>    auto *new_root = reinterpret_cast&lt;InternalPage *&gt;(new_root_page-&gt;GetData());</a:t>
            </a:r>
            <a:endParaRPr lang="en-US" altLang="zh-CN" sz="1200"/>
          </a:p>
          <a:p>
            <a:r>
              <a:rPr lang="en-US" altLang="zh-CN" sz="1200"/>
              <a:t>    new_root-&gt;Init(new_root_id, INVALID_PAGE_ID, internal_max_size_);</a:t>
            </a:r>
            <a:endParaRPr lang="en-US" altLang="zh-CN" sz="1200"/>
          </a:p>
          <a:p>
            <a:r>
              <a:rPr lang="en-US" altLang="zh-CN" sz="1200"/>
              <a:t>    </a:t>
            </a:r>
            <a:endParaRPr lang="en-US" altLang="zh-CN" sz="1200"/>
          </a:p>
          <a:p>
            <a:r>
              <a:rPr lang="en-US" altLang="zh-CN" sz="1200"/>
              <a:t>   </a:t>
            </a:r>
            <a:r>
              <a:rPr lang="en-US" altLang="zh-CN" sz="1200">
                <a:highlight>
                  <a:srgbClr val="C0C0C0"/>
                </a:highlight>
              </a:rPr>
              <a:t> // </a:t>
            </a:r>
            <a:r>
              <a:rPr lang="zh-CN" altLang="en-US" sz="1200">
                <a:highlight>
                  <a:srgbClr val="C0C0C0"/>
                </a:highlight>
              </a:rPr>
              <a:t>将原节点和新节点作为左右子节点，更新树根</a:t>
            </a:r>
            <a:endParaRPr lang="zh-CN" altLang="en-US" sz="1200">
              <a:highlight>
                <a:srgbClr val="C0C0C0"/>
              </a:highlight>
            </a:endParaRPr>
          </a:p>
          <a:p>
            <a:r>
              <a:rPr lang="en-US" altLang="zh-CN" sz="1200"/>
              <a:t>    new_root-&gt;PopulateNewRoot(old_node-&gt;GetPageId(), key, new_node-&gt;GetPageId());</a:t>
            </a:r>
            <a:endParaRPr lang="en-US" altLang="zh-CN" sz="1200"/>
          </a:p>
          <a:p>
            <a:r>
              <a:rPr lang="en-US" altLang="zh-CN" sz="1200"/>
              <a:t>    old_node-&gt;SetParentPageId(new_root_id);</a:t>
            </a:r>
            <a:endParaRPr lang="en-US" altLang="zh-CN" sz="1200"/>
          </a:p>
          <a:p>
            <a:r>
              <a:rPr lang="en-US" altLang="zh-CN" sz="1200"/>
              <a:t>    new_node-&gt;SetParentPageId(new_root_id);</a:t>
            </a:r>
            <a:endParaRPr lang="en-US" altLang="zh-CN" sz="1200"/>
          </a:p>
          <a:p>
            <a:r>
              <a:rPr lang="en-US" altLang="zh-CN" sz="1200"/>
              <a:t>    root_page_id_ = new_root_id;</a:t>
            </a:r>
            <a:endParaRPr lang="en-US" altLang="zh-CN" sz="1200"/>
          </a:p>
          <a:p>
            <a:r>
              <a:rPr lang="en-US" altLang="zh-CN" sz="1200"/>
              <a:t>    UpdateRootPageId(1);</a:t>
            </a:r>
            <a:endParaRPr lang="en-US" altLang="zh-CN" sz="1200"/>
          </a:p>
          <a:p>
            <a:r>
              <a:rPr lang="en-US" altLang="zh-CN" sz="1200"/>
              <a:t>    </a:t>
            </a:r>
            <a:endParaRPr lang="en-US" altLang="zh-CN" sz="1200"/>
          </a:p>
          <a:p>
            <a:r>
              <a:rPr lang="en-US" altLang="zh-CN" sz="1200"/>
              <a:t>    buffer_pool_manager_-&gt;UnpinPage(new_root_id, true);</a:t>
            </a:r>
            <a:endParaRPr lang="en-US" altLang="zh-CN" sz="1200"/>
          </a:p>
          <a:p>
            <a:r>
              <a:rPr lang="en-US" altLang="zh-CN" sz="1200"/>
              <a:t>    return;</a:t>
            </a:r>
            <a:endParaRPr lang="en-US" altLang="zh-CN" sz="1200"/>
          </a:p>
          <a:p>
            <a:r>
              <a:rPr lang="en-US" altLang="zh-CN" sz="1200"/>
              <a:t>  }</a:t>
            </a:r>
            <a:endParaRPr lang="en-US" altLang="zh-CN" sz="1200"/>
          </a:p>
          <a:p>
            <a:endParaRPr lang="en-US" altLang="zh-CN" sz="1200"/>
          </a:p>
          <a:p>
            <a:r>
              <a:rPr lang="en-US" altLang="zh-CN" sz="1200"/>
              <a:t>  </a:t>
            </a:r>
            <a:endParaRPr lang="zh-CN" altLang="en-US" sz="1200"/>
          </a:p>
        </p:txBody>
      </p:sp>
      <p:sp>
        <p:nvSpPr>
          <p:cNvPr id="5"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8"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将分裂产生的新节点和分裂键</a:t>
            </a:r>
            <a:r>
              <a:rPr lang="zh-CN" altLang="en-US" sz="1200" b="1"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插入父节点</a:t>
            </a: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，处理根节点分裂的特殊情况，并</a:t>
            </a:r>
            <a:r>
              <a:rPr lang="zh-CN" altLang="en-US" sz="1200" b="1"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递归检查</a:t>
            </a:r>
            <a:r>
              <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父节点是否因此需要进一步分裂。</a:t>
            </a:r>
            <a:endParaRPr lang="zh-CN" altLang="en-US" sz="12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rPr>
              <a:t>插入</a:t>
            </a:r>
            <a:r>
              <a:rPr lang="zh-CN" altLang="en-US" sz="3000" b="1" dirty="0">
                <a:solidFill>
                  <a:srgbClr val="4A90E2"/>
                </a:solidFill>
                <a:cs typeface="Arial" panose="020B0604020202020204" pitchFamily="34" charset="0"/>
              </a:rPr>
              <a:t>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4523105"/>
          </a:xfrm>
          <a:prstGeom prst="rect">
            <a:avLst/>
          </a:prstGeom>
        </p:spPr>
        <p:txBody>
          <a:bodyPr wrap="square" rtlCol="0">
            <a:spAutoFit/>
          </a:bodyPr>
          <a:p>
            <a:r>
              <a:rPr lang="en-US" altLang="zh-CN" sz="1200">
                <a:highlight>
                  <a:srgbClr val="C0C0C0"/>
                </a:highlight>
              </a:rPr>
              <a:t>//</a:t>
            </a:r>
            <a:r>
              <a:rPr lang="en-US" altLang="zh-CN" sz="1200">
                <a:highlight>
                  <a:srgbClr val="C0C0C0"/>
                </a:highlight>
                <a:cs typeface="Arial" panose="020B0604020202020204" pitchFamily="34" charset="0"/>
              </a:rPr>
              <a:t>2.</a:t>
            </a:r>
            <a:r>
              <a:rPr lang="zh-CN" altLang="en-US" sz="1200">
                <a:highlight>
                  <a:srgbClr val="C0C0C0"/>
                </a:highlight>
              </a:rPr>
              <a:t>非根节点分裂，在现有父节点中插入分裂键和新节点指针</a:t>
            </a:r>
            <a:endParaRPr lang="zh-CN" altLang="en-US" sz="1200">
              <a:highlight>
                <a:srgbClr val="C0C0C0"/>
              </a:highlight>
            </a:endParaRPr>
          </a:p>
          <a:p>
            <a:r>
              <a:rPr lang="en-US" altLang="zh-CN" sz="1200"/>
              <a:t>  page_id_t parent_id = old_node-&gt;GetParentPageId();</a:t>
            </a:r>
            <a:endParaRPr lang="en-US" altLang="zh-CN" sz="1200"/>
          </a:p>
          <a:p>
            <a:r>
              <a:rPr lang="en-US" altLang="zh-CN" sz="1200"/>
              <a:t>  Page *parent_page = buffer_pool_manager_-&gt;FetchPage(parent_id);</a:t>
            </a:r>
            <a:endParaRPr lang="en-US" altLang="zh-CN" sz="1200"/>
          </a:p>
          <a:p>
            <a:r>
              <a:rPr lang="en-US" altLang="zh-CN" sz="1200"/>
              <a:t>  if (parent_page == nullptr) {</a:t>
            </a:r>
            <a:endParaRPr lang="en-US" altLang="zh-CN" sz="1200"/>
          </a:p>
          <a:p>
            <a:r>
              <a:rPr lang="en-US" altLang="zh-CN" sz="1200"/>
              <a:t>    return;</a:t>
            </a:r>
            <a:endParaRPr lang="en-US" altLang="zh-CN" sz="1200"/>
          </a:p>
          <a:p>
            <a:r>
              <a:rPr lang="en-US" altLang="zh-CN" sz="1200"/>
              <a:t>  }</a:t>
            </a:r>
            <a:endParaRPr lang="en-US" altLang="zh-CN" sz="1200"/>
          </a:p>
          <a:p>
            <a:r>
              <a:rPr lang="en-US" altLang="zh-CN" sz="1200"/>
              <a:t>  auto *parent = reinterpret_cast&lt;InternalPage *&gt;(parent_page-&gt;GetData());</a:t>
            </a:r>
            <a:endParaRPr lang="en-US" altLang="zh-CN" sz="1200"/>
          </a:p>
          <a:p>
            <a:r>
              <a:rPr lang="en-US" altLang="zh-CN" sz="1200"/>
              <a:t>  </a:t>
            </a:r>
            <a:endParaRPr lang="en-US" altLang="zh-CN" sz="1200"/>
          </a:p>
          <a:p>
            <a:r>
              <a:rPr lang="en-US" altLang="zh-CN" sz="1200"/>
              <a:t>  // </a:t>
            </a:r>
            <a:r>
              <a:rPr lang="zh-CN" altLang="en-US" sz="1200"/>
              <a:t>插入新的键值对到父节点</a:t>
            </a:r>
            <a:endParaRPr lang="zh-CN" altLang="en-US" sz="1200"/>
          </a:p>
          <a:p>
            <a:r>
              <a:rPr lang="en-US" altLang="zh-CN" sz="1200"/>
              <a:t>  parent-&gt;InsertNodeAfter(old_node-&gt;GetPageId(), key, new_node-&gt;GetPageId());</a:t>
            </a:r>
            <a:endParaRPr lang="en-US" altLang="zh-CN" sz="1200"/>
          </a:p>
          <a:p>
            <a:endParaRPr lang="en-US" altLang="zh-CN" sz="1200"/>
          </a:p>
          <a:p>
            <a:r>
              <a:rPr lang="en-US" altLang="zh-CN" sz="1200"/>
              <a:t>  new_node-&gt;SetParentPageId(parent_id);</a:t>
            </a:r>
            <a:endParaRPr lang="en-US" altLang="zh-CN" sz="1200"/>
          </a:p>
          <a:p>
            <a:r>
              <a:rPr lang="en-US" altLang="zh-CN" sz="1200"/>
              <a:t>  </a:t>
            </a:r>
            <a:endParaRPr lang="en-US" altLang="zh-CN" sz="1200"/>
          </a:p>
          <a:p>
            <a:r>
              <a:rPr lang="en-US" altLang="zh-CN" sz="1200">
                <a:highlight>
                  <a:srgbClr val="C0C0C0"/>
                </a:highlight>
              </a:rPr>
              <a:t>  // 3.</a:t>
            </a:r>
            <a:r>
              <a:rPr lang="zh-CN" altLang="en-US" sz="1200">
                <a:highlight>
                  <a:srgbClr val="C0C0C0"/>
                </a:highlight>
              </a:rPr>
              <a:t>递归检查，如果父节点满了，需要分裂</a:t>
            </a:r>
            <a:endParaRPr lang="zh-CN" altLang="en-US" sz="1200">
              <a:highlight>
                <a:srgbClr val="C0C0C0"/>
              </a:highlight>
            </a:endParaRPr>
          </a:p>
          <a:p>
            <a:r>
              <a:rPr lang="en-US" altLang="zh-CN" sz="1200"/>
              <a:t>  if (parent-&gt;GetSize() &gt;= internal_max_size_) {</a:t>
            </a:r>
            <a:endParaRPr lang="en-US" altLang="zh-CN" sz="1200"/>
          </a:p>
          <a:p>
            <a:r>
              <a:rPr lang="en-US" altLang="zh-CN" sz="1200"/>
              <a:t>    auto [new_parent, split_key] = </a:t>
            </a:r>
            <a:r>
              <a:rPr lang="en-US" altLang="zh-CN" sz="1200" b="1" u="sng"/>
              <a:t>Split</a:t>
            </a:r>
            <a:r>
              <a:rPr lang="en-US" altLang="zh-CN" sz="1200"/>
              <a:t>(parent);  // </a:t>
            </a:r>
            <a:r>
              <a:rPr lang="zh-CN" altLang="en-US" sz="1200"/>
              <a:t>使用结构化绑定</a:t>
            </a:r>
            <a:endParaRPr lang="zh-CN" altLang="en-US" sz="1200"/>
          </a:p>
          <a:p>
            <a:r>
              <a:rPr lang="en-US" altLang="zh-CN" sz="1200"/>
              <a:t>    if (new_parent != nullptr) {</a:t>
            </a:r>
            <a:endParaRPr lang="en-US" altLang="zh-CN" sz="1200"/>
          </a:p>
          <a:p>
            <a:r>
              <a:rPr lang="en-US" altLang="zh-CN" sz="1200"/>
              <a:t>      </a:t>
            </a:r>
            <a:r>
              <a:rPr lang="en-US" altLang="zh-CN" sz="1200" b="1" u="sng"/>
              <a:t>InsertIntoParent</a:t>
            </a:r>
            <a:r>
              <a:rPr lang="en-US" altLang="zh-CN" sz="1200"/>
              <a:t>(parent, split_key, new_parent, transaction);</a:t>
            </a:r>
            <a:endParaRPr lang="en-US" altLang="zh-CN" sz="1200"/>
          </a:p>
          <a:p>
            <a:r>
              <a:rPr lang="en-US" altLang="zh-CN" sz="1200"/>
              <a:t>      buffer_pool_manager_-&gt;UnpinPage(new_parent-&gt;GetPageId(), true);</a:t>
            </a:r>
            <a:endParaRPr lang="en-US" altLang="zh-CN" sz="1200"/>
          </a:p>
          <a:p>
            <a:r>
              <a:rPr lang="en-US" altLang="zh-CN" sz="1200"/>
              <a:t>    }</a:t>
            </a:r>
            <a:endParaRPr lang="en-US" altLang="zh-CN" sz="1200"/>
          </a:p>
          <a:p>
            <a:r>
              <a:rPr lang="en-US" altLang="zh-CN" sz="1200"/>
              <a:t>  }</a:t>
            </a:r>
            <a:endParaRPr lang="en-US" altLang="zh-CN" sz="1200"/>
          </a:p>
          <a:p>
            <a:r>
              <a:rPr lang="en-US" altLang="zh-CN" sz="1200">
                <a:highlight>
                  <a:srgbClr val="C0C0C0"/>
                </a:highlight>
              </a:rPr>
              <a:t>//4.</a:t>
            </a:r>
            <a:r>
              <a:rPr lang="zh-CN" altLang="en-US" sz="1200">
                <a:highlight>
                  <a:srgbClr val="C0C0C0"/>
                </a:highlight>
              </a:rPr>
              <a:t>插入完成，释放页面，脏页</a:t>
            </a:r>
            <a:endParaRPr lang="en-US" altLang="zh-CN" sz="1200">
              <a:highlight>
                <a:srgbClr val="C0C0C0"/>
              </a:highlight>
            </a:endParaRPr>
          </a:p>
          <a:p>
            <a:r>
              <a:rPr lang="en-US" altLang="zh-CN" sz="1200"/>
              <a:t>  buffer_pool_manager_-&gt;UnpinPage(parent_id, true);</a:t>
            </a:r>
            <a:endParaRPr lang="en-US" altLang="zh-CN" sz="1200"/>
          </a:p>
          <a:p>
            <a:r>
              <a:rPr lang="en-US" altLang="zh-CN" sz="1200"/>
              <a:t>}</a:t>
            </a:r>
            <a:endParaRPr lang="zh-CN" altLang="en-US" sz="1200"/>
          </a:p>
        </p:txBody>
      </p:sp>
      <p:sp>
        <p:nvSpPr>
          <p:cNvPr id="9" name="Text 2"/>
          <p:cNvSpPr/>
          <p:nvPr/>
        </p:nvSpPr>
        <p:spPr>
          <a:xfrm>
            <a:off x="1085321" y="777081"/>
            <a:ext cx="6177756" cy="289525"/>
          </a:xfrm>
          <a:prstGeom prst="rect">
            <a:avLst/>
          </a:prstGeom>
          <a:noFill/>
        </p:spPr>
        <p:txBody>
          <a:bodyPr wrap="square" lIns="0" tIns="0" rIns="0" bIns="0" rtlCol="0" anchor="ctr"/>
          <a:lstStyle/>
          <a:p>
            <a:pPr algn="ctr">
              <a:lnSpc>
                <a:spcPct val="120000"/>
              </a:lnSpc>
            </a:pPr>
            <a:r>
              <a:rPr lang="en-US" altLang="zh-CN" sz="1200" b="1" dirty="0">
                <a:solidFill>
                  <a:srgbClr val="4A90E2"/>
                </a:solidFill>
                <a:cs typeface="Arial" panose="020B0604020202020204" pitchFamily="34" charset="0"/>
              </a:rPr>
              <a:t>void InsertIntoParent</a:t>
            </a:r>
            <a:endParaRPr lang="en-US" altLang="zh-CN" sz="1200" b="1" dirty="0">
              <a:solidFill>
                <a:srgbClr val="4A90E2"/>
              </a:solidFill>
              <a:cs typeface="Arial" panose="020B0604020202020204" pitchFamily="34" charset="0"/>
            </a:endParaRPr>
          </a:p>
          <a:p>
            <a:pPr algn="ctr">
              <a:lnSpc>
                <a:spcPct val="120000"/>
              </a:lnSpc>
            </a:pPr>
            <a:r>
              <a:rPr lang="en-US" altLang="zh-CN" sz="1200" b="1" dirty="0">
                <a:solidFill>
                  <a:srgbClr val="4A90E2"/>
                </a:solidFill>
                <a:cs typeface="Arial" panose="020B0604020202020204" pitchFamily="34" charset="0"/>
              </a:rPr>
              <a:t>(BPlusTreePage *old_node, const KeyType &amp;key, BPlusTreePage *new_node, Transaction *transaction)</a:t>
            </a:r>
            <a:r>
              <a:rPr lang="zh-CN" altLang="en-US" sz="1200" b="1" dirty="0">
                <a:solidFill>
                  <a:srgbClr val="4A90E2"/>
                </a:solidFill>
                <a:cs typeface="Arial" panose="020B0604020202020204" pitchFamily="34" charset="0"/>
              </a:rPr>
              <a:t>；</a:t>
            </a:r>
            <a:endParaRPr lang="en-US" sz="12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删除函数细节</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tooltip="" action="ppaction://hlinksldjump"/>
              </a:rPr>
              <a:t>删除算法原理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7" name="文本框 6"/>
          <p:cNvSpPr txBox="1"/>
          <p:nvPr userDrawn="1"/>
        </p:nvSpPr>
        <p:spPr>
          <a:xfrm>
            <a:off x="914400" y="1379855"/>
            <a:ext cx="6858000" cy="3415030"/>
          </a:xfrm>
          <a:prstGeom prst="rect">
            <a:avLst/>
          </a:prstGeom>
        </p:spPr>
        <p:txBody>
          <a:bodyPr wrap="square" rtlCol="0">
            <a:spAutoFit/>
          </a:bodyPr>
          <a:p>
            <a:r>
              <a:rPr lang="en-US" altLang="zh-CN" sz="1200"/>
              <a:t>INDEX_TEMPLATE_ARGUMENTS</a:t>
            </a:r>
            <a:endParaRPr lang="en-US" altLang="zh-CN" sz="1200"/>
          </a:p>
          <a:p>
            <a:r>
              <a:rPr lang="en-US" altLang="zh-CN" sz="1200"/>
              <a:t>void BPLUSTREE_TYPE::Remove(const KeyType &amp;key, Transaction *transaction) {</a:t>
            </a:r>
            <a:endParaRPr lang="en-US" altLang="zh-CN" sz="1200"/>
          </a:p>
          <a:p>
            <a:r>
              <a:rPr lang="en-US" altLang="zh-CN" sz="1200">
                <a:highlight>
                  <a:srgbClr val="C0C0C0"/>
                </a:highlight>
              </a:rPr>
              <a:t>  // 1. </a:t>
            </a:r>
            <a:r>
              <a:rPr lang="zh-CN" altLang="en-US" sz="1200">
                <a:highlight>
                  <a:srgbClr val="C0C0C0"/>
                </a:highlight>
              </a:rPr>
              <a:t>获取全局锁</a:t>
            </a:r>
            <a:endParaRPr lang="zh-CN" altLang="en-US" sz="1200">
              <a:highlight>
                <a:srgbClr val="C0C0C0"/>
              </a:highlight>
            </a:endParaRPr>
          </a:p>
          <a:p>
            <a:r>
              <a:rPr lang="en-US" altLang="zh-CN" sz="1200"/>
              <a:t>  std::lock_guard&lt;std::mutex&gt; lock(root_latch_);</a:t>
            </a:r>
            <a:endParaRPr lang="en-US" altLang="zh-CN" sz="1200"/>
          </a:p>
          <a:p>
            <a:r>
              <a:rPr lang="en-US" altLang="zh-CN" sz="1200"/>
              <a:t>  if (IsEmpty()) {    return;  }</a:t>
            </a:r>
            <a:endParaRPr lang="en-US" altLang="zh-CN" sz="1200"/>
          </a:p>
          <a:p>
            <a:r>
              <a:rPr lang="en-US" altLang="zh-CN" sz="1200">
                <a:highlight>
                  <a:srgbClr val="C0C0C0"/>
                </a:highlight>
              </a:rPr>
              <a:t> //2.</a:t>
            </a:r>
            <a:r>
              <a:rPr lang="zh-CN" altLang="en-US" sz="1200">
                <a:highlight>
                  <a:srgbClr val="C0C0C0"/>
                </a:highlight>
              </a:rPr>
              <a:t>获取目标叶子节点</a:t>
            </a:r>
            <a:endParaRPr lang="en-US" altLang="zh-CN" sz="1200">
              <a:highlight>
                <a:srgbClr val="C0C0C0"/>
              </a:highlight>
            </a:endParaRPr>
          </a:p>
          <a:p>
            <a:r>
              <a:rPr lang="en-US" altLang="zh-CN" sz="1200"/>
              <a:t>  auto *leaf_page = </a:t>
            </a:r>
            <a:r>
              <a:rPr lang="en-US" altLang="zh-CN" sz="1200" b="1" u="sng"/>
              <a:t>FindLeafPage</a:t>
            </a:r>
            <a:r>
              <a:rPr lang="en-US" altLang="zh-CN" sz="1200"/>
              <a:t>(key);</a:t>
            </a:r>
            <a:endParaRPr lang="en-US" altLang="zh-CN" sz="1200"/>
          </a:p>
          <a:p>
            <a:r>
              <a:rPr lang="en-US" altLang="zh-CN" sz="1200"/>
              <a:t>  if (leaf_page == nullptr) {    return;  }</a:t>
            </a:r>
            <a:endParaRPr lang="en-US" altLang="zh-CN" sz="1200"/>
          </a:p>
          <a:p>
            <a:r>
              <a:rPr lang="en-US" altLang="zh-CN" sz="1200"/>
              <a:t>  auto *leaf_node = reinterpret_cast&lt;LeafPage *&gt;(leaf_page-&gt;GetData());</a:t>
            </a:r>
            <a:endParaRPr lang="en-US" altLang="zh-CN" sz="1200"/>
          </a:p>
          <a:p>
            <a:r>
              <a:rPr lang="en-US" altLang="zh-CN" sz="1200"/>
              <a:t>      </a:t>
            </a:r>
            <a:r>
              <a:rPr lang="en-US" altLang="zh-CN" sz="1200">
                <a:highlight>
                  <a:srgbClr val="C0C0C0"/>
                </a:highlight>
              </a:rPr>
              <a:t>// </a:t>
            </a:r>
            <a:r>
              <a:rPr lang="zh-CN" altLang="en-US" sz="1200">
                <a:highlight>
                  <a:srgbClr val="C0C0C0"/>
                </a:highlight>
              </a:rPr>
              <a:t>在叶子节点中查找</a:t>
            </a:r>
            <a:r>
              <a:rPr lang="en-US" altLang="zh-CN" sz="1200">
                <a:highlight>
                  <a:srgbClr val="C0C0C0"/>
                </a:highlight>
              </a:rPr>
              <a:t>key</a:t>
            </a:r>
            <a:r>
              <a:rPr lang="zh-CN" altLang="en-US" sz="1200">
                <a:highlight>
                  <a:srgbClr val="C0C0C0"/>
                </a:highlight>
              </a:rPr>
              <a:t>的位置</a:t>
            </a:r>
            <a:endParaRPr lang="zh-CN" altLang="en-US" sz="1200">
              <a:highlight>
                <a:srgbClr val="C0C0C0"/>
              </a:highlight>
            </a:endParaRPr>
          </a:p>
          <a:p>
            <a:r>
              <a:rPr lang="en-US" altLang="zh-CN" sz="1200"/>
              <a:t>  int index = -1;</a:t>
            </a:r>
            <a:endParaRPr lang="en-US" altLang="zh-CN" sz="1200"/>
          </a:p>
          <a:p>
            <a:r>
              <a:rPr lang="en-US" altLang="zh-CN" sz="1200"/>
              <a:t>  for (int i = 0; i &lt; leaf_node-&gt;GetSize(); i++) {</a:t>
            </a:r>
            <a:endParaRPr lang="en-US" altLang="zh-CN" sz="1200"/>
          </a:p>
          <a:p>
            <a:r>
              <a:rPr lang="en-US" altLang="zh-CN" sz="1200"/>
              <a:t>    if (comparator_(leaf_node-&gt;KeyAt(i), key) == 0) {</a:t>
            </a:r>
            <a:endParaRPr lang="en-US" altLang="zh-CN" sz="1200"/>
          </a:p>
          <a:p>
            <a:r>
              <a:rPr lang="en-US" altLang="zh-CN" sz="1200"/>
              <a:t>      index = i;</a:t>
            </a:r>
            <a:endParaRPr lang="en-US" altLang="zh-CN" sz="1200"/>
          </a:p>
          <a:p>
            <a:r>
              <a:rPr lang="en-US" altLang="zh-CN" sz="1200"/>
              <a:t>      break;</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600" b="1" dirty="0">
                <a:solidFill>
                  <a:srgbClr val="4A90E2"/>
                </a:solidFill>
              </a:rPr>
              <a:t>B</a:t>
            </a:r>
            <a:r>
              <a:rPr lang="zh-CN" altLang="en-US" sz="1600" b="1" dirty="0">
                <a:solidFill>
                  <a:srgbClr val="4A90E2"/>
                </a:solidFill>
              </a:rPr>
              <a:t>+树的删除</a:t>
            </a:r>
            <a:endParaRPr lang="en-US" sz="1600" dirty="0"/>
          </a:p>
        </p:txBody>
      </p:sp>
      <p:sp>
        <p:nvSpPr>
          <p:cNvPr id="5"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195286"/>
            <a:ext cx="3401205" cy="5080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相关</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3" action="ppaction://hlinksldjump"/>
              </a:rPr>
              <a:t>辅助函数</a:t>
            </a:r>
            <a:r>
              <a:rPr lang="en-US" altLang="zh-CN"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3" action="ppaction://hlinksldjump"/>
              </a:rPr>
              <a:t>FindLeafPage</a:t>
            </a:r>
            <a:endParaRPr 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删除函数细节</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3415030"/>
          </a:xfrm>
          <a:prstGeom prst="rect">
            <a:avLst/>
          </a:prstGeom>
        </p:spPr>
        <p:txBody>
          <a:bodyPr wrap="square" rtlCol="0">
            <a:spAutoFit/>
          </a:bodyPr>
          <a:p>
            <a:r>
              <a:rPr lang="en-US" altLang="zh-CN" sz="1200"/>
              <a:t>    </a:t>
            </a:r>
            <a:r>
              <a:rPr lang="en-US" altLang="zh-CN" sz="1200">
                <a:highlight>
                  <a:srgbClr val="C0C0C0"/>
                </a:highlight>
              </a:rPr>
              <a:t> // </a:t>
            </a:r>
            <a:r>
              <a:rPr lang="zh-CN" altLang="en-US" sz="1200">
                <a:highlight>
                  <a:srgbClr val="C0C0C0"/>
                </a:highlight>
              </a:rPr>
              <a:t>如果</a:t>
            </a:r>
            <a:r>
              <a:rPr lang="en-US" altLang="zh-CN" sz="1200">
                <a:highlight>
                  <a:srgbClr val="C0C0C0"/>
                </a:highlight>
              </a:rPr>
              <a:t>key</a:t>
            </a:r>
            <a:r>
              <a:rPr lang="zh-CN" altLang="en-US" sz="1200">
                <a:highlight>
                  <a:srgbClr val="C0C0C0"/>
                </a:highlight>
              </a:rPr>
              <a:t>不存在，直接返回</a:t>
            </a:r>
            <a:endParaRPr lang="zh-CN" altLang="en-US" sz="1200">
              <a:highlight>
                <a:srgbClr val="C0C0C0"/>
              </a:highlight>
            </a:endParaRPr>
          </a:p>
          <a:p>
            <a:r>
              <a:rPr lang="en-US" altLang="zh-CN" sz="1200"/>
              <a:t>  if (index == -1) {</a:t>
            </a:r>
            <a:endParaRPr lang="en-US" altLang="zh-CN" sz="1200"/>
          </a:p>
          <a:p>
            <a:r>
              <a:rPr lang="en-US" altLang="zh-CN" sz="1200"/>
              <a:t>    buffer_pool_manager_-&gt;UnpinPage(leaf_page-&gt;GetPageId(), false);</a:t>
            </a:r>
            <a:endParaRPr lang="en-US" altLang="zh-CN" sz="1200"/>
          </a:p>
          <a:p>
            <a:r>
              <a:rPr lang="en-US" altLang="zh-CN" sz="1200"/>
              <a:t>    return;</a:t>
            </a:r>
            <a:endParaRPr lang="en-US" altLang="zh-CN" sz="1200"/>
          </a:p>
          <a:p>
            <a:r>
              <a:rPr lang="en-US" altLang="zh-CN" sz="1200"/>
              <a:t>  }</a:t>
            </a:r>
            <a:endParaRPr lang="en-US" altLang="zh-CN" sz="1200"/>
          </a:p>
          <a:p>
            <a:endParaRPr lang="en-US" altLang="zh-CN" sz="1200"/>
          </a:p>
          <a:p>
            <a:r>
              <a:rPr lang="en-US" altLang="zh-CN" sz="1200">
                <a:highlight>
                  <a:srgbClr val="C0C0C0"/>
                </a:highlight>
              </a:rPr>
              <a:t>  //3. </a:t>
            </a:r>
            <a:r>
              <a:rPr lang="zh-CN" altLang="en-US" sz="1200">
                <a:highlight>
                  <a:srgbClr val="C0C0C0"/>
                </a:highlight>
              </a:rPr>
              <a:t>从叶子节点中删除</a:t>
            </a:r>
            <a:r>
              <a:rPr lang="en-US" altLang="zh-CN" sz="1200">
                <a:highlight>
                  <a:srgbClr val="C0C0C0"/>
                </a:highlight>
              </a:rPr>
              <a:t>key</a:t>
            </a:r>
            <a:endParaRPr lang="en-US" altLang="zh-CN" sz="1200">
              <a:highlight>
                <a:srgbClr val="C0C0C0"/>
              </a:highlight>
            </a:endParaRPr>
          </a:p>
          <a:p>
            <a:r>
              <a:rPr lang="en-US" altLang="zh-CN" sz="1200"/>
              <a:t>  leaf_node-&gt;RemoveAt(index);</a:t>
            </a:r>
            <a:endParaRPr lang="en-US" altLang="zh-CN" sz="1200"/>
          </a:p>
          <a:p>
            <a:r>
              <a:rPr lang="en-US" altLang="zh-CN" sz="1200"/>
              <a:t>  </a:t>
            </a:r>
            <a:endParaRPr lang="en-US" altLang="zh-CN" sz="1200"/>
          </a:p>
          <a:p>
            <a:r>
              <a:rPr lang="en-US" altLang="zh-CN" sz="1200">
                <a:highlight>
                  <a:srgbClr val="C0C0C0"/>
                </a:highlight>
              </a:rPr>
              <a:t>  // 4.</a:t>
            </a:r>
            <a:r>
              <a:rPr lang="zh-CN" altLang="en-US" sz="1200">
                <a:highlight>
                  <a:srgbClr val="C0C0C0"/>
                </a:highlight>
              </a:rPr>
              <a:t>检查是否需要合并或重分配</a:t>
            </a:r>
            <a:endParaRPr lang="zh-CN" altLang="en-US" sz="1200">
              <a:highlight>
                <a:srgbClr val="C0C0C0"/>
              </a:highlight>
            </a:endParaRPr>
          </a:p>
          <a:p>
            <a:r>
              <a:rPr lang="en-US" altLang="zh-CN" sz="1200"/>
              <a:t>  if (leaf_node-&gt;GetSize() &lt; leaf_node-&gt;GetMinSize()) {</a:t>
            </a:r>
            <a:endParaRPr lang="en-US" altLang="zh-CN" sz="1200"/>
          </a:p>
          <a:p>
            <a:r>
              <a:rPr lang="en-US" altLang="zh-CN" sz="1200"/>
              <a:t>    //std::cout&lt;&lt;leaf_node-&gt;GetPageId()&lt;&lt;" </a:t>
            </a:r>
            <a:r>
              <a:rPr lang="zh-CN" altLang="en-US" sz="1200"/>
              <a:t>叶子节点大小</a:t>
            </a:r>
            <a:r>
              <a:rPr lang="en-US" altLang="zh-CN" sz="1200"/>
              <a:t>: "&lt;&lt;leaf_node-&gt;GetSize()&lt;&lt;", </a:t>
            </a:r>
            <a:r>
              <a:rPr lang="zh-CN" altLang="en-US" sz="1200"/>
              <a:t>最小大小</a:t>
            </a:r>
            <a:r>
              <a:rPr lang="en-US" altLang="zh-CN" sz="1200"/>
              <a:t>: "&lt;&lt;leaf_node-&gt;GetMinSize()&lt;&lt;std::endl;</a:t>
            </a:r>
            <a:endParaRPr lang="en-US" altLang="zh-CN" sz="1200"/>
          </a:p>
          <a:p>
            <a:r>
              <a:rPr lang="en-US" altLang="zh-CN" sz="1200"/>
              <a:t>    </a:t>
            </a:r>
            <a:r>
              <a:rPr lang="en-US" altLang="zh-CN" sz="1200" b="1" u="sng">
                <a:solidFill>
                  <a:srgbClr val="000000"/>
                </a:solidFill>
              </a:rPr>
              <a:t>CoalesceOrRedistribute</a:t>
            </a:r>
            <a:r>
              <a:rPr lang="en-US" altLang="zh-CN" sz="1200"/>
              <a:t>(leaf_node, transaction);</a:t>
            </a:r>
            <a:endParaRPr lang="en-US" altLang="zh-CN" sz="1200"/>
          </a:p>
          <a:p>
            <a:r>
              <a:rPr lang="en-US" altLang="zh-CN" sz="1200"/>
              <a:t>  } else {</a:t>
            </a:r>
            <a:endParaRPr lang="en-US" altLang="zh-CN" sz="1200"/>
          </a:p>
          <a:p>
            <a:r>
              <a:rPr lang="en-US" altLang="zh-CN" sz="1200"/>
              <a:t>    buffer_pool_manager_-&gt;UnpinPage(leaf_page-&gt;GetPageId(), true);</a:t>
            </a:r>
            <a:endParaRPr lang="en-US" altLang="zh-CN" sz="1200"/>
          </a:p>
          <a:p>
            <a:r>
              <a:rPr lang="en-US" altLang="zh-CN" sz="1200"/>
              <a:t>  }</a:t>
            </a:r>
            <a:endParaRPr lang="en-US" altLang="zh-CN" sz="1200"/>
          </a:p>
          <a:p>
            <a:r>
              <a:rPr lang="en-US" altLang="zh-CN" sz="1200"/>
              <a:t>}   </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600" b="1" dirty="0">
                <a:solidFill>
                  <a:srgbClr val="4A90E2"/>
                </a:solidFill>
              </a:rPr>
              <a:t>B</a:t>
            </a:r>
            <a:r>
              <a:rPr lang="zh-CN" altLang="en-US" sz="1600" b="1" dirty="0">
                <a:solidFill>
                  <a:srgbClr val="4A90E2"/>
                </a:solidFill>
              </a:rPr>
              <a:t>+树的删除</a:t>
            </a:r>
            <a:endParaRPr lang="en-US" sz="16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5631180"/>
          </a:xfrm>
          <a:prstGeom prst="rect">
            <a:avLst/>
          </a:prstGeom>
        </p:spPr>
        <p:txBody>
          <a:bodyPr wrap="square" rtlCol="0">
            <a:spAutoFit/>
          </a:bodyPr>
          <a:p>
            <a:r>
              <a:rPr lang="en-US" altLang="zh-CN" sz="1200"/>
              <a:t>INDEX_TEMPLATE_ARGUMENTS</a:t>
            </a:r>
            <a:endParaRPr lang="en-US" altLang="zh-CN" sz="1200"/>
          </a:p>
          <a:p>
            <a:r>
              <a:rPr lang="en-US" altLang="zh-CN" sz="1200"/>
              <a:t>template &lt;typename N&gt;</a:t>
            </a:r>
            <a:endParaRPr lang="en-US" altLang="zh-CN" sz="1200"/>
          </a:p>
          <a:p>
            <a:r>
              <a:rPr lang="en-US" altLang="zh-CN" sz="1200"/>
              <a:t>void BPLUSTREE_TYPE::CoalesceOrRedistribute(N *node, Transaction *transaction) {</a:t>
            </a:r>
            <a:endParaRPr lang="en-US" altLang="zh-CN" sz="1200"/>
          </a:p>
          <a:p>
            <a:r>
              <a:rPr lang="en-US" altLang="zh-CN" sz="1200">
                <a:solidFill>
                  <a:srgbClr val="000000"/>
                </a:solidFill>
                <a:highlight>
                  <a:srgbClr val="C0C0C0"/>
                </a:highlight>
              </a:rPr>
              <a:t>  // 1.</a:t>
            </a:r>
            <a:r>
              <a:rPr lang="zh-CN" altLang="en-US" sz="1200">
                <a:solidFill>
                  <a:srgbClr val="000000"/>
                </a:solidFill>
                <a:highlight>
                  <a:srgbClr val="C0C0C0"/>
                </a:highlight>
              </a:rPr>
              <a:t>如果是根节点，特殊处理</a:t>
            </a:r>
            <a:endParaRPr lang="zh-CN" altLang="en-US" sz="1200">
              <a:solidFill>
                <a:srgbClr val="000000"/>
              </a:solidFill>
              <a:highlight>
                <a:srgbClr val="C0C0C0"/>
              </a:highlight>
            </a:endParaRPr>
          </a:p>
          <a:p>
            <a:r>
              <a:rPr lang="en-US" altLang="zh-CN" sz="1200"/>
              <a:t>  if (node-&gt;IsRootPage()) {    AdjustRoot(node);    return;  }</a:t>
            </a:r>
            <a:endParaRPr lang="en-US" altLang="zh-CN" sz="1200"/>
          </a:p>
          <a:p>
            <a:endParaRPr lang="en-US" altLang="zh-CN" sz="1200"/>
          </a:p>
          <a:p>
            <a:r>
              <a:rPr lang="en-US" altLang="zh-CN" sz="1200">
                <a:highlight>
                  <a:srgbClr val="C0C0C0"/>
                </a:highlight>
              </a:rPr>
              <a:t>  // 2.</a:t>
            </a:r>
            <a:r>
              <a:rPr lang="zh-CN" altLang="en-US" sz="1200">
                <a:highlight>
                  <a:srgbClr val="C0C0C0"/>
                </a:highlight>
              </a:rPr>
              <a:t>获取父节点</a:t>
            </a:r>
            <a:endParaRPr lang="zh-CN" altLang="en-US" sz="1200">
              <a:highlight>
                <a:srgbClr val="C0C0C0"/>
              </a:highlight>
            </a:endParaRPr>
          </a:p>
          <a:p>
            <a:r>
              <a:rPr lang="en-US" altLang="zh-CN" sz="1200"/>
              <a:t>  auto *parent_page = buffer_pool_manager_-&gt;FetchPage(node-&gt;GetParentPageId());</a:t>
            </a:r>
            <a:endParaRPr lang="en-US" altLang="zh-CN" sz="1200"/>
          </a:p>
          <a:p>
            <a:r>
              <a:rPr lang="en-US" altLang="zh-CN" sz="1200"/>
              <a:t>  if (parent_page == nullptr) {</a:t>
            </a:r>
            <a:endParaRPr lang="en-US" altLang="zh-CN" sz="1200"/>
          </a:p>
          <a:p>
            <a:r>
              <a:rPr lang="en-US" altLang="zh-CN" sz="1200"/>
              <a:t>    buffer_pool_manager_-&gt;UnpinPage(node-&gt;GetPageId(), true);</a:t>
            </a:r>
            <a:endParaRPr lang="en-US" altLang="zh-CN" sz="1200"/>
          </a:p>
          <a:p>
            <a:r>
              <a:rPr lang="en-US" altLang="zh-CN" sz="1200"/>
              <a:t>    return;</a:t>
            </a:r>
            <a:endParaRPr lang="en-US" altLang="zh-CN" sz="1200"/>
          </a:p>
          <a:p>
            <a:r>
              <a:rPr lang="en-US" altLang="zh-CN" sz="1200"/>
              <a:t>  }  </a:t>
            </a:r>
            <a:endParaRPr lang="en-US" altLang="zh-CN" sz="1200"/>
          </a:p>
          <a:p>
            <a:r>
              <a:rPr lang="en-US" altLang="zh-CN" sz="1200"/>
              <a:t>  auto *parent = reinterpret_cast&lt;InternalPage *&gt;(parent_page-&gt;GetData());</a:t>
            </a:r>
            <a:endParaRPr lang="en-US" altLang="zh-CN" sz="1200"/>
          </a:p>
          <a:p>
            <a:r>
              <a:rPr lang="en-US" altLang="zh-CN" sz="1200"/>
              <a:t>  </a:t>
            </a:r>
            <a:endParaRPr lang="en-US" altLang="zh-CN" sz="1200"/>
          </a:p>
          <a:p>
            <a:r>
              <a:rPr lang="en-US" altLang="zh-CN" sz="1200"/>
              <a:t>  // </a:t>
            </a:r>
            <a:r>
              <a:rPr lang="zh-CN" altLang="en-US" sz="1200"/>
              <a:t>找到</a:t>
            </a:r>
            <a:r>
              <a:rPr lang="en-US" altLang="zh-CN" sz="1200"/>
              <a:t>node</a:t>
            </a:r>
            <a:r>
              <a:rPr lang="zh-CN" altLang="en-US" sz="1200"/>
              <a:t>在父节点中的索引</a:t>
            </a:r>
            <a:endParaRPr lang="zh-CN" altLang="en-US" sz="1200"/>
          </a:p>
          <a:p>
            <a:r>
              <a:rPr lang="en-US" altLang="zh-CN" sz="1200"/>
              <a:t>  int node_index = -1;</a:t>
            </a:r>
            <a:endParaRPr lang="en-US" altLang="zh-CN" sz="1200"/>
          </a:p>
          <a:p>
            <a:r>
              <a:rPr lang="en-US" altLang="zh-CN" sz="1200"/>
              <a:t>  for (int i = 0; i &lt; parent-&gt;GetSize(); i++) {</a:t>
            </a:r>
            <a:endParaRPr lang="en-US" altLang="zh-CN" sz="1200"/>
          </a:p>
          <a:p>
            <a:r>
              <a:rPr lang="en-US" altLang="zh-CN" sz="1200"/>
              <a:t>    // parent-&gt;ValueAt(i) </a:t>
            </a:r>
            <a:r>
              <a:rPr lang="zh-CN" altLang="en-US" sz="1200"/>
              <a:t>获取第</a:t>
            </a:r>
            <a:r>
              <a:rPr lang="en-US" altLang="zh-CN" sz="1200"/>
              <a:t>i</a:t>
            </a:r>
            <a:r>
              <a:rPr lang="zh-CN" altLang="en-US" sz="1200"/>
              <a:t>个孩子节点的</a:t>
            </a:r>
            <a:r>
              <a:rPr lang="en-US" altLang="zh-CN" sz="1200"/>
              <a:t>page_id</a:t>
            </a:r>
            <a:endParaRPr lang="en-US" altLang="zh-CN" sz="1200"/>
          </a:p>
          <a:p>
            <a:r>
              <a:rPr lang="en-US" altLang="zh-CN" sz="1200"/>
              <a:t>    if (parent-&gt;ValueAt(i) == node-&gt;GetPageId()) {</a:t>
            </a:r>
            <a:endParaRPr lang="en-US" altLang="zh-CN" sz="1200"/>
          </a:p>
          <a:p>
            <a:r>
              <a:rPr lang="en-US" altLang="zh-CN" sz="1200"/>
              <a:t>      node_index = i;</a:t>
            </a:r>
            <a:endParaRPr lang="en-US" altLang="zh-CN" sz="1200"/>
          </a:p>
          <a:p>
            <a:r>
              <a:rPr lang="en-US" altLang="zh-CN" sz="1200"/>
              <a:t>      break;</a:t>
            </a:r>
            <a:endParaRPr lang="en-US" altLang="zh-CN" sz="1200"/>
          </a:p>
          <a:p>
            <a:r>
              <a:rPr lang="en-US" altLang="zh-CN" sz="1200"/>
              <a:t>    }</a:t>
            </a:r>
            <a:endParaRPr lang="en-US" altLang="zh-CN" sz="1200"/>
          </a:p>
          <a:p>
            <a:r>
              <a:rPr lang="en-US" altLang="zh-CN" sz="1200"/>
              <a:t>  }</a:t>
            </a:r>
            <a:endParaRPr lang="en-US" altLang="zh-CN" sz="1200"/>
          </a:p>
          <a:p>
            <a:r>
              <a:rPr lang="en-US" altLang="zh-CN" sz="1200"/>
              <a:t>    if (node_index == -1) {</a:t>
            </a:r>
            <a:endParaRPr lang="en-US" altLang="zh-CN" sz="1200"/>
          </a:p>
          <a:p>
            <a:r>
              <a:rPr lang="en-US" altLang="zh-CN" sz="1200"/>
              <a:t>    buffer_pool_manager_-&gt;UnpinPage(parent_page-&gt;GetPageId(), false);</a:t>
            </a:r>
            <a:endParaRPr lang="en-US" altLang="zh-CN" sz="1200"/>
          </a:p>
          <a:p>
            <a:r>
              <a:rPr lang="en-US" altLang="zh-CN" sz="1200"/>
              <a:t>    buffer_pool_manager_-&gt;UnpinPage(node-&gt;GetPageId(), true);</a:t>
            </a:r>
            <a:endParaRPr lang="en-US" altLang="zh-CN" sz="1200"/>
          </a:p>
          <a:p>
            <a:r>
              <a:rPr lang="en-US" altLang="zh-CN" sz="1200"/>
              <a:t>    return;</a:t>
            </a:r>
            <a:endParaRPr lang="en-US" altLang="zh-CN" sz="1200"/>
          </a:p>
          <a:p>
            <a:r>
              <a:rPr lang="en-US" altLang="zh-CN" sz="1200"/>
              <a:t>  }</a:t>
            </a:r>
            <a:endParaRPr lang="en-US" altLang="zh-CN" sz="1200"/>
          </a:p>
          <a:p>
            <a:r>
              <a:rPr lang="en-US" altLang="zh-CN" sz="1200"/>
              <a:t>  </a:t>
            </a:r>
            <a:endParaRPr lang="en-US" altLang="zh-CN" sz="1200"/>
          </a:p>
          <a:p>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CoalesceOrRedistribute(N *node, Transaction *transaction)</a:t>
            </a:r>
            <a:r>
              <a:rPr lang="zh-CN" altLang="en-US" sz="1400" b="1" dirty="0">
                <a:solidFill>
                  <a:srgbClr val="4A90E2"/>
                </a:solidFill>
              </a:rPr>
              <a:t>；</a:t>
            </a:r>
            <a:endParaRPr lang="en-US" sz="14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tooltip="" action="ppaction://hlinksldjump"/>
              </a:rPr>
              <a:t>删除算法原理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5"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018393"/>
            <a:ext cx="3401205" cy="820964"/>
          </a:xfrm>
          <a:prstGeom prst="rect">
            <a:avLst/>
          </a:prstGeom>
          <a:noFill/>
        </p:spPr>
        <p:txBody>
          <a:bodyPr wrap="square" lIns="0" tIns="0" rIns="0" bIns="0" rtlCol="0" anchor="ctr"/>
          <a:lstStyle/>
          <a:p>
            <a:pPr>
              <a:lnSpc>
                <a:spcPct val="120000"/>
              </a:lnSpc>
            </a:pPr>
            <a:r>
              <a:rPr lang="zh-CN" altLang="en-US" sz="14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rPr>
              <a:t>统一处理</a:t>
            </a:r>
            <a:r>
              <a:rPr lang="en-US" altLang="zh-CN"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B+</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树节点删除后可能出现的下溢情况，通过借键或合并操作维持树的平衡性，确保节点满足页面大小要求。</a:t>
            </a:r>
            <a:endParaRPr 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3969385"/>
          </a:xfrm>
          <a:prstGeom prst="rect">
            <a:avLst/>
          </a:prstGeom>
        </p:spPr>
        <p:txBody>
          <a:bodyPr wrap="square" rtlCol="0">
            <a:spAutoFit/>
          </a:bodyPr>
          <a:p>
            <a:r>
              <a:rPr lang="en-US" altLang="zh-CN" sz="1200">
                <a:highlight>
                  <a:srgbClr val="C0C0C0"/>
                </a:highlight>
              </a:rPr>
              <a:t>  // 3.</a:t>
            </a:r>
            <a:r>
              <a:rPr lang="zh-CN" altLang="en-US" sz="1200">
                <a:highlight>
                  <a:srgbClr val="C0C0C0"/>
                </a:highlight>
              </a:rPr>
              <a:t>尝试从左兄弟借</a:t>
            </a:r>
            <a:endParaRPr lang="zh-CN" altLang="en-US" sz="1200">
              <a:highlight>
                <a:srgbClr val="C0C0C0"/>
              </a:highlight>
            </a:endParaRPr>
          </a:p>
          <a:p>
            <a:r>
              <a:rPr lang="en-US" altLang="zh-CN" sz="1200"/>
              <a:t>  if (node_index &gt; 0) {</a:t>
            </a:r>
            <a:endParaRPr lang="en-US" altLang="zh-CN" sz="1200"/>
          </a:p>
          <a:p>
            <a:r>
              <a:rPr lang="en-US" altLang="zh-CN" sz="1200"/>
              <a:t>    //std::cout&lt;&lt;"</a:t>
            </a:r>
            <a:r>
              <a:rPr lang="zh-CN" altLang="en-US" sz="1200"/>
              <a:t>从左兄弟借</a:t>
            </a:r>
            <a:r>
              <a:rPr lang="en-US" altLang="zh-CN" sz="1200"/>
              <a:t>"&lt;&lt;std::endl;</a:t>
            </a:r>
            <a:endParaRPr lang="en-US" altLang="zh-CN" sz="1200"/>
          </a:p>
          <a:p>
            <a:r>
              <a:rPr lang="en-US" altLang="zh-CN" sz="1200"/>
              <a:t>    page_id_t left_sibling_id = parent-&gt;ValueAt(node_index - 1);</a:t>
            </a:r>
            <a:endParaRPr lang="en-US" altLang="zh-CN" sz="1200"/>
          </a:p>
          <a:p>
            <a:r>
              <a:rPr lang="en-US" altLang="zh-CN" sz="1200"/>
              <a:t>    auto *left_page = buffer_pool_manager_-&gt;FetchPage(left_sibling_id);</a:t>
            </a:r>
            <a:endParaRPr lang="en-US" altLang="zh-CN" sz="1200"/>
          </a:p>
          <a:p>
            <a:r>
              <a:rPr lang="en-US" altLang="zh-CN" sz="1200"/>
              <a:t>    auto *left_sibling = reinterpret_cast&lt;N *&gt;(left_page-&gt;GetData());</a:t>
            </a:r>
            <a:endParaRPr lang="en-US" altLang="zh-CN" sz="1200"/>
          </a:p>
          <a:p>
            <a:r>
              <a:rPr lang="en-US" altLang="zh-CN" sz="1200"/>
              <a:t>        // </a:t>
            </a:r>
            <a:r>
              <a:rPr lang="zh-CN" altLang="en-US" sz="1200"/>
              <a:t>判断左兄弟是否有富余</a:t>
            </a:r>
            <a:endParaRPr lang="zh-CN" altLang="en-US" sz="1200"/>
          </a:p>
          <a:p>
            <a:r>
              <a:rPr lang="en-US" altLang="zh-CN" sz="1200"/>
              <a:t>    bool left_has_surplus;</a:t>
            </a:r>
            <a:endParaRPr lang="en-US" altLang="zh-CN" sz="1200"/>
          </a:p>
          <a:p>
            <a:r>
              <a:rPr lang="en-US" altLang="zh-CN" sz="1200"/>
              <a:t>    left_has_surplus = (left_sibling-&gt;GetSize() &gt; left_sibling-&gt;GetMinSize());</a:t>
            </a:r>
            <a:endParaRPr lang="en-US" altLang="zh-CN" sz="1200"/>
          </a:p>
          <a:p>
            <a:r>
              <a:rPr lang="en-US" altLang="zh-CN" sz="1200"/>
              <a:t>    if (left_has_surplus) {</a:t>
            </a:r>
            <a:endParaRPr lang="en-US" altLang="zh-CN" sz="1200"/>
          </a:p>
          <a:p>
            <a:r>
              <a:rPr lang="en-US" altLang="zh-CN" sz="1200"/>
              <a:t>      // </a:t>
            </a:r>
            <a:r>
              <a:rPr lang="zh-CN" altLang="en-US" sz="1200"/>
              <a:t>从左兄弟重分配</a:t>
            </a:r>
            <a:endParaRPr lang="zh-CN" altLang="en-US" sz="1200"/>
          </a:p>
          <a:p>
            <a:r>
              <a:rPr lang="en-US" altLang="zh-CN" sz="1200"/>
              <a:t>      </a:t>
            </a:r>
            <a:r>
              <a:rPr lang="en-US" altLang="zh-CN" sz="1200" b="1" u="sng"/>
              <a:t>Redistribute</a:t>
            </a:r>
            <a:r>
              <a:rPr lang="en-US" altLang="zh-CN" sz="1200"/>
              <a:t>(left_sibling, node, parent, node_index - 1, true);</a:t>
            </a:r>
            <a:endParaRPr lang="en-US" altLang="zh-CN" sz="1200"/>
          </a:p>
          <a:p>
            <a:r>
              <a:rPr lang="en-US" altLang="zh-CN" sz="1200"/>
              <a:t>      buffer_pool_manager_-&gt;UnpinPage(left_page-&gt;GetPageId(), true);</a:t>
            </a:r>
            <a:endParaRPr lang="en-US" altLang="zh-CN" sz="1200"/>
          </a:p>
          <a:p>
            <a:r>
              <a:rPr lang="en-US" altLang="zh-CN" sz="1200"/>
              <a:t>      buffer_pool_manager_-&gt;UnpinPage(parent_page-&gt;GetPageId(), true);</a:t>
            </a:r>
            <a:endParaRPr lang="en-US" altLang="zh-CN" sz="1200"/>
          </a:p>
          <a:p>
            <a:r>
              <a:rPr lang="en-US" altLang="zh-CN" sz="1200"/>
              <a:t>      buffer_pool_manager_-&gt;UnpinPage(node-&gt;GetPageId(), true);</a:t>
            </a:r>
            <a:endParaRPr lang="en-US" altLang="zh-CN" sz="1200"/>
          </a:p>
          <a:p>
            <a:r>
              <a:rPr lang="en-US" altLang="zh-CN" sz="1200"/>
              <a:t>      return;</a:t>
            </a:r>
            <a:endParaRPr lang="en-US" altLang="zh-CN" sz="1200"/>
          </a:p>
          <a:p>
            <a:r>
              <a:rPr lang="en-US" altLang="zh-CN" sz="1200"/>
              <a:t>    }</a:t>
            </a:r>
            <a:endParaRPr lang="en-US" altLang="zh-CN" sz="1200"/>
          </a:p>
          <a:p>
            <a:r>
              <a:rPr lang="en-US" altLang="zh-CN" sz="1200"/>
              <a:t>    buffer_pool_manager_-&gt;UnpinPage(left_page-&gt;GetPageId(), false);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CoalesceOrRedistribute(N *node,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4707890"/>
          </a:xfrm>
          <a:prstGeom prst="rect">
            <a:avLst/>
          </a:prstGeom>
        </p:spPr>
        <p:txBody>
          <a:bodyPr wrap="square" rtlCol="0">
            <a:spAutoFit/>
          </a:bodyPr>
          <a:p>
            <a:r>
              <a:rPr lang="en-US" altLang="zh-CN" sz="1200">
                <a:highlight>
                  <a:srgbClr val="C0C0C0"/>
                </a:highlight>
              </a:rPr>
              <a:t>// 4.</a:t>
            </a:r>
            <a:r>
              <a:rPr lang="zh-CN" altLang="en-US" sz="1200">
                <a:highlight>
                  <a:srgbClr val="C0C0C0"/>
                </a:highlight>
              </a:rPr>
              <a:t>尝试从右兄弟借</a:t>
            </a:r>
            <a:endParaRPr lang="zh-CN" altLang="en-US" sz="1200">
              <a:highlight>
                <a:srgbClr val="C0C0C0"/>
              </a:highlight>
            </a:endParaRPr>
          </a:p>
          <a:p>
            <a:r>
              <a:rPr lang="en-US" altLang="zh-CN" sz="1200"/>
              <a:t>  if (node_index &lt; parent-&gt;GetSize() - 1) {</a:t>
            </a:r>
            <a:endParaRPr lang="en-US" altLang="zh-CN" sz="1200"/>
          </a:p>
          <a:p>
            <a:r>
              <a:rPr lang="en-US" altLang="zh-CN" sz="1200"/>
              <a:t>    //std::cout&lt;&lt;"</a:t>
            </a:r>
            <a:r>
              <a:rPr lang="zh-CN" altLang="en-US" sz="1200"/>
              <a:t>从右兄弟借</a:t>
            </a:r>
            <a:r>
              <a:rPr lang="en-US" altLang="zh-CN" sz="1200"/>
              <a:t>"&lt;&lt;std::endl;</a:t>
            </a:r>
            <a:endParaRPr lang="en-US" altLang="zh-CN" sz="1200"/>
          </a:p>
          <a:p>
            <a:r>
              <a:rPr lang="en-US" altLang="zh-CN" sz="1200"/>
              <a:t>    page_id_t right_sibling_id = parent-&gt;ValueAt(node_index + 1);</a:t>
            </a:r>
            <a:endParaRPr lang="en-US" altLang="zh-CN" sz="1200"/>
          </a:p>
          <a:p>
            <a:r>
              <a:rPr lang="en-US" altLang="zh-CN" sz="1200"/>
              <a:t>    auto *right_page = buffer_pool_manager_-&gt;FetchPage(right_sibling_id);</a:t>
            </a:r>
            <a:endParaRPr lang="en-US" altLang="zh-CN" sz="1200"/>
          </a:p>
          <a:p>
            <a:r>
              <a:rPr lang="en-US" altLang="zh-CN" sz="1200"/>
              <a:t>    auto *right_sibling = reinterpret_cast&lt;N *&gt;(right_page-&gt;GetData());</a:t>
            </a:r>
            <a:endParaRPr lang="en-US" altLang="zh-CN" sz="1200"/>
          </a:p>
          <a:p>
            <a:r>
              <a:rPr lang="en-US" altLang="zh-CN" sz="1200"/>
              <a:t>    </a:t>
            </a:r>
            <a:endParaRPr lang="en-US" altLang="zh-CN" sz="1200"/>
          </a:p>
          <a:p>
            <a:r>
              <a:rPr lang="en-US" altLang="zh-CN" sz="1200"/>
              <a:t>    // </a:t>
            </a:r>
            <a:r>
              <a:rPr lang="zh-CN" altLang="en-US" sz="1200"/>
              <a:t>判断右兄弟是否有富余</a:t>
            </a:r>
            <a:endParaRPr lang="zh-CN" altLang="en-US" sz="1200"/>
          </a:p>
          <a:p>
            <a:r>
              <a:rPr lang="en-US" altLang="zh-CN" sz="1200"/>
              <a:t>    bool right_has_surplus;</a:t>
            </a:r>
            <a:endParaRPr lang="en-US" altLang="zh-CN" sz="1200"/>
          </a:p>
          <a:p>
            <a:r>
              <a:rPr lang="en-US" altLang="zh-CN" sz="1200"/>
              <a:t>    right_has_surplus = (right_sibling-&gt;GetSize() &gt; right_sibling-&gt;GetMinSize());</a:t>
            </a:r>
            <a:endParaRPr lang="en-US" altLang="zh-CN" sz="1200"/>
          </a:p>
          <a:p>
            <a:endParaRPr lang="en-US" altLang="zh-CN" sz="1200"/>
          </a:p>
          <a:p>
            <a:r>
              <a:rPr lang="en-US" altLang="zh-CN" sz="1200"/>
              <a:t>    </a:t>
            </a:r>
            <a:endParaRPr lang="en-US" altLang="zh-CN" sz="1200"/>
          </a:p>
          <a:p>
            <a:r>
              <a:rPr lang="en-US" altLang="zh-CN" sz="1200"/>
              <a:t>    if (right_has_surplus) {</a:t>
            </a:r>
            <a:endParaRPr lang="en-US" altLang="zh-CN" sz="1200"/>
          </a:p>
          <a:p>
            <a:r>
              <a:rPr lang="en-US" altLang="zh-CN" sz="1200"/>
              <a:t>      // </a:t>
            </a:r>
            <a:r>
              <a:rPr lang="zh-CN" altLang="en-US" sz="1200"/>
              <a:t>从右兄弟重分配</a:t>
            </a:r>
            <a:endParaRPr lang="zh-CN" altLang="en-US" sz="1200"/>
          </a:p>
          <a:p>
            <a:r>
              <a:rPr lang="en-US" altLang="zh-CN" sz="1200"/>
              <a:t>      //std::cout&lt;&lt;"</a:t>
            </a:r>
            <a:r>
              <a:rPr lang="zh-CN" altLang="en-US" sz="1200"/>
              <a:t>从右兄弟重分配</a:t>
            </a:r>
            <a:r>
              <a:rPr lang="en-US" altLang="zh-CN" sz="1200"/>
              <a:t>"&lt;&lt;std::endl;</a:t>
            </a:r>
            <a:endParaRPr lang="en-US" altLang="zh-CN" sz="1200"/>
          </a:p>
          <a:p>
            <a:r>
              <a:rPr lang="en-US" altLang="zh-CN" sz="1200"/>
              <a:t>     </a:t>
            </a:r>
            <a:r>
              <a:rPr lang="en-US" altLang="zh-CN" sz="1200" b="1" u="sng"/>
              <a:t> Redistribute</a:t>
            </a:r>
            <a:r>
              <a:rPr lang="en-US" altLang="zh-CN" sz="1200"/>
              <a:t>(node, right_sibling, parent, node_index, false);</a:t>
            </a:r>
            <a:endParaRPr lang="en-US" altLang="zh-CN" sz="1200"/>
          </a:p>
          <a:p>
            <a:r>
              <a:rPr lang="en-US" altLang="zh-CN" sz="1200"/>
              <a:t>      buffer_pool_manager_-&gt;UnpinPage(right_page-&gt;GetPageId(), true);</a:t>
            </a:r>
            <a:endParaRPr lang="en-US" altLang="zh-CN" sz="1200"/>
          </a:p>
          <a:p>
            <a:r>
              <a:rPr lang="en-US" altLang="zh-CN" sz="1200"/>
              <a:t>      buffer_pool_manager_-&gt;UnpinPage(parent_page-&gt;GetPageId(), true);</a:t>
            </a:r>
            <a:endParaRPr lang="en-US" altLang="zh-CN" sz="1200"/>
          </a:p>
          <a:p>
            <a:r>
              <a:rPr lang="en-US" altLang="zh-CN" sz="1200"/>
              <a:t>      buffer_pool_manager_-&gt;UnpinPage(node-&gt;GetPageId(), true);</a:t>
            </a:r>
            <a:endParaRPr lang="en-US" altLang="zh-CN" sz="1200"/>
          </a:p>
          <a:p>
            <a:r>
              <a:rPr lang="en-US" altLang="zh-CN" sz="1200"/>
              <a:t>      return;</a:t>
            </a:r>
            <a:endParaRPr lang="en-US" altLang="zh-CN" sz="1200"/>
          </a:p>
          <a:p>
            <a:r>
              <a:rPr lang="en-US" altLang="zh-CN" sz="1200"/>
              <a:t>    }</a:t>
            </a:r>
            <a:endParaRPr lang="en-US" altLang="zh-CN" sz="1200"/>
          </a:p>
          <a:p>
            <a:r>
              <a:rPr lang="en-US" altLang="zh-CN" sz="1200"/>
              <a:t>    buffer_pool_manager_-&gt;UnpinPage(right_page-&gt;GetPageId(), false);</a:t>
            </a:r>
            <a:endParaRPr lang="en-US" altLang="zh-CN" sz="1200"/>
          </a:p>
          <a:p>
            <a:r>
              <a:rPr lang="en-US" altLang="zh-CN" sz="1200"/>
              <a:t>  }</a:t>
            </a:r>
            <a:endParaRPr lang="en-US" altLang="zh-CN" sz="1200"/>
          </a:p>
          <a:p>
            <a:r>
              <a:rPr lang="en-US" altLang="zh-CN" sz="1200"/>
              <a:t>  </a:t>
            </a:r>
            <a:endParaRPr lang="en-US" altLang="zh-CN" sz="1200"/>
          </a:p>
          <a:p>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CoalesceOrRedistribute(N *node,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4338320"/>
          </a:xfrm>
          <a:prstGeom prst="rect">
            <a:avLst/>
          </a:prstGeom>
        </p:spPr>
        <p:txBody>
          <a:bodyPr wrap="square" rtlCol="0">
            <a:spAutoFit/>
          </a:bodyPr>
          <a:p>
            <a:r>
              <a:rPr lang="en-US" altLang="zh-CN" sz="1200"/>
              <a:t>  // </a:t>
            </a:r>
            <a:r>
              <a:rPr lang="zh-CN" altLang="en-US" sz="1200"/>
              <a:t>需要合并</a:t>
            </a:r>
            <a:endParaRPr lang="zh-CN" altLang="en-US" sz="1200"/>
          </a:p>
          <a:p>
            <a:r>
              <a:rPr lang="en-US" altLang="zh-CN" sz="1200"/>
              <a:t>  if (node_index &gt; 0) {</a:t>
            </a:r>
            <a:endParaRPr lang="en-US" altLang="zh-CN" sz="1200"/>
          </a:p>
          <a:p>
            <a:r>
              <a:rPr lang="en-US" altLang="zh-CN" sz="1200">
                <a:solidFill>
                  <a:srgbClr val="000000"/>
                </a:solidFill>
                <a:highlight>
                  <a:srgbClr val="C0C0C0"/>
                </a:highlight>
              </a:rPr>
              <a:t>    // 5.</a:t>
            </a:r>
            <a:r>
              <a:rPr lang="zh-CN" altLang="en-US" sz="1200">
                <a:solidFill>
                  <a:srgbClr val="000000"/>
                </a:solidFill>
                <a:highlight>
                  <a:srgbClr val="C0C0C0"/>
                </a:highlight>
              </a:rPr>
              <a:t>尝试与左兄弟合并</a:t>
            </a:r>
            <a:endParaRPr lang="zh-CN" altLang="en-US" sz="1200">
              <a:solidFill>
                <a:srgbClr val="000000"/>
              </a:solidFill>
              <a:highlight>
                <a:srgbClr val="C0C0C0"/>
              </a:highlight>
            </a:endParaRPr>
          </a:p>
          <a:p>
            <a:r>
              <a:rPr lang="en-US" altLang="zh-CN" sz="1200"/>
              <a:t>    //std::cout&lt;&lt;"</a:t>
            </a:r>
            <a:r>
              <a:rPr lang="zh-CN" altLang="en-US" sz="1200"/>
              <a:t>与左兄弟合并</a:t>
            </a:r>
            <a:r>
              <a:rPr lang="en-US" altLang="zh-CN" sz="1200"/>
              <a:t>"&lt;&lt;std::endl;</a:t>
            </a:r>
            <a:endParaRPr lang="en-US" altLang="zh-CN" sz="1200"/>
          </a:p>
          <a:p>
            <a:r>
              <a:rPr lang="en-US" altLang="zh-CN" sz="1200"/>
              <a:t>    page_id_t left_sibling_id = parent-&gt;ValueAt(node_index - 1);</a:t>
            </a:r>
            <a:endParaRPr lang="en-US" altLang="zh-CN" sz="1200"/>
          </a:p>
          <a:p>
            <a:r>
              <a:rPr lang="en-US" altLang="zh-CN" sz="1200"/>
              <a:t>    auto *left_page = buffer_pool_manager_-&gt;FetchPage(left_sibling_id);</a:t>
            </a:r>
            <a:endParaRPr lang="en-US" altLang="zh-CN" sz="1200"/>
          </a:p>
          <a:p>
            <a:r>
              <a:rPr lang="en-US" altLang="zh-CN" sz="1200"/>
              <a:t>    auto *left_sibling = reinterpret_cast&lt;N *&gt;(left_page-&gt;GetData());</a:t>
            </a:r>
            <a:endParaRPr lang="en-US" altLang="zh-CN" sz="1200"/>
          </a:p>
          <a:p>
            <a:r>
              <a:rPr lang="en-US" altLang="zh-CN" sz="1200"/>
              <a:t>    </a:t>
            </a:r>
            <a:endParaRPr lang="en-US" altLang="zh-CN" sz="1200"/>
          </a:p>
          <a:p>
            <a:r>
              <a:rPr lang="en-US" altLang="zh-CN" sz="1200"/>
              <a:t>    // </a:t>
            </a:r>
            <a:r>
              <a:rPr lang="zh-CN" altLang="en-US" sz="1200"/>
              <a:t>检查是否可以合并</a:t>
            </a:r>
            <a:endParaRPr lang="zh-CN" altLang="en-US" sz="1200"/>
          </a:p>
          <a:p>
            <a:r>
              <a:rPr lang="en-US" altLang="zh-CN" sz="1200"/>
              <a:t>    // </a:t>
            </a:r>
            <a:r>
              <a:rPr lang="zh-CN" altLang="en-US" sz="1200"/>
              <a:t>对于内部节点，合并条件：</a:t>
            </a:r>
            <a:r>
              <a:rPr lang="en-US" altLang="zh-CN" sz="1200"/>
              <a:t>left_size + node_size &lt;= max_children</a:t>
            </a:r>
            <a:endParaRPr lang="en-US" altLang="zh-CN" sz="1200"/>
          </a:p>
          <a:p>
            <a:r>
              <a:rPr lang="en-US" altLang="zh-CN" sz="1200"/>
              <a:t>    // max_children = max_size </a:t>
            </a:r>
            <a:endParaRPr lang="en-US" altLang="zh-CN" sz="1200"/>
          </a:p>
          <a:p>
            <a:r>
              <a:rPr lang="en-US" altLang="zh-CN" sz="1200"/>
              <a:t>    bool can_coalesce;</a:t>
            </a:r>
            <a:endParaRPr lang="en-US" altLang="zh-CN" sz="1200"/>
          </a:p>
          <a:p>
            <a:r>
              <a:rPr lang="en-US" altLang="zh-CN" sz="1200"/>
              <a:t>    can_coalesce = (left_sibling-&gt;GetSize() + node-&gt;GetSize() &lt;= left_sibling-&gt;GetMaxSize());</a:t>
            </a:r>
            <a:endParaRPr lang="en-US" altLang="zh-CN" sz="1200"/>
          </a:p>
          <a:p>
            <a:r>
              <a:rPr lang="en-US" altLang="zh-CN" sz="1200"/>
              <a:t>    </a:t>
            </a:r>
            <a:endParaRPr lang="en-US" altLang="zh-CN" sz="1200"/>
          </a:p>
          <a:p>
            <a:r>
              <a:rPr lang="en-US" altLang="zh-CN" sz="1200"/>
              <a:t>    if (can_coalesce) {</a:t>
            </a:r>
            <a:endParaRPr lang="en-US" altLang="zh-CN" sz="1200"/>
          </a:p>
          <a:p>
            <a:r>
              <a:rPr lang="en-US" altLang="zh-CN" sz="1200"/>
              <a:t>      </a:t>
            </a:r>
            <a:r>
              <a:rPr lang="en-US" altLang="zh-CN" sz="1200" b="1" u="sng"/>
              <a:t>Coalesce</a:t>
            </a:r>
            <a:r>
              <a:rPr lang="en-US" altLang="zh-CN" sz="1200"/>
              <a:t>(left_sibling, node, parent, node_index , transaction);</a:t>
            </a:r>
            <a:endParaRPr lang="en-US" altLang="zh-CN" sz="1200"/>
          </a:p>
          <a:p>
            <a:r>
              <a:rPr lang="en-US" altLang="zh-CN" sz="1200"/>
              <a:t>      buffer_pool_manager_-&gt;UnpinPage(left_page-&gt;GetPageId(), true);</a:t>
            </a:r>
            <a:endParaRPr lang="en-US" altLang="zh-CN" sz="1200"/>
          </a:p>
          <a:p>
            <a:r>
              <a:rPr lang="en-US" altLang="zh-CN" sz="1200"/>
              <a:t>    } else {</a:t>
            </a:r>
            <a:endParaRPr lang="en-US" altLang="zh-CN" sz="1200"/>
          </a:p>
          <a:p>
            <a:r>
              <a:rPr lang="en-US" altLang="zh-CN" sz="1200"/>
              <a:t>      </a:t>
            </a:r>
            <a:endParaRPr lang="en-US" altLang="zh-CN" sz="1200"/>
          </a:p>
          <a:p>
            <a:r>
              <a:rPr lang="en-US" altLang="zh-CN" sz="1200"/>
              <a:t>      buffer_pool_manager_-&gt;UnpinPage(left_page-&gt;GetPageId(), false);</a:t>
            </a:r>
            <a:endParaRPr lang="en-US" altLang="zh-CN" sz="1200"/>
          </a:p>
          <a:p>
            <a:r>
              <a:rPr lang="en-US" altLang="zh-CN" sz="1200"/>
              <a:t>    }</a:t>
            </a:r>
            <a:endParaRPr lang="en-US" altLang="zh-CN" sz="1200"/>
          </a:p>
          <a:p>
            <a:r>
              <a:rPr lang="en-US" altLang="zh-CN" sz="1200"/>
              <a:t>  } else if (node_index &lt; parent-&gt;GetSize() - 1) {</a:t>
            </a:r>
            <a:endParaRPr lang="en-US" altLang="zh-CN" sz="1200"/>
          </a:p>
          <a:p>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CoalesceOrRedistribute(N *node,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4154170"/>
          </a:xfrm>
          <a:prstGeom prst="rect">
            <a:avLst/>
          </a:prstGeom>
        </p:spPr>
        <p:txBody>
          <a:bodyPr wrap="square" rtlCol="0">
            <a:spAutoFit/>
          </a:bodyPr>
          <a:p>
            <a:r>
              <a:rPr lang="en-US" altLang="zh-CN" sz="1200">
                <a:highlight>
                  <a:srgbClr val="C0C0C0"/>
                </a:highlight>
              </a:rPr>
              <a:t>    // 6.</a:t>
            </a:r>
            <a:r>
              <a:rPr lang="zh-CN" altLang="en-US" sz="1200">
                <a:highlight>
                  <a:srgbClr val="C0C0C0"/>
                </a:highlight>
              </a:rPr>
              <a:t>尝试与右兄弟合并</a:t>
            </a:r>
            <a:endParaRPr lang="zh-CN" altLang="en-US" sz="1200">
              <a:highlight>
                <a:srgbClr val="C0C0C0"/>
              </a:highlight>
            </a:endParaRPr>
          </a:p>
          <a:p>
            <a:r>
              <a:rPr lang="en-US" altLang="zh-CN" sz="1200"/>
              <a:t>    page_id_t right_sibling_id = parent-&gt;ValueAt(node_index + 1);</a:t>
            </a:r>
            <a:endParaRPr lang="en-US" altLang="zh-CN" sz="1200"/>
          </a:p>
          <a:p>
            <a:r>
              <a:rPr lang="en-US" altLang="zh-CN" sz="1200"/>
              <a:t>    auto *right_page = buffer_pool_manager_-&gt;FetchPage(right_sibling_id);</a:t>
            </a:r>
            <a:endParaRPr lang="en-US" altLang="zh-CN" sz="1200"/>
          </a:p>
          <a:p>
            <a:r>
              <a:rPr lang="en-US" altLang="zh-CN" sz="1200"/>
              <a:t>    auto *right_sibling = reinterpret_cast&lt;N *&gt;(right_page-&gt;GetData());</a:t>
            </a:r>
            <a:endParaRPr lang="en-US" altLang="zh-CN" sz="1200"/>
          </a:p>
          <a:p>
            <a:r>
              <a:rPr lang="en-US" altLang="zh-CN" sz="1200"/>
              <a:t>    </a:t>
            </a:r>
            <a:endParaRPr lang="en-US" altLang="zh-CN" sz="1200"/>
          </a:p>
          <a:p>
            <a:r>
              <a:rPr lang="en-US" altLang="zh-CN" sz="1200"/>
              <a:t>    // </a:t>
            </a:r>
            <a:r>
              <a:rPr lang="zh-CN" altLang="en-US" sz="1200"/>
              <a:t>检查是否可以合并</a:t>
            </a:r>
            <a:endParaRPr lang="zh-CN" altLang="en-US" sz="1200"/>
          </a:p>
          <a:p>
            <a:r>
              <a:rPr lang="en-US" altLang="zh-CN" sz="1200"/>
              <a:t>    bool can_coalesce;</a:t>
            </a:r>
            <a:endParaRPr lang="en-US" altLang="zh-CN" sz="1200"/>
          </a:p>
          <a:p>
            <a:r>
              <a:rPr lang="en-US" altLang="zh-CN" sz="1200"/>
              <a:t>    can_coalesce = (node-&gt;GetSize() + right_sibling-&gt;GetSize() &lt;= right_sibling-&gt;GetMaxSize());</a:t>
            </a:r>
            <a:endParaRPr lang="en-US" altLang="zh-CN" sz="1200"/>
          </a:p>
          <a:p>
            <a:endParaRPr lang="en-US" altLang="zh-CN" sz="1200"/>
          </a:p>
          <a:p>
            <a:r>
              <a:rPr lang="en-US" altLang="zh-CN" sz="1200"/>
              <a:t>    </a:t>
            </a:r>
            <a:endParaRPr lang="en-US" altLang="zh-CN" sz="1200"/>
          </a:p>
          <a:p>
            <a:r>
              <a:rPr lang="en-US" altLang="zh-CN" sz="1200"/>
              <a:t>    if (can_coalesce) {</a:t>
            </a:r>
            <a:endParaRPr lang="en-US" altLang="zh-CN" sz="1200"/>
          </a:p>
          <a:p>
            <a:r>
              <a:rPr lang="en-US" altLang="zh-CN" sz="1200"/>
              <a:t>      //std::cout&lt;&lt;"</a:t>
            </a:r>
            <a:r>
              <a:rPr lang="zh-CN" altLang="en-US" sz="1200"/>
              <a:t>和右节点合并</a:t>
            </a:r>
            <a:r>
              <a:rPr lang="en-US" altLang="zh-CN" sz="1200"/>
              <a:t>"&lt;&lt;std::endl;</a:t>
            </a:r>
            <a:endParaRPr lang="en-US" altLang="zh-CN" sz="1200"/>
          </a:p>
          <a:p>
            <a:r>
              <a:rPr lang="en-US" altLang="zh-CN" sz="1200"/>
              <a:t>      </a:t>
            </a:r>
            <a:r>
              <a:rPr lang="en-US" altLang="zh-CN" sz="1200" b="1" u="sng">
                <a:solidFill>
                  <a:srgbClr val="000000"/>
                </a:solidFill>
              </a:rPr>
              <a:t>Coalesce</a:t>
            </a:r>
            <a:r>
              <a:rPr lang="en-US" altLang="zh-CN" sz="1200"/>
              <a:t>(node, right_sibling, parent, node_index+1, transaction);</a:t>
            </a:r>
            <a:endParaRPr lang="en-US" altLang="zh-CN" sz="1200"/>
          </a:p>
          <a:p>
            <a:r>
              <a:rPr lang="en-US" altLang="zh-CN" sz="1200"/>
              <a:t>      //buffer_pool_manager_-&gt;UnpinPage(right_page-&gt;GetPageId(), true);</a:t>
            </a:r>
            <a:endParaRPr lang="en-US" altLang="zh-CN" sz="1200"/>
          </a:p>
          <a:p>
            <a:r>
              <a:rPr lang="en-US" altLang="zh-CN" sz="1200"/>
              <a:t>    } else {</a:t>
            </a:r>
            <a:endParaRPr lang="en-US" altLang="zh-CN" sz="1200"/>
          </a:p>
          <a:p>
            <a:r>
              <a:rPr lang="en-US" altLang="zh-CN" sz="1200"/>
              <a:t>      buffer_pool_manager_-&gt;UnpinPage(right_page-&gt;GetPageId(), false);</a:t>
            </a:r>
            <a:endParaRPr lang="en-US" altLang="zh-CN" sz="1200"/>
          </a:p>
          <a:p>
            <a:r>
              <a:rPr lang="en-US" altLang="zh-CN" sz="1200"/>
              <a:t>    }</a:t>
            </a:r>
            <a:endParaRPr lang="en-US" altLang="zh-CN" sz="1200"/>
          </a:p>
          <a:p>
            <a:r>
              <a:rPr lang="en-US" altLang="zh-CN" sz="1200"/>
              <a:t>  }</a:t>
            </a:r>
            <a:endParaRPr lang="en-US" altLang="zh-CN" sz="1200"/>
          </a:p>
          <a:p>
            <a:r>
              <a:rPr lang="en-US" altLang="zh-CN" sz="1200">
                <a:highlight>
                  <a:srgbClr val="C0C0C0"/>
                </a:highlight>
              </a:rPr>
              <a:t>  //7.</a:t>
            </a:r>
            <a:r>
              <a:rPr lang="zh-CN" altLang="en-US" sz="1200">
                <a:highlight>
                  <a:srgbClr val="C0C0C0"/>
                </a:highlight>
              </a:rPr>
              <a:t>修复完成，释放页面，脏页</a:t>
            </a:r>
            <a:endParaRPr lang="en-US" altLang="zh-CN" sz="1200">
              <a:highlight>
                <a:srgbClr val="C0C0C0"/>
              </a:highlight>
            </a:endParaRPr>
          </a:p>
          <a:p>
            <a:r>
              <a:rPr lang="en-US" altLang="zh-CN" sz="1200"/>
              <a:t>  buffer_pool_manager_-&gt;UnpinPage(parent_page-&gt;GetPageId(), true);</a:t>
            </a:r>
            <a:endParaRPr lang="en-US" altLang="zh-CN" sz="1200"/>
          </a:p>
          <a:p>
            <a:r>
              <a:rPr lang="en-US" altLang="zh-CN" sz="1200"/>
              <a:t>}</a:t>
            </a:r>
            <a:endParaRPr lang="en-US" altLang="zh-CN" sz="1200"/>
          </a:p>
          <a:p>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CoalesceOrRedistribute(N *node,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3230245"/>
          </a:xfrm>
          <a:prstGeom prst="rect">
            <a:avLst/>
          </a:prstGeom>
        </p:spPr>
        <p:txBody>
          <a:bodyPr wrap="square" rtlCol="0">
            <a:spAutoFit/>
          </a:bodyPr>
          <a:p>
            <a:r>
              <a:rPr lang="en-US" altLang="zh-CN" sz="1200"/>
              <a:t>INDEX_TEMPLATE_ARGUMENTS</a:t>
            </a:r>
            <a:endParaRPr lang="en-US" altLang="zh-CN" sz="1200"/>
          </a:p>
          <a:p>
            <a:r>
              <a:rPr lang="en-US" altLang="zh-CN" sz="1200"/>
              <a:t>template &lt;typename N&gt;</a:t>
            </a:r>
            <a:endParaRPr lang="en-US" altLang="zh-CN" sz="1200"/>
          </a:p>
          <a:p>
            <a:r>
              <a:rPr lang="en-US" altLang="zh-CN" sz="1200"/>
              <a:t>void BPLUSTREE_TYPE::Coalesce(N *neighbor_node, N *node, BPlusTreePage *parent, int index,</a:t>
            </a:r>
            <a:endParaRPr lang="en-US" altLang="zh-CN" sz="1200"/>
          </a:p>
          <a:p>
            <a:r>
              <a:rPr lang="en-US" altLang="zh-CN" sz="1200"/>
              <a:t>                             Transaction *transaction) {</a:t>
            </a:r>
            <a:endParaRPr lang="en-US" altLang="zh-CN" sz="1200"/>
          </a:p>
          <a:p>
            <a:r>
              <a:rPr lang="en-US" altLang="zh-CN" sz="1200"/>
              <a:t>  auto *internal_parent = reinterpret_cast&lt;InternalPage *&gt;(parent);</a:t>
            </a:r>
            <a:endParaRPr lang="en-US" altLang="zh-CN" sz="1200"/>
          </a:p>
          <a:p>
            <a:r>
              <a:rPr lang="en-US" altLang="zh-CN" sz="1200">
                <a:highlight>
                  <a:srgbClr val="C0C0C0"/>
                </a:highlight>
              </a:rPr>
              <a:t>  //1.</a:t>
            </a:r>
            <a:r>
              <a:rPr lang="zh-CN" altLang="en-US" sz="1200">
                <a:highlight>
                  <a:srgbClr val="C0C0C0"/>
                </a:highlight>
              </a:rPr>
              <a:t>叶子节点：直接迁移所有键值对，更新链表连接</a:t>
            </a:r>
            <a:endParaRPr lang="en-US" altLang="zh-CN" sz="1200">
              <a:highlight>
                <a:srgbClr val="C0C0C0"/>
              </a:highlight>
            </a:endParaRPr>
          </a:p>
          <a:p>
            <a:r>
              <a:rPr lang="en-US" altLang="zh-CN" sz="1200"/>
              <a:t>  if (node-&gt;IsLeafPage()) {</a:t>
            </a:r>
            <a:endParaRPr lang="en-US" altLang="zh-CN" sz="1200"/>
          </a:p>
          <a:p>
            <a:r>
              <a:rPr lang="en-US" altLang="zh-CN" sz="1200"/>
              <a:t>    auto *leaf_node = reinterpret_cast&lt;LeafPage *&gt;(node);</a:t>
            </a:r>
            <a:endParaRPr lang="en-US" altLang="zh-CN" sz="1200"/>
          </a:p>
          <a:p>
            <a:r>
              <a:rPr lang="en-US" altLang="zh-CN" sz="1200"/>
              <a:t>    auto *leaf_neighbor = reinterpret_cast&lt;LeafPage *&gt;(neighbor_node);</a:t>
            </a:r>
            <a:endParaRPr lang="en-US" altLang="zh-CN" sz="1200"/>
          </a:p>
          <a:p>
            <a:r>
              <a:rPr lang="en-US" altLang="zh-CN" sz="1200"/>
              <a:t>        // </a:t>
            </a:r>
            <a:r>
              <a:rPr lang="zh-CN" altLang="en-US" sz="1200"/>
              <a:t>将</a:t>
            </a:r>
            <a:r>
              <a:rPr lang="en-US" altLang="zh-CN" sz="1200"/>
              <a:t>node</a:t>
            </a:r>
            <a:r>
              <a:rPr lang="zh-CN" altLang="en-US" sz="1200"/>
              <a:t>的所有元素移动到</a:t>
            </a:r>
            <a:r>
              <a:rPr lang="en-US" altLang="zh-CN" sz="1200"/>
              <a:t>neighbor_node</a:t>
            </a:r>
            <a:endParaRPr lang="en-US" altLang="zh-CN" sz="1200"/>
          </a:p>
          <a:p>
            <a:r>
              <a:rPr lang="en-US" altLang="zh-CN" sz="1200"/>
              <a:t>    for (int i = 0; i &lt; leaf_node-&gt;GetSize(); i++) {</a:t>
            </a:r>
            <a:endParaRPr lang="en-US" altLang="zh-CN" sz="1200"/>
          </a:p>
          <a:p>
            <a:r>
              <a:rPr lang="en-US" altLang="zh-CN" sz="1200"/>
              <a:t>      leaf_neighbor-&gt;Insert(leaf_node-&gt;KeyAt(i), leaf_node-&gt;ValueAt(i), comparator_);</a:t>
            </a:r>
            <a:endParaRPr lang="en-US" altLang="zh-CN" sz="1200"/>
          </a:p>
          <a:p>
            <a:r>
              <a:rPr lang="en-US" altLang="zh-CN" sz="1200"/>
              <a:t>    }</a:t>
            </a:r>
            <a:endParaRPr lang="en-US" altLang="zh-CN" sz="1200"/>
          </a:p>
          <a:p>
            <a:r>
              <a:rPr lang="en-US" altLang="zh-CN" sz="1200"/>
              <a:t>    // </a:t>
            </a:r>
            <a:r>
              <a:rPr lang="zh-CN" altLang="en-US" sz="1200"/>
              <a:t>更新叶子节点的链表指针</a:t>
            </a:r>
            <a:endParaRPr lang="zh-CN" altLang="en-US" sz="1200"/>
          </a:p>
          <a:p>
            <a:r>
              <a:rPr lang="en-US" altLang="zh-CN" sz="1200"/>
              <a:t>    leaf_neighbor-&gt;SetNextPageId(leaf_node-&gt;GetNextPageId());</a:t>
            </a:r>
            <a:endParaRPr lang="en-US" altLang="zh-CN" sz="1200"/>
          </a:p>
          <a:p>
            <a:r>
              <a:rPr lang="en-US" altLang="zh-CN" sz="1200"/>
              <a:t>    </a:t>
            </a:r>
            <a:endParaRPr lang="en-US" altLang="zh-CN" sz="1200"/>
          </a:p>
          <a:p>
            <a:r>
              <a:rPr lang="en-US" altLang="zh-CN" sz="1200"/>
              <a:t>  } </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Transaction *transaction)</a:t>
            </a:r>
            <a:r>
              <a:rPr lang="zh-CN" altLang="en-US" sz="1400" b="1" dirty="0">
                <a:solidFill>
                  <a:srgbClr val="4A90E2"/>
                </a:solidFill>
              </a:rPr>
              <a:t>；</a:t>
            </a:r>
            <a:endParaRPr lang="en-US" sz="14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tooltip="" action="ppaction://hlinksldjump"/>
              </a:rPr>
              <a:t>删除算法原理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5"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018393"/>
            <a:ext cx="3401205" cy="820964"/>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将两个下溢的兄弟</a:t>
            </a:r>
            <a:r>
              <a:rPr lang="zh-CN" altLang="en-US" sz="1400" b="1" dirty="0">
                <a:solidFill>
                  <a:srgbClr val="000000"/>
                </a:solidFill>
                <a:latin typeface="Noto Sans SC" panose="020B0200000000000000" pitchFamily="34" charset="-122"/>
                <a:ea typeface="Noto Sans SC" panose="020B0200000000000000" pitchFamily="34" charset="-122"/>
                <a:cs typeface="Noto Sans SC" panose="020B0200000000000000" pitchFamily="34" charset="-122"/>
              </a:rPr>
              <a:t>节点合并</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成一个节点，处理内部节点合并时需插入父节点分隔键，并递归检查父节点是否因此产生新的下溢。</a:t>
            </a:r>
            <a:endParaRPr 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5262245"/>
          </a:xfrm>
          <a:prstGeom prst="rect">
            <a:avLst/>
          </a:prstGeom>
        </p:spPr>
        <p:txBody>
          <a:bodyPr wrap="square" rtlCol="0">
            <a:spAutoFit/>
          </a:bodyPr>
          <a:p>
            <a:r>
              <a:rPr lang="en-US" altLang="zh-CN" sz="1200"/>
              <a:t>else {</a:t>
            </a:r>
            <a:endParaRPr lang="en-US" altLang="zh-CN" sz="1200"/>
          </a:p>
          <a:p>
            <a:r>
              <a:rPr lang="en-US" altLang="zh-CN" sz="1200">
                <a:highlight>
                  <a:srgbClr val="C0C0C0"/>
                </a:highlight>
              </a:rPr>
              <a:t>//2.</a:t>
            </a:r>
            <a:r>
              <a:rPr lang="zh-CN" altLang="en-US" sz="1200">
                <a:highlight>
                  <a:srgbClr val="C0C0C0"/>
                </a:highlight>
              </a:rPr>
              <a:t>内部节点：先插入左兄弟分隔键，再迁移子节点，更新子节点父指针</a:t>
            </a:r>
            <a:endParaRPr lang="en-US" altLang="zh-CN" sz="1200">
              <a:highlight>
                <a:srgbClr val="C0C0C0"/>
              </a:highlight>
            </a:endParaRPr>
          </a:p>
          <a:p>
            <a:r>
              <a:rPr lang="en-US" altLang="zh-CN" sz="1200"/>
              <a:t>    auto *internal_node = reinterpret_cast&lt;InternalPage *&gt;(node);</a:t>
            </a:r>
            <a:endParaRPr lang="en-US" altLang="zh-CN" sz="1200"/>
          </a:p>
          <a:p>
            <a:r>
              <a:rPr lang="en-US" altLang="zh-CN" sz="1200"/>
              <a:t>    auto *internal_neighbor = reinterpret_cast&lt;InternalPage *&gt;(neighbor_node);</a:t>
            </a:r>
            <a:endParaRPr lang="en-US" altLang="zh-CN" sz="1200"/>
          </a:p>
          <a:p>
            <a:r>
              <a:rPr lang="en-US" altLang="zh-CN" sz="1200"/>
              <a:t>    </a:t>
            </a:r>
            <a:endParaRPr lang="en-US" altLang="zh-CN" sz="1200"/>
          </a:p>
          <a:p>
            <a:r>
              <a:rPr lang="en-US" altLang="zh-CN" sz="1200"/>
              <a:t>    // </a:t>
            </a:r>
            <a:r>
              <a:rPr lang="zh-CN" altLang="en-US" sz="1200"/>
              <a:t>首先向左兄弟插入分隔</a:t>
            </a:r>
            <a:r>
              <a:rPr lang="en-US" altLang="zh-CN" sz="1200"/>
              <a:t>key</a:t>
            </a:r>
            <a:endParaRPr lang="zh-CN" altLang="en-US" sz="1200"/>
          </a:p>
          <a:p>
            <a:r>
              <a:rPr lang="en-US" altLang="zh-CN" sz="1200"/>
              <a:t>    KeyType parent_key = internal_parent-&gt;KeyAt(index);</a:t>
            </a:r>
            <a:endParaRPr lang="en-US" altLang="zh-CN" sz="1200"/>
          </a:p>
          <a:p>
            <a:r>
              <a:rPr lang="en-US" altLang="zh-CN" sz="1200"/>
              <a:t>    </a:t>
            </a:r>
            <a:endParaRPr lang="en-US" altLang="zh-CN" sz="1200"/>
          </a:p>
          <a:p>
            <a:r>
              <a:rPr lang="en-US" altLang="zh-CN" sz="1200"/>
              <a:t>    internal_neighbor-&gt;Insert(parent_key, internal_node-&gt;ValueAt(0), comparator_);</a:t>
            </a:r>
            <a:endParaRPr lang="en-US" altLang="zh-CN" sz="1200"/>
          </a:p>
          <a:p>
            <a:r>
              <a:rPr lang="en-US" altLang="zh-CN" sz="1200"/>
              <a:t>      </a:t>
            </a:r>
            <a:endParaRPr lang="en-US" altLang="zh-CN" sz="1200"/>
          </a:p>
          <a:p>
            <a:r>
              <a:rPr lang="en-US" altLang="zh-CN" sz="1200"/>
              <a:t>    // </a:t>
            </a:r>
            <a:r>
              <a:rPr lang="zh-CN" altLang="en-US" sz="1200"/>
              <a:t>然后将右兄弟的所有键值对移动到左兄弟</a:t>
            </a:r>
            <a:endParaRPr lang="zh-CN" altLang="en-US" sz="1200"/>
          </a:p>
          <a:p>
            <a:r>
              <a:rPr lang="en-US" altLang="zh-CN" sz="1200"/>
              <a:t>    for (int i = 1; i &lt; internal_node-&gt;GetSize(); i++) {</a:t>
            </a:r>
            <a:endParaRPr lang="en-US" altLang="zh-CN" sz="1200"/>
          </a:p>
          <a:p>
            <a:r>
              <a:rPr lang="en-US" altLang="zh-CN" sz="1200"/>
              <a:t>      internal_neighbor-&gt;Insert(internal_node-&gt;KeyAt(i), internal_node-&gt;ValueAt(i), comparator_);</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r>
              <a:rPr lang="zh-CN" altLang="en-US" sz="1200"/>
              <a:t>更新所有被移动的子页面的父指针</a:t>
            </a:r>
            <a:endParaRPr lang="zh-CN" altLang="en-US" sz="1200"/>
          </a:p>
          <a:p>
            <a:r>
              <a:rPr lang="en-US" altLang="zh-CN" sz="1200"/>
              <a:t>    for (int i = 0; i &lt; internal_node-&gt;GetSize(); i++) {</a:t>
            </a:r>
            <a:endParaRPr lang="en-US" altLang="zh-CN" sz="1200"/>
          </a:p>
          <a:p>
            <a:r>
              <a:rPr lang="en-US" altLang="zh-CN" sz="1200"/>
              <a:t>      page_id_t child_page_id = internal_node-&gt;ValueAt(i);</a:t>
            </a:r>
            <a:endParaRPr lang="en-US" altLang="zh-CN" sz="1200"/>
          </a:p>
          <a:p>
            <a:r>
              <a:rPr lang="en-US" altLang="zh-CN" sz="1200"/>
              <a:t>      auto *child_page = buffer_pool_manager_-&gt;FetchPage(child_page_id);</a:t>
            </a:r>
            <a:endParaRPr lang="en-US" altLang="zh-CN" sz="1200"/>
          </a:p>
          <a:p>
            <a:r>
              <a:rPr lang="en-US" altLang="zh-CN" sz="1200"/>
              <a:t>      if (child_page != nullptr) {</a:t>
            </a:r>
            <a:endParaRPr lang="en-US" altLang="zh-CN" sz="1200"/>
          </a:p>
          <a:p>
            <a:r>
              <a:rPr lang="en-US" altLang="zh-CN" sz="1200"/>
              <a:t>        auto *child_node = reinterpret_cast&lt;BPlusTreePage *&gt;(child_page-&gt;GetData());</a:t>
            </a:r>
            <a:endParaRPr lang="en-US" altLang="zh-CN" sz="1200"/>
          </a:p>
          <a:p>
            <a:r>
              <a:rPr lang="en-US" altLang="zh-CN" sz="1200"/>
              <a:t>        child_node-&gt;SetParentPageId(internal_neighbor-&gt;GetPageId());</a:t>
            </a:r>
            <a:endParaRPr lang="en-US" altLang="zh-CN" sz="1200"/>
          </a:p>
          <a:p>
            <a:r>
              <a:rPr lang="en-US" altLang="zh-CN" sz="1200"/>
              <a:t>        buffer_pool_manager_-&gt;UnpinPage(child_page_id, true);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en-US" altLang="zh-CN" sz="1200"/>
          </a:p>
          <a:p>
            <a:endParaRPr lang="en-US" altLang="zh-CN" sz="1200"/>
          </a:p>
          <a:p>
            <a:r>
              <a:rPr lang="en-US" altLang="zh-CN" sz="1200"/>
              <a:t>    </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3230245"/>
          </a:xfrm>
          <a:prstGeom prst="rect">
            <a:avLst/>
          </a:prstGeom>
        </p:spPr>
        <p:txBody>
          <a:bodyPr wrap="square" rtlCol="0">
            <a:spAutoFit/>
          </a:bodyPr>
          <a:p>
            <a:r>
              <a:rPr lang="en-US" altLang="zh-CN" sz="1200"/>
              <a:t>  </a:t>
            </a:r>
            <a:endParaRPr lang="en-US" altLang="zh-CN" sz="1200"/>
          </a:p>
          <a:p>
            <a:r>
              <a:rPr lang="en-US" altLang="zh-CN" sz="1200">
                <a:highlight>
                  <a:srgbClr val="C0C0C0"/>
                </a:highlight>
              </a:rPr>
              <a:t>  // 3.</a:t>
            </a:r>
            <a:r>
              <a:rPr lang="zh-CN" altLang="en-US" sz="1200">
                <a:highlight>
                  <a:srgbClr val="C0C0C0"/>
                </a:highlight>
              </a:rPr>
              <a:t>从父节点中删除对应的</a:t>
            </a:r>
            <a:r>
              <a:rPr lang="en-US" altLang="zh-CN" sz="1200">
                <a:highlight>
                  <a:srgbClr val="C0C0C0"/>
                </a:highlight>
              </a:rPr>
              <a:t>key</a:t>
            </a:r>
            <a:r>
              <a:rPr lang="zh-CN" altLang="en-US" sz="1200">
                <a:highlight>
                  <a:srgbClr val="C0C0C0"/>
                </a:highlight>
              </a:rPr>
              <a:t>和孩子</a:t>
            </a:r>
            <a:r>
              <a:rPr lang="en-US" altLang="zh-CN" sz="1200">
                <a:highlight>
                  <a:srgbClr val="C0C0C0"/>
                </a:highlight>
              </a:rPr>
              <a:t>, </a:t>
            </a:r>
            <a:r>
              <a:rPr lang="zh-CN" altLang="en-US" sz="1200">
                <a:highlight>
                  <a:srgbClr val="C0C0C0"/>
                </a:highlight>
              </a:rPr>
              <a:t>如果父节点太小，递归处理</a:t>
            </a:r>
            <a:endParaRPr lang="zh-CN" altLang="en-US" sz="1200">
              <a:highlight>
                <a:srgbClr val="C0C0C0"/>
              </a:highlight>
            </a:endParaRPr>
          </a:p>
          <a:p>
            <a:r>
              <a:rPr lang="en-US" altLang="zh-CN" sz="1200"/>
              <a:t>  internal_parent-&gt;RemoveAt(index);</a:t>
            </a:r>
            <a:endParaRPr lang="en-US" altLang="zh-CN" sz="1200"/>
          </a:p>
          <a:p>
            <a:r>
              <a:rPr lang="en-US" altLang="zh-CN" sz="1200"/>
              <a:t>  bool parent_underflow;</a:t>
            </a:r>
            <a:endParaRPr lang="en-US" altLang="zh-CN" sz="1200"/>
          </a:p>
          <a:p>
            <a:r>
              <a:rPr lang="en-US" altLang="zh-CN" sz="1200"/>
              <a:t>  parent_underflow = (internal_parent-&gt;GetSize() &lt; internal_parent-&gt;GetMinSize());  </a:t>
            </a:r>
            <a:endParaRPr lang="en-US" altLang="zh-CN" sz="1200"/>
          </a:p>
          <a:p>
            <a:r>
              <a:rPr lang="en-US" altLang="zh-CN" sz="1200"/>
              <a:t>  if (parent_underflow &amp;&amp;internal_parent-&gt;IsRootPage() &amp;&amp; internal_parent-&gt;GetSize() == 1) {</a:t>
            </a:r>
            <a:endParaRPr lang="en-US" altLang="zh-CN" sz="1200"/>
          </a:p>
          <a:p>
            <a:r>
              <a:rPr lang="en-US" altLang="zh-CN" sz="1200"/>
              <a:t>    AdjustRoot(internal_parent);</a:t>
            </a:r>
            <a:endParaRPr lang="en-US" altLang="zh-CN" sz="1200"/>
          </a:p>
          <a:p>
            <a:r>
              <a:rPr lang="en-US" altLang="zh-CN" sz="1200"/>
              <a:t>  } else if (parent_underflow &amp;&amp; internal_parent-&gt;IsRootPage()&amp;&amp; internal_parent-&gt;GetSize() &gt;1) {</a:t>
            </a:r>
            <a:endParaRPr lang="en-US" altLang="zh-CN" sz="1200"/>
          </a:p>
          <a:p>
            <a:r>
              <a:rPr lang="en-US" altLang="zh-CN" sz="1200"/>
              <a:t>    buffer_pool_manager_-&gt;UnpinPage(parent-&gt;GetPageId(), true);</a:t>
            </a:r>
            <a:endParaRPr lang="en-US" altLang="zh-CN" sz="1200"/>
          </a:p>
          <a:p>
            <a:r>
              <a:rPr lang="en-US" altLang="zh-CN" sz="1200"/>
              <a:t>  }else{</a:t>
            </a:r>
            <a:endParaRPr lang="en-US" altLang="zh-CN" sz="1200"/>
          </a:p>
          <a:p>
            <a:r>
              <a:rPr lang="en-US" altLang="zh-CN" sz="1200"/>
              <a:t>    CoalesceOrRedistribute(internal_parent, transaction);</a:t>
            </a:r>
            <a:endParaRPr lang="en-US" altLang="zh-CN" sz="1200"/>
          </a:p>
          <a:p>
            <a:r>
              <a:rPr lang="en-US" altLang="zh-CN" sz="1200"/>
              <a:t>  }</a:t>
            </a:r>
            <a:endParaRPr lang="en-US" altLang="zh-CN" sz="1200"/>
          </a:p>
          <a:p>
            <a:r>
              <a:rPr lang="en-US" altLang="zh-CN" sz="1200"/>
              <a:t>  </a:t>
            </a:r>
            <a:endParaRPr lang="en-US" altLang="zh-CN" sz="1200"/>
          </a:p>
          <a:p>
            <a:r>
              <a:rPr lang="en-US" altLang="zh-CN" sz="1200">
                <a:highlight>
                  <a:srgbClr val="C0C0C0"/>
                </a:highlight>
              </a:rPr>
              <a:t>  // 4.</a:t>
            </a:r>
            <a:r>
              <a:rPr lang="zh-CN" altLang="en-US" sz="1200">
                <a:highlight>
                  <a:srgbClr val="C0C0C0"/>
                </a:highlight>
              </a:rPr>
              <a:t>删除</a:t>
            </a:r>
            <a:r>
              <a:rPr lang="en-US" altLang="zh-CN" sz="1200">
                <a:highlight>
                  <a:srgbClr val="C0C0C0"/>
                </a:highlight>
              </a:rPr>
              <a:t>node</a:t>
            </a:r>
            <a:r>
              <a:rPr lang="zh-CN" altLang="en-US" sz="1200">
                <a:highlight>
                  <a:srgbClr val="C0C0C0"/>
                </a:highlight>
              </a:rPr>
              <a:t>页面，释放页面，脏页</a:t>
            </a:r>
            <a:endParaRPr lang="zh-CN" altLang="en-US" sz="1200">
              <a:highlight>
                <a:srgbClr val="C0C0C0"/>
              </a:highlight>
            </a:endParaRPr>
          </a:p>
          <a:p>
            <a:r>
              <a:rPr lang="en-US" altLang="zh-CN" sz="1200"/>
              <a:t>  buffer_pool_manager_-&gt;UnpinPage(node-&gt;GetPageId(), true);</a:t>
            </a:r>
            <a:endParaRPr lang="en-US" altLang="zh-CN" sz="1200"/>
          </a:p>
          <a:p>
            <a:r>
              <a:rPr lang="en-US" altLang="zh-CN" sz="1200"/>
              <a:t>  buffer_pool_manager_-&gt;DeletePage(node-&gt;GetPageId());</a:t>
            </a:r>
            <a:endParaRPr lang="en-US" altLang="zh-CN" sz="1200"/>
          </a:p>
          <a:p>
            <a:r>
              <a:rPr lang="en-US" altLang="zh-CN" sz="1200"/>
              <a:t>}</a:t>
            </a:r>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Coalesce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Transaction *transaction)</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5631180"/>
          </a:xfrm>
          <a:prstGeom prst="rect">
            <a:avLst/>
          </a:prstGeom>
        </p:spPr>
        <p:txBody>
          <a:bodyPr wrap="square" rtlCol="0">
            <a:spAutoFit/>
          </a:bodyPr>
          <a:p>
            <a:r>
              <a:rPr lang="en-US" altLang="zh-CN" sz="1200"/>
              <a:t>INDEX_TEMPLATE_ARGUMENTS</a:t>
            </a:r>
            <a:endParaRPr lang="en-US" altLang="zh-CN" sz="1200"/>
          </a:p>
          <a:p>
            <a:r>
              <a:rPr lang="en-US" altLang="zh-CN" sz="1200"/>
              <a:t>template &lt;typename N&gt;</a:t>
            </a:r>
            <a:endParaRPr lang="en-US" altLang="zh-CN" sz="1200"/>
          </a:p>
          <a:p>
            <a:r>
              <a:rPr lang="en-US" altLang="zh-CN" sz="1200"/>
              <a:t>void BPLUSTREE_TYPE::Redistribute(N *neighbor_node, N *node, BPlusTreePage *parent, </a:t>
            </a:r>
            <a:endParaRPr lang="en-US" altLang="zh-CN" sz="1200"/>
          </a:p>
          <a:p>
            <a:r>
              <a:rPr lang="en-US" altLang="zh-CN" sz="1200"/>
              <a:t>                                 int index, bool is_from_left) {</a:t>
            </a:r>
            <a:endParaRPr lang="en-US" altLang="zh-CN" sz="1200"/>
          </a:p>
          <a:p>
            <a:r>
              <a:rPr lang="en-US" altLang="zh-CN" sz="1200"/>
              <a:t>  auto *internal_parent = reinterpret_cast&lt;InternalPage *&gt;(parent);</a:t>
            </a:r>
            <a:endParaRPr lang="en-US" altLang="zh-CN" sz="1200"/>
          </a:p>
          <a:p>
            <a:r>
              <a:rPr lang="en-US" altLang="zh-CN" sz="1200">
                <a:highlight>
                  <a:srgbClr val="C0C0C0"/>
                </a:highlight>
              </a:rPr>
              <a:t>//1.</a:t>
            </a:r>
            <a:r>
              <a:rPr lang="zh-CN" altLang="en-US" sz="1200">
                <a:highlight>
                  <a:srgbClr val="C0C0C0"/>
                </a:highlight>
              </a:rPr>
              <a:t>叶子节点重分配</a:t>
            </a:r>
            <a:endParaRPr lang="en-US" altLang="zh-CN" sz="1200">
              <a:highlight>
                <a:srgbClr val="C0C0C0"/>
              </a:highlight>
            </a:endParaRPr>
          </a:p>
          <a:p>
            <a:r>
              <a:rPr lang="en-US" altLang="zh-CN" sz="1200"/>
              <a:t>    if (node-&gt;IsLeafPage()) {</a:t>
            </a:r>
            <a:endParaRPr lang="en-US" altLang="zh-CN" sz="1200"/>
          </a:p>
          <a:p>
            <a:r>
              <a:rPr lang="en-US" altLang="zh-CN" sz="1200"/>
              <a:t>    auto *leaf_node = reinterpret_cast&lt;LeafPage *&gt;(node);</a:t>
            </a:r>
            <a:endParaRPr lang="en-US" altLang="zh-CN" sz="1200"/>
          </a:p>
          <a:p>
            <a:r>
              <a:rPr lang="en-US" altLang="zh-CN" sz="1200"/>
              <a:t>    auto *leaf_neighbor = reinterpret_cast&lt;LeafPage *&gt;(neighbor_node);</a:t>
            </a:r>
            <a:endParaRPr lang="en-US" altLang="zh-CN" sz="1200"/>
          </a:p>
          <a:p>
            <a:r>
              <a:rPr lang="en-US" altLang="zh-CN" sz="1200"/>
              <a:t>      if (is_from_left) { </a:t>
            </a:r>
            <a:r>
              <a:rPr lang="en-US" altLang="zh-CN" sz="1200">
                <a:highlight>
                  <a:srgbClr val="C0C0C0"/>
                </a:highlight>
              </a:rPr>
              <a:t>// </a:t>
            </a:r>
            <a:r>
              <a:rPr lang="zh-CN" altLang="en-US" sz="1200">
                <a:highlight>
                  <a:srgbClr val="C0C0C0"/>
                </a:highlight>
              </a:rPr>
              <a:t>从左兄弟借最后一个元素</a:t>
            </a:r>
            <a:endParaRPr lang="zh-CN" altLang="en-US" sz="1200">
              <a:highlight>
                <a:srgbClr val="C0C0C0"/>
              </a:highlight>
            </a:endParaRPr>
          </a:p>
          <a:p>
            <a:r>
              <a:rPr lang="en-US" altLang="zh-CN" sz="1200"/>
              <a:t>      int last_index = leaf_neighbor-&gt;GetSize() - 1;</a:t>
            </a:r>
            <a:endParaRPr lang="en-US" altLang="zh-CN" sz="1200"/>
          </a:p>
          <a:p>
            <a:r>
              <a:rPr lang="en-US" altLang="zh-CN" sz="1200"/>
              <a:t>      KeyType borrowed_key = leaf_neighbor-&gt;KeyAt(last_index);</a:t>
            </a:r>
            <a:endParaRPr lang="en-US" altLang="zh-CN" sz="1200"/>
          </a:p>
          <a:p>
            <a:r>
              <a:rPr lang="en-US" altLang="zh-CN" sz="1200"/>
              <a:t>      ValueType borrowed_value = leaf_neighbor-&gt;ValueAt(last_index);</a:t>
            </a:r>
            <a:endParaRPr lang="en-US" altLang="zh-CN" sz="1200"/>
          </a:p>
          <a:p>
            <a:r>
              <a:rPr lang="en-US" altLang="zh-CN" sz="1200"/>
              <a:t>      leaf_neighbor-&gt;RemoveAt(last_index);</a:t>
            </a:r>
            <a:endParaRPr lang="en-US" altLang="zh-CN" sz="1200"/>
          </a:p>
          <a:p>
            <a:r>
              <a:rPr lang="en-US" altLang="zh-CN" sz="1200"/>
              <a:t>      leaf_node-&gt;Insert(borrowed_key, borrowed_value, comparator_);</a:t>
            </a:r>
            <a:endParaRPr lang="zh-CN" altLang="en-US" sz="1200"/>
          </a:p>
          <a:p>
            <a:r>
              <a:rPr lang="en-US" altLang="zh-CN" sz="1200"/>
              <a:t>      internal_parent-&gt;SetKeyAt(index , leaf_node-&gt;KeyAt(0));// </a:t>
            </a:r>
            <a:r>
              <a:rPr lang="zh-CN" altLang="en-US" sz="1200"/>
              <a:t>更新父节点中的</a:t>
            </a:r>
            <a:r>
              <a:rPr lang="en-US" altLang="zh-CN" sz="1200"/>
              <a:t>key</a:t>
            </a:r>
            <a:endParaRPr lang="en-US" altLang="zh-CN" sz="1200"/>
          </a:p>
          <a:p>
            <a:r>
              <a:rPr lang="en-US" altLang="zh-CN" sz="1200"/>
              <a:t>    } else {</a:t>
            </a:r>
            <a:endParaRPr lang="en-US" altLang="zh-CN" sz="1200"/>
          </a:p>
          <a:p>
            <a:r>
              <a:rPr lang="en-US" altLang="zh-CN" sz="1200"/>
              <a:t>      </a:t>
            </a:r>
            <a:r>
              <a:rPr lang="en-US" altLang="zh-CN" sz="1200">
                <a:highlight>
                  <a:srgbClr val="C0C0C0"/>
                </a:highlight>
              </a:rPr>
              <a:t>// </a:t>
            </a:r>
            <a:r>
              <a:rPr lang="zh-CN" altLang="en-US" sz="1200">
                <a:highlight>
                  <a:srgbClr val="C0C0C0"/>
                </a:highlight>
              </a:rPr>
              <a:t>从右兄弟借第一个元素</a:t>
            </a:r>
            <a:endParaRPr lang="zh-CN" altLang="en-US" sz="1200">
              <a:highlight>
                <a:srgbClr val="C0C0C0"/>
              </a:highlight>
            </a:endParaRPr>
          </a:p>
          <a:p>
            <a:r>
              <a:rPr lang="en-US" altLang="zh-CN" sz="1200"/>
              <a:t>      KeyType borrowed_key = leaf_neighbor-&gt;KeyAt(0);</a:t>
            </a:r>
            <a:endParaRPr lang="en-US" altLang="zh-CN" sz="1200"/>
          </a:p>
          <a:p>
            <a:r>
              <a:rPr lang="en-US" altLang="zh-CN" sz="1200"/>
              <a:t>      ValueType borrowed_value = leaf_neighbor-&gt;ValueAt(0);</a:t>
            </a:r>
            <a:endParaRPr lang="en-US" altLang="zh-CN" sz="1200"/>
          </a:p>
          <a:p>
            <a:r>
              <a:rPr lang="en-US" altLang="zh-CN" sz="1200"/>
              <a:t>      leaf_neighbor-&gt;RemoveAt(0);</a:t>
            </a:r>
            <a:endParaRPr lang="en-US" altLang="zh-CN" sz="1200"/>
          </a:p>
          <a:p>
            <a:r>
              <a:rPr lang="en-US" altLang="zh-CN" sz="1200"/>
              <a:t>      leaf_node-&gt;Insert(borrowed_key, borrowed_value, comparator_);</a:t>
            </a:r>
            <a:endParaRPr lang="zh-CN" altLang="en-US" sz="1200"/>
          </a:p>
          <a:p>
            <a:r>
              <a:rPr lang="en-US" altLang="zh-CN" sz="1200"/>
              <a:t>      internal_parent-&gt;SetKeyAt(index+1, leaf_neighbor-&gt;KeyAt(0));// </a:t>
            </a:r>
            <a:r>
              <a:rPr lang="zh-CN" altLang="en-US" sz="1200"/>
              <a:t>更新父节点中的</a:t>
            </a:r>
            <a:r>
              <a:rPr lang="en-US" altLang="zh-CN" sz="1200"/>
              <a:t>key</a:t>
            </a:r>
            <a:endParaRPr lang="en-US" altLang="zh-CN" sz="1200"/>
          </a:p>
          <a:p>
            <a:r>
              <a:rPr lang="en-US" altLang="zh-CN" sz="1200"/>
              <a:t>    }</a:t>
            </a:r>
            <a:endParaRPr lang="en-US" altLang="zh-CN" sz="1200"/>
          </a:p>
          <a:p>
            <a:r>
              <a:rPr lang="en-US" altLang="zh-CN" sz="1200"/>
              <a:t>  } </a:t>
            </a:r>
            <a:endParaRPr lang="en-US" altLang="zh-CN" sz="1200"/>
          </a:p>
          <a:p>
            <a:r>
              <a:rPr lang="en-US" altLang="zh-CN" sz="1200"/>
              <a:t>else {</a:t>
            </a:r>
            <a:endParaRPr lang="en-US" altLang="zh-CN" sz="1200"/>
          </a:p>
          <a:p>
            <a:r>
              <a:rPr lang="en-US" altLang="zh-CN" sz="1200">
                <a:highlight>
                  <a:srgbClr val="C0C0C0"/>
                </a:highlight>
              </a:rPr>
              <a:t>    // 2.</a:t>
            </a:r>
            <a:r>
              <a:rPr lang="zh-CN" altLang="en-US" sz="1200">
                <a:highlight>
                  <a:srgbClr val="C0C0C0"/>
                </a:highlight>
              </a:rPr>
              <a:t>内部节点的重分配</a:t>
            </a:r>
            <a:endParaRPr lang="zh-CN" altLang="en-US" sz="1200">
              <a:highlight>
                <a:srgbClr val="C0C0C0"/>
              </a:highlight>
            </a:endParaRPr>
          </a:p>
          <a:p>
            <a:r>
              <a:rPr lang="en-US" altLang="zh-CN" sz="1200"/>
              <a:t>    auto *internal_node = reinterpret_cast&lt;InternalPage *&gt;(node);</a:t>
            </a:r>
            <a:endParaRPr lang="en-US" altLang="zh-CN" sz="1200"/>
          </a:p>
          <a:p>
            <a:r>
              <a:rPr lang="en-US" altLang="zh-CN" sz="1200"/>
              <a:t>    auto *internal_neighbor = reinterpret_cast&lt;InternalPage *&gt;(neighbor_node);</a:t>
            </a:r>
            <a:endParaRPr lang="en-US" altLang="zh-CN" sz="1200"/>
          </a:p>
          <a:p>
            <a:endParaRPr lang="zh-CN" altLang="en-US" sz="1200"/>
          </a:p>
        </p:txBody>
      </p:sp>
      <p:sp>
        <p:nvSpPr>
          <p:cNvPr id="9"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Redistribute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bool is_from_left)</a:t>
            </a:r>
            <a:r>
              <a:rPr lang="zh-CN" altLang="en-US" sz="1400" b="1" dirty="0">
                <a:solidFill>
                  <a:srgbClr val="4A90E2"/>
                </a:solidFill>
              </a:rPr>
              <a:t>；</a:t>
            </a:r>
            <a:endParaRPr lang="en-US" sz="1400" dirty="0"/>
          </a:p>
        </p:txBody>
      </p:sp>
      <p:sp>
        <p:nvSpPr>
          <p:cNvPr id="10" name="Shape 6"/>
          <p:cNvSpPr/>
          <p:nvPr/>
        </p:nvSpPr>
        <p:spPr>
          <a:xfrm>
            <a:off x="8267707" y="2459568"/>
            <a:ext cx="3669235" cy="1206500"/>
          </a:xfrm>
          <a:custGeom>
            <a:avLst/>
            <a:gdLst/>
            <a:ahLst/>
            <a:cxnLst/>
            <a:rect l="l" t="t" r="r" b="b"/>
            <a:pathLst>
              <a:path w="6819900" h="1206500">
                <a:moveTo>
                  <a:pt x="101599" y="0"/>
                </a:moveTo>
                <a:lnTo>
                  <a:pt x="6718301" y="0"/>
                </a:lnTo>
                <a:cubicBezTo>
                  <a:pt x="6774412" y="0"/>
                  <a:pt x="6819900" y="45488"/>
                  <a:pt x="6819900" y="101599"/>
                </a:cubicBezTo>
                <a:lnTo>
                  <a:pt x="6819900" y="1104901"/>
                </a:lnTo>
                <a:cubicBezTo>
                  <a:pt x="6819900" y="1161012"/>
                  <a:pt x="6774412" y="1206500"/>
                  <a:pt x="6718301" y="1206500"/>
                </a:cubicBezTo>
                <a:lnTo>
                  <a:pt x="101599" y="1206500"/>
                </a:lnTo>
                <a:cubicBezTo>
                  <a:pt x="45488" y="1206500"/>
                  <a:pt x="0" y="1161012"/>
                  <a:pt x="0" y="1104901"/>
                </a:cubicBezTo>
                <a:lnTo>
                  <a:pt x="0" y="101599"/>
                </a:lnTo>
                <a:cubicBezTo>
                  <a:pt x="0" y="45488"/>
                  <a:pt x="45488" y="0"/>
                  <a:pt x="101599" y="0"/>
                </a:cubicBezTo>
                <a:close/>
              </a:path>
            </a:pathLst>
          </a:custGeom>
          <a:solidFill>
            <a:srgbClr val="87CEEB">
              <a:alpha val="20000"/>
            </a:srgbClr>
          </a:solidFill>
        </p:spPr>
      </p:sp>
      <p:sp>
        <p:nvSpPr>
          <p:cNvPr id="12" name="Text 8"/>
          <p:cNvSpPr/>
          <p:nvPr/>
        </p:nvSpPr>
        <p:spPr>
          <a:xfrm>
            <a:off x="8472170" y="2789714"/>
            <a:ext cx="3401149" cy="546100"/>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返回</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hlinkClick r:id="rId2" tooltip="" action="ppaction://hlinksldjump"/>
              </a:rPr>
              <a:t>删除算法原理</a:t>
            </a:r>
            <a:endParaRPr lang="zh-CN" altLang="en-US">
              <a:latin typeface="Noto Sans SC" panose="020B0200000000000000" pitchFamily="34" charset="-122"/>
              <a:ea typeface="Noto Sans SC" panose="020B0200000000000000" pitchFamily="34" charset="-122"/>
              <a:cs typeface="Noto Sans SC" panose="020B0200000000000000" pitchFamily="34" charset="-122"/>
            </a:endParaRPr>
          </a:p>
        </p:txBody>
      </p:sp>
      <p:sp>
        <p:nvSpPr>
          <p:cNvPr id="5" name="Shape 9"/>
          <p:cNvSpPr/>
          <p:nvPr/>
        </p:nvSpPr>
        <p:spPr>
          <a:xfrm>
            <a:off x="8267707" y="3865035"/>
            <a:ext cx="3669235" cy="1168400"/>
          </a:xfrm>
          <a:custGeom>
            <a:avLst/>
            <a:gdLst/>
            <a:ahLst/>
            <a:cxnLst/>
            <a:rect l="l" t="t" r="r" b="b"/>
            <a:pathLst>
              <a:path w="6819900" h="1168400">
                <a:moveTo>
                  <a:pt x="101604" y="0"/>
                </a:moveTo>
                <a:lnTo>
                  <a:pt x="6718296" y="0"/>
                </a:lnTo>
                <a:cubicBezTo>
                  <a:pt x="6774410" y="0"/>
                  <a:pt x="6819900" y="45490"/>
                  <a:pt x="6819900" y="101604"/>
                </a:cubicBezTo>
                <a:lnTo>
                  <a:pt x="6819900" y="1066796"/>
                </a:lnTo>
                <a:cubicBezTo>
                  <a:pt x="6819900" y="1122910"/>
                  <a:pt x="6774410" y="1168400"/>
                  <a:pt x="6718296" y="1168400"/>
                </a:cubicBezTo>
                <a:lnTo>
                  <a:pt x="101604" y="1168400"/>
                </a:lnTo>
                <a:cubicBezTo>
                  <a:pt x="45490" y="1168400"/>
                  <a:pt x="0" y="1122910"/>
                  <a:pt x="0" y="1066796"/>
                </a:cubicBezTo>
                <a:lnTo>
                  <a:pt x="0" y="101604"/>
                </a:lnTo>
                <a:cubicBezTo>
                  <a:pt x="0" y="45527"/>
                  <a:pt x="45527" y="0"/>
                  <a:pt x="101604" y="0"/>
                </a:cubicBezTo>
                <a:close/>
              </a:path>
            </a:pathLst>
          </a:custGeom>
          <a:solidFill>
            <a:srgbClr val="87CEEB">
              <a:alpha val="20000"/>
            </a:srgbClr>
          </a:solidFill>
        </p:spPr>
      </p:sp>
      <p:sp>
        <p:nvSpPr>
          <p:cNvPr id="15" name="Text 11"/>
          <p:cNvSpPr/>
          <p:nvPr/>
        </p:nvSpPr>
        <p:spPr>
          <a:xfrm>
            <a:off x="8472170" y="4018393"/>
            <a:ext cx="3401205" cy="820964"/>
          </a:xfrm>
          <a:prstGeom prst="rect">
            <a:avLst/>
          </a:prstGeom>
          <a:noFill/>
        </p:spPr>
        <p:txBody>
          <a:bodyPr wrap="square" lIns="0" tIns="0" rIns="0" bIns="0" rtlCol="0" anchor="ctr"/>
          <a:lstStyle/>
          <a:p>
            <a:pPr>
              <a:lnSpc>
                <a:spcPct val="120000"/>
              </a:lnSpc>
            </a:pP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在兄弟节点之间</a:t>
            </a:r>
            <a:r>
              <a:rPr lang="zh-CN" altLang="en-US" sz="1400" b="1"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重新分配键</a:t>
            </a:r>
            <a:r>
              <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rPr>
              <a:t>以修复下溢节点，处理叶子节点和内部节点的不同借键逻辑，并更新父节点中的相应分隔键。</a:t>
            </a:r>
            <a:endParaRPr lang="zh-CN" altLang="en-US" sz="1400" dirty="0">
              <a:solidFill>
                <a:schemeClr val="tx1"/>
              </a:solidFill>
              <a:latin typeface="Noto Sans SC" panose="020B0200000000000000" pitchFamily="34" charset="-122"/>
              <a:ea typeface="Noto Sans SC" panose="020B0200000000000000" pitchFamily="34" charset="-122"/>
              <a:cs typeface="Noto Sans SC" panose="020B02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5631180"/>
          </a:xfrm>
          <a:prstGeom prst="rect">
            <a:avLst/>
          </a:prstGeom>
        </p:spPr>
        <p:txBody>
          <a:bodyPr wrap="square" rtlCol="0">
            <a:spAutoFit/>
          </a:bodyPr>
          <a:p>
            <a:r>
              <a:rPr lang="en-US" altLang="zh-CN" sz="1200"/>
              <a:t>    if (is_from_left) {</a:t>
            </a:r>
            <a:endParaRPr lang="en-US" altLang="zh-CN" sz="1200"/>
          </a:p>
          <a:p>
            <a:r>
              <a:rPr lang="en-US" altLang="zh-CN" sz="1200"/>
              <a:t>      </a:t>
            </a:r>
            <a:r>
              <a:rPr lang="en-US" altLang="zh-CN" sz="1200">
                <a:highlight>
                  <a:srgbClr val="C0C0C0"/>
                </a:highlight>
              </a:rPr>
              <a:t>// </a:t>
            </a:r>
            <a:r>
              <a:rPr lang="zh-CN" altLang="en-US" sz="1200">
                <a:highlight>
                  <a:srgbClr val="C0C0C0"/>
                </a:highlight>
              </a:rPr>
              <a:t>从左兄弟借</a:t>
            </a:r>
            <a:endParaRPr lang="zh-CN" altLang="en-US" sz="1200">
              <a:highlight>
                <a:srgbClr val="C0C0C0"/>
              </a:highlight>
            </a:endParaRPr>
          </a:p>
          <a:p>
            <a:r>
              <a:rPr lang="en-US" altLang="zh-CN" sz="1200"/>
              <a:t>      int last_key_index = internal_neighbor-&gt;GetSize() - 1; // </a:t>
            </a:r>
            <a:r>
              <a:rPr lang="zh-CN" altLang="en-US" sz="1200"/>
              <a:t>最后一个有效键的索引</a:t>
            </a:r>
            <a:endParaRPr lang="zh-CN" altLang="en-US" sz="1200"/>
          </a:p>
          <a:p>
            <a:r>
              <a:rPr lang="en-US" altLang="zh-CN" sz="1200"/>
              <a:t>      int last_child_index = internal_neighbor-&gt;GetSize() - 1; // </a:t>
            </a:r>
            <a:r>
              <a:rPr lang="zh-CN" altLang="en-US" sz="1200"/>
              <a:t>最后一个孩子的索引</a:t>
            </a:r>
            <a:endParaRPr lang="zh-CN" altLang="en-US" sz="1200"/>
          </a:p>
          <a:p>
            <a:r>
              <a:rPr lang="en-US" altLang="zh-CN" sz="1200"/>
              <a:t>      KeyType borrowed_key = internal_neighbor-&gt;KeyAt(last_key_index);</a:t>
            </a:r>
            <a:endParaRPr lang="en-US" altLang="zh-CN" sz="1200"/>
          </a:p>
          <a:p>
            <a:r>
              <a:rPr lang="en-US" altLang="zh-CN" sz="1200"/>
              <a:t>      page_id_t borrowed_child_id = internal_neighbor-&gt;ValueAt(last_child_index);</a:t>
            </a:r>
            <a:endParaRPr lang="zh-CN" altLang="en-US" sz="1200"/>
          </a:p>
          <a:p>
            <a:r>
              <a:rPr lang="en-US" altLang="zh-CN" sz="1200"/>
              <a:t>      internal_neighbor-&gt;RemoveAt(last_key_index);// </a:t>
            </a:r>
            <a:r>
              <a:rPr lang="zh-CN" altLang="en-US" sz="1200"/>
              <a:t>从邻居节点删除</a:t>
            </a:r>
            <a:endParaRPr lang="en-US" altLang="zh-CN" sz="1200"/>
          </a:p>
          <a:p>
            <a:r>
              <a:rPr lang="en-US" altLang="zh-CN" sz="1200"/>
              <a:t>      // </a:t>
            </a:r>
            <a:r>
              <a:rPr lang="zh-CN" altLang="en-US" sz="1200"/>
              <a:t>将父节点的</a:t>
            </a:r>
            <a:r>
              <a:rPr lang="en-US" altLang="zh-CN" sz="1200"/>
              <a:t>key</a:t>
            </a:r>
            <a:r>
              <a:rPr lang="zh-CN" altLang="en-US" sz="1200"/>
              <a:t>下移到当前节点</a:t>
            </a:r>
            <a:endParaRPr lang="zh-CN" altLang="en-US" sz="1200"/>
          </a:p>
          <a:p>
            <a:r>
              <a:rPr lang="en-US" altLang="zh-CN" sz="1200"/>
              <a:t>      // 1. </a:t>
            </a:r>
            <a:r>
              <a:rPr lang="zh-CN" altLang="en-US" sz="1200"/>
              <a:t>先将当前节点所有元素右移一位</a:t>
            </a:r>
            <a:endParaRPr lang="zh-CN" altLang="en-US" sz="1200"/>
          </a:p>
          <a:p>
            <a:r>
              <a:rPr lang="en-US" altLang="zh-CN" sz="1200"/>
              <a:t>      for (int i = internal_node-&gt;GetSize(); i &gt; 0; i--) {</a:t>
            </a:r>
            <a:endParaRPr lang="en-US" altLang="zh-CN" sz="1200"/>
          </a:p>
          <a:p>
            <a:r>
              <a:rPr lang="en-US" altLang="zh-CN" sz="1200"/>
              <a:t>        internal_node-&gt;GetItem(i) = internal_node-&gt;GetItem(i - 1);</a:t>
            </a:r>
            <a:endParaRPr lang="en-US" altLang="zh-CN" sz="1200"/>
          </a:p>
          <a:p>
            <a:r>
              <a:rPr lang="en-US" altLang="zh-CN" sz="1200"/>
              <a:t>      }</a:t>
            </a:r>
            <a:endParaRPr lang="en-US" altLang="zh-CN" sz="1200"/>
          </a:p>
          <a:p>
            <a:r>
              <a:rPr lang="en-US" altLang="zh-CN" sz="1200"/>
              <a:t>       // 2. </a:t>
            </a:r>
            <a:r>
              <a:rPr lang="zh-CN" altLang="en-US" sz="1200"/>
              <a:t>在位置</a:t>
            </a:r>
            <a:r>
              <a:rPr lang="en-US" altLang="zh-CN" sz="1200"/>
              <a:t>0</a:t>
            </a:r>
            <a:r>
              <a:rPr lang="zh-CN" altLang="en-US" sz="1200"/>
              <a:t>插入借来的孩子</a:t>
            </a:r>
            <a:endParaRPr lang="zh-CN" altLang="en-US" sz="1200"/>
          </a:p>
          <a:p>
            <a:r>
              <a:rPr lang="en-US" altLang="zh-CN" sz="1200"/>
              <a:t>      internal_node-&gt;GetItem(0).first = KeyType();  // </a:t>
            </a:r>
            <a:r>
              <a:rPr lang="zh-CN" altLang="en-US" sz="1200"/>
              <a:t>无效键</a:t>
            </a:r>
            <a:endParaRPr lang="zh-CN" altLang="en-US" sz="1200"/>
          </a:p>
          <a:p>
            <a:r>
              <a:rPr lang="en-US" altLang="zh-CN" sz="1200"/>
              <a:t>      internal_node-&gt;GetItem(0).second = borrowed_child_id;</a:t>
            </a:r>
            <a:endParaRPr lang="en-US" altLang="zh-CN" sz="1200"/>
          </a:p>
          <a:p>
            <a:r>
              <a:rPr lang="en-US" altLang="zh-CN" sz="1200"/>
              <a:t>       // 3. </a:t>
            </a:r>
            <a:r>
              <a:rPr lang="zh-CN" altLang="en-US" sz="1200"/>
              <a:t>更新位置</a:t>
            </a:r>
            <a:r>
              <a:rPr lang="en-US" altLang="zh-CN" sz="1200"/>
              <a:t>1</a:t>
            </a:r>
            <a:r>
              <a:rPr lang="zh-CN" altLang="en-US" sz="1200"/>
              <a:t>的键（如果存在）</a:t>
            </a:r>
            <a:endParaRPr lang="zh-CN" altLang="en-US" sz="1200"/>
          </a:p>
          <a:p>
            <a:r>
              <a:rPr lang="en-US" altLang="zh-CN" sz="1200"/>
              <a:t>      if (internal_node-&gt;GetSize() &gt; 0) {</a:t>
            </a:r>
            <a:endParaRPr lang="en-US" altLang="zh-CN" sz="1200"/>
          </a:p>
          <a:p>
            <a:r>
              <a:rPr lang="en-US" altLang="zh-CN" sz="1200"/>
              <a:t>        internal_node-&gt;GetItem(1).first = internal_parent-&gt;KeyAt(index );</a:t>
            </a:r>
            <a:endParaRPr lang="en-US" altLang="zh-CN" sz="1200"/>
          </a:p>
          <a:p>
            <a:r>
              <a:rPr lang="en-US" altLang="zh-CN" sz="1200"/>
              <a:t>      }</a:t>
            </a:r>
            <a:endParaRPr lang="en-US" altLang="zh-CN" sz="1200"/>
          </a:p>
          <a:p>
            <a:r>
              <a:rPr lang="en-US" altLang="zh-CN" sz="1200"/>
              <a:t>      internal_node-&gt;IncreaseSize(1);</a:t>
            </a:r>
            <a:endParaRPr lang="en-US" altLang="zh-CN" sz="1200"/>
          </a:p>
          <a:p>
            <a:r>
              <a:rPr lang="en-US" altLang="zh-CN" sz="1200"/>
              <a:t>      // 4. </a:t>
            </a:r>
            <a:r>
              <a:rPr lang="zh-CN" altLang="en-US" sz="1200"/>
              <a:t>将借来的</a:t>
            </a:r>
            <a:r>
              <a:rPr lang="en-US" altLang="zh-CN" sz="1200"/>
              <a:t>key</a:t>
            </a:r>
            <a:r>
              <a:rPr lang="zh-CN" altLang="en-US" sz="1200"/>
              <a:t>上移到父节点</a:t>
            </a:r>
            <a:endParaRPr lang="zh-CN" altLang="en-US" sz="1200"/>
          </a:p>
          <a:p>
            <a:r>
              <a:rPr lang="en-US" altLang="zh-CN" sz="1200"/>
              <a:t>      internal_parent-&gt;SetKeyAt(index, borrowed_key);</a:t>
            </a:r>
            <a:endParaRPr lang="en-US" altLang="zh-CN" sz="1200"/>
          </a:p>
          <a:p>
            <a:r>
              <a:rPr lang="en-US" altLang="zh-CN" sz="1200"/>
              <a:t>      // </a:t>
            </a:r>
            <a:r>
              <a:rPr lang="zh-CN" altLang="en-US" sz="1200"/>
              <a:t>更新被移动孩子的父指针</a:t>
            </a:r>
            <a:endParaRPr lang="zh-CN" altLang="en-US" sz="1200"/>
          </a:p>
          <a:p>
            <a:r>
              <a:rPr lang="en-US" altLang="zh-CN" sz="1200"/>
              <a:t>      auto *child_page = buffer_pool_manager_-&gt;FetchPage(borrowed_child_id);</a:t>
            </a:r>
            <a:endParaRPr lang="en-US" altLang="zh-CN" sz="1200"/>
          </a:p>
          <a:p>
            <a:r>
              <a:rPr lang="en-US" altLang="zh-CN" sz="1200"/>
              <a:t>      if (child_page != nullptr) {</a:t>
            </a:r>
            <a:endParaRPr lang="en-US" altLang="zh-CN" sz="1200"/>
          </a:p>
          <a:p>
            <a:r>
              <a:rPr lang="en-US" altLang="zh-CN" sz="1200"/>
              <a:t>        auto *child_node = reinterpret_cast&lt;BPlusTreePage *&gt;(child_page-&gt;GetData());</a:t>
            </a:r>
            <a:endParaRPr lang="en-US" altLang="zh-CN" sz="1200"/>
          </a:p>
          <a:p>
            <a:r>
              <a:rPr lang="en-US" altLang="zh-CN" sz="1200"/>
              <a:t>        child_node-&gt;SetParentPageId(internal_node-&gt;GetPageId());</a:t>
            </a:r>
            <a:endParaRPr lang="en-US" altLang="zh-CN" sz="1200"/>
          </a:p>
          <a:p>
            <a:r>
              <a:rPr lang="en-US" altLang="zh-CN" sz="1200"/>
              <a:t>        buffer_pool_manager_-&gt;UnpinPage(child_page-&gt;GetPageId(), true);</a:t>
            </a:r>
            <a:endParaRPr lang="en-US" altLang="zh-CN" sz="1200"/>
          </a:p>
          <a:p>
            <a:r>
              <a:rPr lang="en-US" altLang="zh-CN" sz="1200"/>
              <a:t>      }</a:t>
            </a:r>
            <a:endParaRPr lang="en-US" altLang="zh-CN" sz="1200"/>
          </a:p>
          <a:p>
            <a:r>
              <a:rPr lang="en-US" altLang="zh-CN" sz="1200"/>
              <a:t>    </a:t>
            </a:r>
            <a:endParaRPr lang="zh-CN" altLang="en-US" sz="1200"/>
          </a:p>
        </p:txBody>
      </p:sp>
      <p:sp>
        <p:nvSpPr>
          <p:cNvPr id="6"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Redistribute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bool is_from_left)</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3F4F6"/>
        </a:solidFill>
        <a:effectLst/>
      </p:bgPr>
    </p:bg>
    <p:spTree>
      <p:nvGrpSpPr>
        <p:cNvPr id="1" name=""/>
        <p:cNvGrpSpPr/>
        <p:nvPr/>
      </p:nvGrpSpPr>
      <p:grpSpPr>
        <a:xfrm>
          <a:off x="0" y="0"/>
          <a:ext cx="0" cy="0"/>
          <a:chOff x="0" y="0"/>
          <a:chExt cx="0" cy="0"/>
        </a:xfrm>
      </p:grpSpPr>
      <p:pic>
        <p:nvPicPr>
          <p:cNvPr id="2" name="Image 0" descr="https://kimi-img.moonshot.cn/pub/slides/slides_tmpl/image/25-10-11-20:18:00-d3l4lu0s8jdo4os5eoa0.png"/>
          <p:cNvPicPr>
            <a:picLocks noChangeAspect="1"/>
          </p:cNvPicPr>
          <p:nvPr/>
        </p:nvPicPr>
        <p:blipFill>
          <a:blip r:embed="rId1"/>
          <a:stretch>
            <a:fillRect/>
          </a:stretch>
        </p:blipFill>
        <p:spPr>
          <a:xfrm>
            <a:off x="0" y="0"/>
            <a:ext cx="12190730" cy="6857365"/>
          </a:xfrm>
          <a:prstGeom prst="rect">
            <a:avLst/>
          </a:prstGeom>
        </p:spPr>
      </p:pic>
      <p:sp>
        <p:nvSpPr>
          <p:cNvPr id="3" name="Text 0"/>
          <p:cNvSpPr/>
          <p:nvPr/>
        </p:nvSpPr>
        <p:spPr>
          <a:xfrm>
            <a:off x="254000" y="254000"/>
            <a:ext cx="11874500" cy="457200"/>
          </a:xfrm>
          <a:prstGeom prst="rect">
            <a:avLst/>
          </a:prstGeom>
          <a:noFill/>
        </p:spPr>
        <p:txBody>
          <a:bodyPr wrap="square" lIns="0" tIns="0" rIns="0" bIns="0" rtlCol="0" anchor="ctr"/>
          <a:lstStyle/>
          <a:p>
            <a:pPr>
              <a:lnSpc>
                <a:spcPct val="100000"/>
              </a:lnSpc>
            </a:pPr>
            <a:r>
              <a:rPr lang="zh-CN" altLang="en-US" sz="3000" b="1" dirty="0">
                <a:solidFill>
                  <a:srgbClr val="4A90E2"/>
                </a:solidFill>
                <a:cs typeface="Arial" panose="020B0604020202020204" pitchFamily="34" charset="0"/>
              </a:rPr>
              <a:t>删除相关辅助函数</a:t>
            </a:r>
            <a:endParaRPr lang="en-US" sz="1600" dirty="0"/>
          </a:p>
        </p:txBody>
      </p:sp>
      <p:sp>
        <p:nvSpPr>
          <p:cNvPr id="4" name="Shape 1"/>
          <p:cNvSpPr/>
          <p:nvPr/>
        </p:nvSpPr>
        <p:spPr>
          <a:xfrm>
            <a:off x="254000" y="1138043"/>
            <a:ext cx="7675117" cy="5465957"/>
          </a:xfrm>
          <a:custGeom>
            <a:avLst/>
            <a:gdLst/>
            <a:ahLst/>
            <a:cxnLst/>
            <a:rect l="l" t="t" r="r" b="b"/>
            <a:pathLst>
              <a:path w="4559300" h="5689600">
                <a:moveTo>
                  <a:pt x="101581" y="0"/>
                </a:moveTo>
                <a:lnTo>
                  <a:pt x="4457719" y="0"/>
                </a:lnTo>
                <a:cubicBezTo>
                  <a:pt x="4513821" y="0"/>
                  <a:pt x="4559300" y="45479"/>
                  <a:pt x="4559300" y="101581"/>
                </a:cubicBezTo>
                <a:lnTo>
                  <a:pt x="4559300" y="5588019"/>
                </a:lnTo>
                <a:cubicBezTo>
                  <a:pt x="4559300" y="5644121"/>
                  <a:pt x="4513821" y="5689600"/>
                  <a:pt x="4457719" y="5689600"/>
                </a:cubicBezTo>
                <a:lnTo>
                  <a:pt x="101581" y="5689600"/>
                </a:lnTo>
                <a:cubicBezTo>
                  <a:pt x="45479" y="5689600"/>
                  <a:pt x="0" y="5644121"/>
                  <a:pt x="0" y="5588019"/>
                </a:cubicBezTo>
                <a:lnTo>
                  <a:pt x="0" y="101581"/>
                </a:lnTo>
                <a:cubicBezTo>
                  <a:pt x="0" y="45517"/>
                  <a:pt x="45517" y="0"/>
                  <a:pt x="101581" y="0"/>
                </a:cubicBezTo>
                <a:close/>
              </a:path>
            </a:pathLst>
          </a:custGeom>
          <a:solidFill>
            <a:srgbClr val="4A90E2">
              <a:alpha val="10196"/>
            </a:srgbClr>
          </a:solidFill>
        </p:spPr>
      </p:sp>
      <p:sp>
        <p:nvSpPr>
          <p:cNvPr id="7" name="文本框 6"/>
          <p:cNvSpPr txBox="1"/>
          <p:nvPr userDrawn="1"/>
        </p:nvSpPr>
        <p:spPr>
          <a:xfrm>
            <a:off x="914400" y="1379855"/>
            <a:ext cx="6858000" cy="3784600"/>
          </a:xfrm>
          <a:prstGeom prst="rect">
            <a:avLst/>
          </a:prstGeom>
        </p:spPr>
        <p:txBody>
          <a:bodyPr wrap="square" rtlCol="0">
            <a:spAutoFit/>
          </a:bodyPr>
          <a:p>
            <a:r>
              <a:rPr lang="en-US" altLang="zh-CN" sz="1200"/>
              <a:t>} else {</a:t>
            </a:r>
            <a:endParaRPr lang="en-US" altLang="zh-CN" sz="1200"/>
          </a:p>
          <a:p>
            <a:r>
              <a:rPr lang="en-US" altLang="zh-CN" sz="1200">
                <a:highlight>
                  <a:srgbClr val="C0C0C0"/>
                </a:highlight>
              </a:rPr>
              <a:t>      // </a:t>
            </a:r>
            <a:r>
              <a:rPr lang="zh-CN" altLang="en-US" sz="1200">
                <a:highlight>
                  <a:srgbClr val="C0C0C0"/>
                </a:highlight>
              </a:rPr>
              <a:t>从右兄弟借</a:t>
            </a:r>
            <a:endParaRPr lang="zh-CN" altLang="en-US" sz="1200">
              <a:highlight>
                <a:srgbClr val="C0C0C0"/>
              </a:highlight>
            </a:endParaRPr>
          </a:p>
          <a:p>
            <a:r>
              <a:rPr lang="en-US" altLang="zh-CN" sz="1200"/>
              <a:t>      KeyType borrowed_key = internal_parent-&gt;KeyAt(index + 1);</a:t>
            </a:r>
            <a:endParaRPr lang="en-US" altLang="zh-CN" sz="1200"/>
          </a:p>
          <a:p>
            <a:r>
              <a:rPr lang="en-US" altLang="zh-CN" sz="1200"/>
              <a:t>      page_id_t borrowed_child_id = internal_neighbor-&gt;ValueAt(0);</a:t>
            </a:r>
            <a:endParaRPr lang="en-US" altLang="zh-CN" sz="1200"/>
          </a:p>
          <a:p>
            <a:r>
              <a:rPr lang="en-US" altLang="zh-CN" sz="1200"/>
              <a:t>       // </a:t>
            </a:r>
            <a:r>
              <a:rPr lang="zh-CN" altLang="en-US" sz="1200"/>
              <a:t>从邻居节点删除第一个有效键和第一个孩子</a:t>
            </a:r>
            <a:endParaRPr lang="zh-CN" altLang="en-US" sz="1200"/>
          </a:p>
          <a:p>
            <a:r>
              <a:rPr lang="en-US" altLang="zh-CN" sz="1200"/>
              <a:t>      internal_neighbor-&gt;RemoveAt(0);</a:t>
            </a:r>
            <a:endParaRPr lang="en-US" altLang="zh-CN" sz="1200"/>
          </a:p>
          <a:p>
            <a:r>
              <a:rPr lang="en-US" altLang="zh-CN" sz="1200"/>
              <a:t>      KeyType neighbor_new_index_value = internal_node-&gt;GetItem(0).first;</a:t>
            </a:r>
            <a:endParaRPr lang="en-US" altLang="zh-CN" sz="1200"/>
          </a:p>
          <a:p>
            <a:r>
              <a:rPr lang="en-US" altLang="zh-CN" sz="1200"/>
              <a:t>      internal_parent-&gt;SetKeyAt(index + 1, neighbor_new_index_value);</a:t>
            </a:r>
            <a:endParaRPr lang="en-US" altLang="zh-CN" sz="1200"/>
          </a:p>
          <a:p>
            <a:r>
              <a:rPr lang="en-US" altLang="zh-CN" sz="1200"/>
              <a:t>      // </a:t>
            </a:r>
            <a:r>
              <a:rPr lang="zh-CN" altLang="en-US" sz="1200"/>
              <a:t>使用</a:t>
            </a:r>
            <a:r>
              <a:rPr lang="en-US" altLang="zh-CN" sz="1200"/>
              <a:t>Insert</a:t>
            </a:r>
            <a:r>
              <a:rPr lang="zh-CN" altLang="en-US" sz="1200"/>
              <a:t>方法插入到最后</a:t>
            </a:r>
            <a:endParaRPr lang="zh-CN" altLang="en-US" sz="1200"/>
          </a:p>
          <a:p>
            <a:r>
              <a:rPr lang="en-US" altLang="zh-CN" sz="1200"/>
              <a:t>      internal_node-&gt;Insert(borrowed_key, borrowed_child_id, comparator_);</a:t>
            </a:r>
            <a:endParaRPr lang="en-US" altLang="zh-CN" sz="1200"/>
          </a:p>
          <a:p>
            <a:r>
              <a:rPr lang="en-US" altLang="zh-CN" sz="1200"/>
              <a:t>      // </a:t>
            </a:r>
            <a:r>
              <a:rPr lang="zh-CN" altLang="en-US" sz="1200"/>
              <a:t>更新被移动孩子的父指针</a:t>
            </a:r>
            <a:endParaRPr lang="zh-CN" altLang="en-US" sz="1200"/>
          </a:p>
          <a:p>
            <a:r>
              <a:rPr lang="en-US" altLang="zh-CN" sz="1200"/>
              <a:t>      auto *child_page = buffer_pool_manager_-&gt;FetchPage(borrowed_child_id);</a:t>
            </a:r>
            <a:endParaRPr lang="en-US" altLang="zh-CN" sz="1200"/>
          </a:p>
          <a:p>
            <a:r>
              <a:rPr lang="en-US" altLang="zh-CN" sz="1200"/>
              <a:t>      if (child_page != nullptr) {</a:t>
            </a:r>
            <a:endParaRPr lang="en-US" altLang="zh-CN" sz="1200"/>
          </a:p>
          <a:p>
            <a:r>
              <a:rPr lang="en-US" altLang="zh-CN" sz="1200"/>
              <a:t>        auto *child_node = reinterpret_cast&lt;BPlusTreePage *&gt;(child_page-&gt;GetData());</a:t>
            </a:r>
            <a:endParaRPr lang="en-US" altLang="zh-CN" sz="1200"/>
          </a:p>
          <a:p>
            <a:r>
              <a:rPr lang="en-US" altLang="zh-CN" sz="1200"/>
              <a:t>        child_node-&gt;SetParentPageId(internal_node-&gt;GetPageId());</a:t>
            </a:r>
            <a:endParaRPr lang="en-US" altLang="zh-CN" sz="1200"/>
          </a:p>
          <a:p>
            <a:r>
              <a:rPr lang="en-US" altLang="zh-CN" sz="1200"/>
              <a:t>        buffer_pool_manager_-&gt;UnpinPage(child_page-&gt;GetPageId(), true);</a:t>
            </a:r>
            <a:endParaRPr lang="en-US" altLang="zh-CN" sz="1200"/>
          </a:p>
          <a:p>
            <a:r>
              <a:rPr lang="en-US" altLang="zh-CN" sz="1200"/>
              <a:t>      }</a:t>
            </a:r>
            <a:endParaRPr lang="en-US" altLang="zh-CN" sz="1200"/>
          </a:p>
          <a:p>
            <a:r>
              <a:rPr lang="en-US" altLang="zh-CN" sz="1200"/>
              <a:t>    }</a:t>
            </a:r>
            <a:endParaRPr lang="en-US" altLang="zh-CN" sz="1200"/>
          </a:p>
          <a:p>
            <a:r>
              <a:rPr lang="en-US" altLang="zh-CN" sz="1200"/>
              <a:t>  }</a:t>
            </a:r>
            <a:endParaRPr lang="en-US" altLang="zh-CN" sz="1200"/>
          </a:p>
          <a:p>
            <a:r>
              <a:rPr lang="en-US" altLang="zh-CN" sz="1200"/>
              <a:t>}</a:t>
            </a:r>
            <a:endParaRPr lang="zh-CN" altLang="en-US" sz="1200"/>
          </a:p>
        </p:txBody>
      </p:sp>
      <p:sp>
        <p:nvSpPr>
          <p:cNvPr id="6" name="Text 2"/>
          <p:cNvSpPr/>
          <p:nvPr/>
        </p:nvSpPr>
        <p:spPr>
          <a:xfrm>
            <a:off x="949250" y="777081"/>
            <a:ext cx="6177756" cy="289525"/>
          </a:xfrm>
          <a:prstGeom prst="rect">
            <a:avLst/>
          </a:prstGeom>
          <a:noFill/>
        </p:spPr>
        <p:txBody>
          <a:bodyPr wrap="square" lIns="0" tIns="0" rIns="0" bIns="0" rtlCol="0" anchor="ctr"/>
          <a:lstStyle/>
          <a:p>
            <a:pPr algn="ctr">
              <a:lnSpc>
                <a:spcPct val="120000"/>
              </a:lnSpc>
            </a:pPr>
            <a:r>
              <a:rPr lang="en-US" altLang="zh-CN" sz="1400" b="1" dirty="0">
                <a:solidFill>
                  <a:srgbClr val="4A90E2"/>
                </a:solidFill>
              </a:rPr>
              <a:t>void Redistribute</a:t>
            </a:r>
            <a:endParaRPr lang="en-US" altLang="zh-CN" sz="1400" b="1" dirty="0">
              <a:solidFill>
                <a:srgbClr val="4A90E2"/>
              </a:solidFill>
            </a:endParaRPr>
          </a:p>
          <a:p>
            <a:pPr algn="ctr">
              <a:lnSpc>
                <a:spcPct val="120000"/>
              </a:lnSpc>
            </a:pPr>
            <a:r>
              <a:rPr lang="en-US" altLang="zh-CN" sz="1400" b="1" dirty="0">
                <a:solidFill>
                  <a:srgbClr val="4A90E2"/>
                </a:solidFill>
              </a:rPr>
              <a:t>(N *neighbor_node, N *node, BPlusTreePage *parent, int index, bool is_from_left)</a:t>
            </a:r>
            <a:r>
              <a:rPr lang="zh-CN" altLang="en-US" sz="1400" b="1" dirty="0">
                <a:solidFill>
                  <a:srgbClr val="4A90E2"/>
                </a:solidFill>
              </a:rPr>
              <a:t>；</a:t>
            </a:r>
            <a:endParaRPr lang="en-US" sz="1400" dirty="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ags/tag1.xml><?xml version="1.0" encoding="utf-8"?>
<p:tagLst xmlns:p="http://schemas.openxmlformats.org/presentationml/2006/main">
  <p:tag name="KSO_WM_DIAGRAM_VIRTUALLY_FRAME" val="{&quot;height&quot;:268,&quot;left&quot;:20,&quot;top&quot;:166,&quot;width&quot;:296}"/>
</p:tagLst>
</file>

<file path=ppt/tags/tag2.xml><?xml version="1.0" encoding="utf-8"?>
<p:tagLst xmlns:p="http://schemas.openxmlformats.org/presentationml/2006/main">
  <p:tag name="KSO_WM_DIAGRAM_VIRTUALLY_FRAME" val="{&quot;height&quot;:268,&quot;left&quot;:20,&quot;top&quot;:166,&quot;width&quot;:296}"/>
</p:tagLst>
</file>

<file path=ppt/tags/tag3.xml><?xml version="1.0" encoding="utf-8"?>
<p:tagLst xmlns:p="http://schemas.openxmlformats.org/presentationml/2006/main">
  <p:tag name="KSO_WM_DIAGRAM_VIRTUALLY_FRAME" val="{&quot;height&quot;:268,&quot;left&quot;:20,&quot;top&quot;:166,&quot;width&quot;:296}"/>
</p:tagLst>
</file>

<file path=ppt/tags/tag4.xml><?xml version="1.0" encoding="utf-8"?>
<p:tagLst xmlns:p="http://schemas.openxmlformats.org/presentationml/2006/main">
  <p:tag name="KSO_WM_DIAGRAM_VIRTUALLY_FRAME" val="{&quot;height&quot;:268,&quot;left&quot;:20,&quot;top&quot;:166,&quot;width&quot;:296}"/>
</p:tagLst>
</file>

<file path=ppt/tags/tag5.xml><?xml version="1.0" encoding="utf-8"?>
<p:tagLst xmlns:p="http://schemas.openxmlformats.org/presentationml/2006/main">
  <p:tag name="KSO_WM_DIAGRAM_VIRTUALLY_FRAME" val="{&quot;height&quot;:268,&quot;left&quot;:20,&quot;top&quot;:166,&quot;width&quot;:296}"/>
</p:tagLst>
</file>

<file path=ppt/tags/tag6.xml><?xml version="1.0" encoding="utf-8"?>
<p:tagLst xmlns:p="http://schemas.openxmlformats.org/presentationml/2006/main">
  <p:tag name="KSO_WM_DIAGRAM_VIRTUALLY_FRAME" val="{&quot;height&quot;:268,&quot;left&quot;:20,&quot;top&quot;:166,&quot;width&quot;:296}"/>
</p:tagLst>
</file>

<file path=ppt/tags/tag7.xml><?xml version="1.0" encoding="utf-8"?>
<p:tagLst xmlns:p="http://schemas.openxmlformats.org/presentationml/2006/main">
  <p:tag name="TABLE_ENDDRAG_ORIGIN_RECT" val="547*350"/>
  <p:tag name="TABLE_ENDDRAG_RECT" val="365*125*547*350"/>
</p:tagLst>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31132</Words>
  <Application>WPS 演示</Application>
  <PresentationFormat>On-screen Show (16:9)</PresentationFormat>
  <Paragraphs>1364</Paragraphs>
  <Slides>56</Slides>
  <Notes>13</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56</vt:i4>
      </vt:variant>
    </vt:vector>
  </HeadingPairs>
  <TitlesOfParts>
    <vt:vector size="76" baseType="lpstr">
      <vt:lpstr>Arial</vt:lpstr>
      <vt:lpstr>宋体</vt:lpstr>
      <vt:lpstr>Wingdings</vt:lpstr>
      <vt:lpstr>MiSans</vt:lpstr>
      <vt:lpstr>MiSans</vt:lpstr>
      <vt:lpstr>Noto Sans SC</vt:lpstr>
      <vt:lpstr>Noto Sans SC</vt:lpstr>
      <vt:lpstr>Noto Sans SC Black</vt:lpstr>
      <vt:lpstr>quote-cjk-patch</vt:lpstr>
      <vt:lpstr>Segoe Print</vt:lpstr>
      <vt:lpstr>quote-cjk-patch</vt:lpstr>
      <vt:lpstr>Calibri</vt:lpstr>
      <vt:lpstr>微软雅黑</vt:lpstr>
      <vt:lpstr>Arial Unicode MS</vt:lpstr>
      <vt:lpstr>等线</vt:lpstr>
      <vt:lpstr>Comic Sans MS</vt:lpstr>
      <vt:lpstr>MingLiU-ExtB</vt:lpstr>
      <vt:lpstr>MiSans</vt:lpstr>
      <vt:lpstr>Cooper Black</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数据库实验汇报</dc:title>
  <dc:creator>Kimi</dc:creator>
  <dc:subject>数据库实验汇报</dc:subject>
  <cp:lastModifiedBy>包子</cp:lastModifiedBy>
  <cp:revision>11</cp:revision>
  <dcterms:created xsi:type="dcterms:W3CDTF">2025-12-22T18:10:00Z</dcterms:created>
  <dcterms:modified xsi:type="dcterms:W3CDTF">2025-12-23T01:05:39Z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{"Label":"数据库实验汇报","ContentProducer":"001191110108MACG2KBH8F10000","ProduceID":"d4s1proi2d8bu4s9jo8g","ReservedCode1":"","ContentPropagator":"001191110108MACG2KBH8F20000","PropagateID":"d4s1proi2d8bu4s9jo8g","ReservedCode2":""}</vt:lpwstr>
  </property>
  <property fmtid="{D5CDD505-2E9C-101B-9397-08002B2CF9AE}" pid="3" name="ICV">
    <vt:lpwstr>6C57059EC669421E91445EFA9F970806_13</vt:lpwstr>
  </property>
  <property fmtid="{D5CDD505-2E9C-101B-9397-08002B2CF9AE}" pid="4" name="KSOProductBuildVer">
    <vt:lpwstr>2052-12.1.0.24034</vt:lpwstr>
  </property>
</Properties>
</file>